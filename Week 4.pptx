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7" r:id="rId16"/>
    <p:sldId id="270"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0651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the Olist Store Analysis, an E-Commerce case study. The same five business KPIs were answered in four tools: Excel, Power BI, SQL and Tableau, and the results were cross-checked.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E-Commerce. Project name: Olist Store Analysis. The dataset is Olist Store Data: 9 CSV files, about 45 MB zipped, covering 99,441 orders. We used four tools: Excel, Power BI, SQL and Tableau.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KPIs defined for the project. Every module answers the same five questions, so we can compare the results across tools.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data model. The nine tables are connected through order_id, customer_id, product_id, seller_id, the zip code prefix and the product category name. The orders table links to payments, reviews, items and customers. Geolocation has several rows per zip code, so lookup tables were built to keep every relationship valid.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ran in four modules. Excel first, then Power BI, SQL and Tableau. In every module we answered the same five KPIs, then compared the numbers across the tools.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Excel we cleaned the data in Power Query. We removed 261,831 duplicate rows from the geolocation table and set 610 blank product categories to unknown. About 2,965 orders have no delivery date because they were never delivered, so we kept them and excluded them only from the delivery KPIs. The payments table has more rows than orders because of installment splits, so we count orders with a distinct count.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 1: here we can see the PivotTable with a distinct count of orders and the average payment by day type. Weekdays have 76,593 orders, 77.02 percent of the total, with an average payment of 154.44 rupees. Weekends have 22,847 orders with an average payment of 152.95 rupees. Volume drops sharply at the weekend, but order value barely moves. KPI 2: the verified result is 43,981 orders with review score 5 paid by credit card. The Excel sheet itself still shows 42,581 because of a faulty lookup; the distinct-order count in SQL, Power BI and Tableau gives 43,981.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 3: pet_shop orders take 11.23 days on average from purchase to delivery, using delivered orders only. KPI 4: customers from sao paulo city have an average price of 107.53 rupees and an average payment value of 135.83 rupees across 15,540 orders, about 15.6 percent of all orders. KPI 5: average shipping days fall from 21.32 days for 1-star reviews to 10.68 days for 5-star reviews. The correlation is minus 0.334, so longer delivery means lower ratings.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Excel dashboard that combines the five KPI visuals with extra charts, scorecards and slicers for year, payment type, review score, order status and day type. Walk through the KPI visuals first, then show how the slicers filter the dashboard.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Power BI model was built from a fresh import of the nine CSV files, independent of the SQL database. Seven core relationships were detected automatically. Two separate geolocation lookup tables, one for customers and one for sellers, avoid ambiguous filter paths. The 610 blank product categories were set to unknown, which matches the SQL result.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 1: the Power BI cards and combo chart show 76,593 weekday orders and 22,847 weekend orders, with average payments of 154.44 and 152.95 rupees, matching Excel and SQL exactly. KPI 2: the card shows 43,981 orders with a 5-star review paid by credit card. Credit card makes up 75.4 percent of all 5-star orders, and about 44 percent of all orders are both 5-star and credit card.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 3: pet_shop averages 11.31 delivery days against 12.50 days overall. KPI 4: sao paulo customers have an average price of 112.58 rupees and an average payment of 138.74 rupees, below the platform averages of 125.92 and 157.95. This Power BI measure averages per order, so it differs slightly from the Excel row-level average. KPI 5: average shipping days fall from 21.25 days at score 1 to 10.63 days at score 5. The pattern is the same as in Excel.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Power BI dashboard page. It brings the KPI summary cards, the supporting visuals and the slicers together, with navigation buttons to the KPI 1 to KPI 5 pages.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SQL database is MySQL, schema olist_store. It has ten tables: the nine source tables plus a deduplicated geo_zip_lookup table. All nine CSV files were loaded and the row counts were checked against the source. Foreign keys connect the tables, and the whole database was exported as a single self-contained SQL file for the team.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6FE47-5D6A-50BE-1B80-BFC05578A7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07CFD-36C2-E806-DE88-7C34F1E351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E1D4AE-3368-3744-B5BB-CD4318E983C5}"/>
              </a:ext>
            </a:extLst>
          </p:cNvPr>
          <p:cNvSpPr>
            <a:spLocks noGrp="1"/>
          </p:cNvSpPr>
          <p:nvPr>
            <p:ph type="body" idx="1"/>
          </p:nvPr>
        </p:nvSpPr>
        <p:spPr/>
        <p:txBody>
          <a:bodyPr/>
          <a:lstStyle/>
          <a:p>
            <a:r>
              <a:rPr lang="en-US" dirty="0"/>
              <a:t>Each block is the SQL output for one KPI. KPI 1: 76,593 weekday and 22,847 weekend orders. KPI 2: 43,981 orders. KPI 3: 11.31 days for pet_shop and 12.50 days overall. KPI 4: average price 112.58 rupees and average payment 138.74 rupees. KPI 5: shipping days fall from 21.25 at score 1 to 10.63 at score 5. All of these match Power BI.</a:t>
            </a:r>
          </a:p>
        </p:txBody>
      </p:sp>
      <p:sp>
        <p:nvSpPr>
          <p:cNvPr id="4" name="Slide Number Placeholder 3">
            <a:extLst>
              <a:ext uri="{FF2B5EF4-FFF2-40B4-BE49-F238E27FC236}">
                <a16:creationId xmlns:a16="http://schemas.microsoft.com/office/drawing/2014/main" id="{2D57AA79-B2F3-B31E-63D4-44D830EAE00D}"/>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9437583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block is the SQL output for one KPI. KPI 1: 76,593 weekday and 22,847 weekend orders. KPI 2: 43,981 orders. KPI 3: 11.31 days for pet_shop and 12.50 days overall. KPI 4: average price 112.58 rupees and average payment 138.74 rupees. KPI 5: shipping days fall from 21.25 at score 1 to 10.63 at score 5. All of these match Power BI.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Tableau dashboard, which combines the worksheets for all five KPIs on one page.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the results across the four tools. KPI 1, KPI 3 and KPI 5 agree closely. KPI 2 is 43,981 in Power BI, SQL and Tableau; the Excel sheet shows 42,581 because of a faulty lookup. KPI 4 differs by method: Excel and Tableau use a row-level average, while SQL and Power BI average per order. KPI 5 differs slightly because Excel uses fractional days and the other tools count whole calendar days. KPI 3 is 11.23 in Excel and 11.31 in the other three tools.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findings. First, delivery speed drives ratings: 1-star orders average 21.32 days, 5-star orders 10.68 days. Second, weekdays carry 77 percent of orders, while the average payment is nearly the same on weekends. Third, credit card is the dominant payment type among 5-star orders at 75.4 percent. Fourth, Sao Paulo accounts for about 15.6 percent of orders, so it is a key market for logistics and marketing.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challenges. Data: the payments table has more rows than orders, undelivered orders have blank delivery dates, and the geolocation table has duplicates. Tools: the same KPI gave small gaps across tools because of whole-day versus fractional counting and different averaging methods, and the Excel KPI 2 figure was corrected using distinct orders. Team: a shared clean foundation, one owner per KPI and a check of each KPI before sign-off.</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6419088"/>
            <a:ext cx="7315200" cy="274320"/>
          </a:xfrm>
          <a:prstGeom prst="rect">
            <a:avLst/>
          </a:prstGeom>
          <a:noFill/>
          <a:ln/>
        </p:spPr>
        <p:txBody>
          <a:bodyPr wrap="square" lIns="0" tIns="0" rIns="0" bIns="0" rtlCol="0" anchor="ctr"/>
          <a:lstStyle/>
          <a:p>
            <a:pPr marL="0" indent="0">
              <a:buNone/>
            </a:pPr>
            <a:r>
              <a:rPr lang="en-US" sz="1000" dirty="0">
                <a:solidFill>
                  <a:srgbClr val="8A94A6"/>
                </a:solidFill>
                <a:latin typeface="Calibri" pitchFamily="34" charset="0"/>
                <a:ea typeface="Calibri" pitchFamily="34" charset="-122"/>
                <a:cs typeface="Calibri" pitchFamily="34" charset="-120"/>
              </a:rPr>
              <a:t>Olist Store Analysis  |  Project Bootcamp Program</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1B3D"/>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25.png"/><Relationship Id="rId5"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45.png"/><Relationship Id="rId5" Type="http://schemas.openxmlformats.org/officeDocument/2006/relationships/image" Target="../media/image4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F5BEA">
              <a:alpha val="22000"/>
            </a:srgbClr>
          </a:solidFill>
          <a:ln w="12700">
            <a:solidFill>
              <a:srgbClr val="2F5BEA">
                <a:alpha val="0"/>
              </a:srgbClr>
            </a:solidFill>
            <a:prstDash val="solid"/>
          </a:ln>
        </p:spPr>
        <p:txBody>
          <a:bodyPr/>
          <a:lstStyle/>
          <a:p>
            <a:endParaRPr lang="en-IN"/>
          </a:p>
        </p:txBody>
      </p:sp>
      <p:sp>
        <p:nvSpPr>
          <p:cNvPr id="3" name="Shape 1"/>
          <p:cNvSpPr/>
          <p:nvPr/>
        </p:nvSpPr>
        <p:spPr>
          <a:xfrm>
            <a:off x="-1645920" y="4846320"/>
            <a:ext cx="4206240" cy="4206240"/>
          </a:xfrm>
          <a:prstGeom prst="ellipse">
            <a:avLst/>
          </a:prstGeom>
          <a:solidFill>
            <a:srgbClr val="2F5BEA">
              <a:alpha val="14000"/>
            </a:srgbClr>
          </a:solidFill>
          <a:ln w="12700">
            <a:solidFill>
              <a:srgbClr val="2F5BEA">
                <a:alpha val="0"/>
              </a:srgbClr>
            </a:solidFill>
            <a:prstDash val="solid"/>
          </a:ln>
        </p:spPr>
        <p:txBody>
          <a:bodyPr/>
          <a:lstStyle/>
          <a:p>
            <a:endParaRPr lang="en-IN"/>
          </a:p>
        </p:txBody>
      </p:sp>
      <p:sp>
        <p:nvSpPr>
          <p:cNvPr id="4" name="Shape 2"/>
          <p:cNvSpPr/>
          <p:nvPr/>
        </p:nvSpPr>
        <p:spPr>
          <a:xfrm>
            <a:off x="10241280" y="5120640"/>
            <a:ext cx="2743200" cy="2743200"/>
          </a:xfrm>
          <a:prstGeom prst="ellipse">
            <a:avLst/>
          </a:prstGeom>
          <a:solidFill>
            <a:srgbClr val="00758F">
              <a:alpha val="20000"/>
            </a:srgbClr>
          </a:solidFill>
          <a:ln w="12700">
            <a:solidFill>
              <a:srgbClr val="00758F">
                <a:alpha val="0"/>
              </a:srgbClr>
            </a:solidFill>
            <a:prstDash val="solid"/>
          </a:ln>
        </p:spPr>
        <p:txBody>
          <a:bodyPr/>
          <a:lstStyle/>
          <a:p>
            <a:endParaRPr lang="en-IN"/>
          </a:p>
        </p:txBody>
      </p:sp>
      <p:sp>
        <p:nvSpPr>
          <p:cNvPr id="5" name="Shape 3"/>
          <p:cNvSpPr/>
          <p:nvPr/>
        </p:nvSpPr>
        <p:spPr>
          <a:xfrm>
            <a:off x="822960" y="1097280"/>
            <a:ext cx="3200400" cy="365760"/>
          </a:xfrm>
          <a:prstGeom prst="roundRect">
            <a:avLst>
              <a:gd name="adj" fmla="val 50000"/>
            </a:avLst>
          </a:prstGeom>
          <a:solidFill>
            <a:srgbClr val="2F5BEA"/>
          </a:solidFill>
          <a:ln w="12700">
            <a:solidFill>
              <a:srgbClr val="2F5BEA"/>
            </a:solidFill>
            <a:prstDash val="solid"/>
          </a:ln>
        </p:spPr>
        <p:txBody>
          <a:bodyPr/>
          <a:lstStyle/>
          <a:p>
            <a:endParaRPr lang="en-IN"/>
          </a:p>
        </p:txBody>
      </p:sp>
      <p:sp>
        <p:nvSpPr>
          <p:cNvPr id="6" name="Text 4"/>
          <p:cNvSpPr txBox="1"/>
          <p:nvPr/>
        </p:nvSpPr>
        <p:spPr>
          <a:xfrm>
            <a:off x="822960" y="1097280"/>
            <a:ext cx="3200400" cy="36576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PROJECT BOOTCAMP PROGRAM</a:t>
            </a:r>
            <a:endParaRPr lang="en-US" sz="1200" dirty="0"/>
          </a:p>
        </p:txBody>
      </p:sp>
      <p:sp>
        <p:nvSpPr>
          <p:cNvPr id="7" name="Text 5"/>
          <p:cNvSpPr txBox="1"/>
          <p:nvPr/>
        </p:nvSpPr>
        <p:spPr>
          <a:xfrm>
            <a:off x="822960" y="1783080"/>
            <a:ext cx="6400800" cy="1005840"/>
          </a:xfrm>
          <a:prstGeom prst="rect">
            <a:avLst/>
          </a:prstGeom>
          <a:noFill/>
          <a:ln/>
        </p:spPr>
        <p:txBody>
          <a:bodyPr wrap="square" lIns="0" tIns="0" rIns="0" bIns="0" rtlCol="0" anchor="t"/>
          <a:lstStyle/>
          <a:p>
            <a:pPr marL="0" indent="0">
              <a:buNone/>
            </a:pPr>
            <a:r>
              <a:rPr lang="en-US" sz="5800" b="1" dirty="0">
                <a:solidFill>
                  <a:srgbClr val="FFFFFF"/>
                </a:solidFill>
                <a:latin typeface="Calibri" pitchFamily="34" charset="0"/>
                <a:ea typeface="Calibri" pitchFamily="34" charset="-122"/>
                <a:cs typeface="Calibri" pitchFamily="34" charset="-120"/>
              </a:rPr>
              <a:t>Olist Store Analysis</a:t>
            </a:r>
            <a:endParaRPr lang="en-US" sz="5800" dirty="0"/>
          </a:p>
        </p:txBody>
      </p:sp>
      <p:sp>
        <p:nvSpPr>
          <p:cNvPr id="8" name="Text 6"/>
          <p:cNvSpPr txBox="1"/>
          <p:nvPr/>
        </p:nvSpPr>
        <p:spPr>
          <a:xfrm>
            <a:off x="822960" y="2926080"/>
            <a:ext cx="6400800" cy="457200"/>
          </a:xfrm>
          <a:prstGeom prst="rect">
            <a:avLst/>
          </a:prstGeom>
          <a:noFill/>
          <a:ln/>
        </p:spPr>
        <p:txBody>
          <a:bodyPr wrap="square" lIns="0" tIns="0" rIns="0" bIns="0" rtlCol="0" anchor="ctr"/>
          <a:lstStyle/>
          <a:p>
            <a:pPr marL="0" indent="0">
              <a:buNone/>
            </a:pPr>
            <a:r>
              <a:rPr lang="en-US" sz="2200" dirty="0">
                <a:solidFill>
                  <a:srgbClr val="BFD0F5"/>
                </a:solidFill>
                <a:latin typeface="Calibri" pitchFamily="34" charset="0"/>
                <a:ea typeface="Calibri" pitchFamily="34" charset="-122"/>
                <a:cs typeface="Calibri" pitchFamily="34" charset="-120"/>
              </a:rPr>
              <a:t>Excel  |  Power BI  |  SQL  |  Tableau</a:t>
            </a:r>
            <a:endParaRPr lang="en-US" sz="2200" dirty="0"/>
          </a:p>
        </p:txBody>
      </p:sp>
      <p:sp>
        <p:nvSpPr>
          <p:cNvPr id="9" name="Text 7"/>
          <p:cNvSpPr txBox="1"/>
          <p:nvPr/>
        </p:nvSpPr>
        <p:spPr>
          <a:xfrm>
            <a:off x="822960" y="3474720"/>
            <a:ext cx="6400800" cy="365760"/>
          </a:xfrm>
          <a:prstGeom prst="rect">
            <a:avLst/>
          </a:prstGeom>
          <a:noFill/>
          <a:ln/>
        </p:spPr>
        <p:txBody>
          <a:bodyPr wrap="square" lIns="0" tIns="0" rIns="0" bIns="0" rtlCol="0" anchor="ctr"/>
          <a:lstStyle/>
          <a:p>
            <a:pPr marL="0" indent="0">
              <a:buNone/>
            </a:pPr>
            <a:r>
              <a:rPr lang="en-US" sz="1500" dirty="0">
                <a:solidFill>
                  <a:srgbClr val="8FA6D8"/>
                </a:solidFill>
                <a:latin typeface="Calibri" pitchFamily="34" charset="0"/>
                <a:ea typeface="Calibri" pitchFamily="34" charset="-122"/>
                <a:cs typeface="Calibri" pitchFamily="34" charset="-120"/>
              </a:rPr>
              <a:t>E-Commerce  |  5 business KPIs  |  4 tools</a:t>
            </a:r>
            <a:endParaRPr lang="en-US" sz="1500" dirty="0"/>
          </a:p>
        </p:txBody>
      </p:sp>
      <p:sp>
        <p:nvSpPr>
          <p:cNvPr id="10" name="Text 8"/>
          <p:cNvSpPr txBox="1"/>
          <p:nvPr/>
        </p:nvSpPr>
        <p:spPr>
          <a:xfrm>
            <a:off x="822960" y="5166360"/>
            <a:ext cx="2743200" cy="274320"/>
          </a:xfrm>
          <a:prstGeom prst="rect">
            <a:avLst/>
          </a:prstGeom>
          <a:noFill/>
          <a:ln/>
        </p:spPr>
        <p:txBody>
          <a:bodyPr wrap="square" lIns="0" tIns="0" rIns="0" bIns="0" rtlCol="0" anchor="ctr"/>
          <a:lstStyle/>
          <a:p>
            <a:pPr marL="0" indent="0">
              <a:buNone/>
            </a:pPr>
            <a:r>
              <a:rPr lang="en-US" sz="1100" b="1" kern="0" spc="300" dirty="0">
                <a:solidFill>
                  <a:srgbClr val="8FA6D8"/>
                </a:solidFill>
                <a:latin typeface="Calibri" pitchFamily="34" charset="0"/>
                <a:ea typeface="Calibri" pitchFamily="34" charset="-122"/>
                <a:cs typeface="Calibri" pitchFamily="34" charset="-120"/>
              </a:rPr>
              <a:t>TEAM</a:t>
            </a:r>
            <a:endParaRPr lang="en-US" sz="1100" dirty="0"/>
          </a:p>
        </p:txBody>
      </p:sp>
      <p:sp>
        <p:nvSpPr>
          <p:cNvPr id="11" name="Text 9"/>
          <p:cNvSpPr txBox="1"/>
          <p:nvPr/>
        </p:nvSpPr>
        <p:spPr>
          <a:xfrm>
            <a:off x="822960" y="5468112"/>
            <a:ext cx="6400800" cy="731520"/>
          </a:xfrm>
          <a:prstGeom prst="rect">
            <a:avLst/>
          </a:prstGeom>
          <a:noFill/>
          <a:ln/>
        </p:spPr>
        <p:txBody>
          <a:bodyPr wrap="square" lIns="0" tIns="0" rIns="0" bIns="0" rtlCol="0" anchor="t"/>
          <a:lstStyle/>
          <a:p>
            <a:pPr marL="0" indent="0">
              <a:buNone/>
            </a:pPr>
            <a:r>
              <a:rPr lang="en-US" sz="1400" dirty="0">
                <a:solidFill>
                  <a:srgbClr val="DCE6F7"/>
                </a:solidFill>
                <a:latin typeface="Calibri" pitchFamily="34" charset="0"/>
                <a:ea typeface="Calibri" pitchFamily="34" charset="-122"/>
                <a:cs typeface="Calibri" pitchFamily="34" charset="-120"/>
              </a:rPr>
              <a:t>Pratham Singh, Akash Singh, Pankaj Rajpoot, Nilesh Sunil Chaudari, Pamarthi Venkata Sandeep, Sudha Verma, Saurab Tukaram Jarad</a:t>
            </a:r>
            <a:endParaRPr lang="en-US" sz="1400" dirty="0"/>
          </a:p>
        </p:txBody>
      </p:sp>
      <p:sp>
        <p:nvSpPr>
          <p:cNvPr id="12" name="Shape 10"/>
          <p:cNvSpPr/>
          <p:nvPr/>
        </p:nvSpPr>
        <p:spPr>
          <a:xfrm>
            <a:off x="7498080" y="1828800"/>
            <a:ext cx="2011680" cy="1737360"/>
          </a:xfrm>
          <a:prstGeom prst="roundRect">
            <a:avLst>
              <a:gd name="adj" fmla="val 7368"/>
            </a:avLst>
          </a:prstGeom>
          <a:solidFill>
            <a:srgbClr val="FFFFFF"/>
          </a:solidFill>
          <a:ln w="12700">
            <a:solidFill>
              <a:srgbClr val="FFFFFF"/>
            </a:solidFill>
            <a:prstDash val="solid"/>
          </a:ln>
          <a:effectLst>
            <a:outerShdw blurRad="152400" dist="38100" dir="5400000" algn="bl" rotWithShape="0">
              <a:srgbClr val="000000">
                <a:alpha val="30000"/>
              </a:srgbClr>
            </a:outerShdw>
          </a:effectLst>
        </p:spPr>
        <p:txBody>
          <a:bodyPr/>
          <a:lstStyle/>
          <a:p>
            <a:endParaRPr lang="en-IN"/>
          </a:p>
        </p:txBody>
      </p:sp>
      <p:sp>
        <p:nvSpPr>
          <p:cNvPr id="13" name="Shape 11"/>
          <p:cNvSpPr/>
          <p:nvPr/>
        </p:nvSpPr>
        <p:spPr>
          <a:xfrm>
            <a:off x="7726680" y="2084832"/>
            <a:ext cx="685800" cy="685800"/>
          </a:xfrm>
          <a:prstGeom prst="ellipse">
            <a:avLst/>
          </a:prstGeom>
          <a:solidFill>
            <a:srgbClr val="217346"/>
          </a:solidFill>
          <a:ln w="12700">
            <a:solidFill>
              <a:srgbClr val="217346"/>
            </a:solidFill>
            <a:prstDash val="solid"/>
          </a:ln>
        </p:spPr>
        <p:txBody>
          <a:bodyPr/>
          <a:lstStyle/>
          <a:p>
            <a:endParaRPr lang="en-IN"/>
          </a:p>
        </p:txBody>
      </p:sp>
      <p:pic>
        <p:nvPicPr>
          <p:cNvPr id="14" name="Image 0" descr="preencoded.png"/>
          <p:cNvPicPr>
            <a:picLocks noChangeAspect="1"/>
          </p:cNvPicPr>
          <p:nvPr/>
        </p:nvPicPr>
        <p:blipFill>
          <a:blip r:embed="rId3"/>
          <a:stretch>
            <a:fillRect/>
          </a:stretch>
        </p:blipFill>
        <p:spPr>
          <a:xfrm>
            <a:off x="7898130" y="2256282"/>
            <a:ext cx="342900" cy="342900"/>
          </a:xfrm>
          <a:prstGeom prst="rect">
            <a:avLst/>
          </a:prstGeom>
        </p:spPr>
      </p:pic>
      <p:sp>
        <p:nvSpPr>
          <p:cNvPr id="15" name="Text 12"/>
          <p:cNvSpPr txBox="1"/>
          <p:nvPr/>
        </p:nvSpPr>
        <p:spPr>
          <a:xfrm>
            <a:off x="7726680" y="2852928"/>
            <a:ext cx="1645920" cy="228600"/>
          </a:xfrm>
          <a:prstGeom prst="rect">
            <a:avLst/>
          </a:prstGeom>
          <a:noFill/>
          <a:ln/>
        </p:spPr>
        <p:txBody>
          <a:bodyPr wrap="square" lIns="0" tIns="0" rIns="0" bIns="0" rtlCol="0" anchor="ctr"/>
          <a:lstStyle/>
          <a:p>
            <a:pPr marL="0" indent="0">
              <a:buNone/>
            </a:pPr>
            <a:r>
              <a:rPr lang="en-US" sz="1100" dirty="0">
                <a:solidFill>
                  <a:srgbClr val="5B6578"/>
                </a:solidFill>
                <a:latin typeface="Calibri" pitchFamily="34" charset="0"/>
                <a:ea typeface="Calibri" pitchFamily="34" charset="-122"/>
                <a:cs typeface="Calibri" pitchFamily="34" charset="-120"/>
              </a:rPr>
              <a:t>Module 1</a:t>
            </a:r>
            <a:endParaRPr lang="en-US" sz="1100" dirty="0"/>
          </a:p>
        </p:txBody>
      </p:sp>
      <p:sp>
        <p:nvSpPr>
          <p:cNvPr id="16" name="Text 13"/>
          <p:cNvSpPr txBox="1"/>
          <p:nvPr/>
        </p:nvSpPr>
        <p:spPr>
          <a:xfrm>
            <a:off x="7726680" y="3072384"/>
            <a:ext cx="1645920" cy="365760"/>
          </a:xfrm>
          <a:prstGeom prst="rect">
            <a:avLst/>
          </a:prstGeom>
          <a:noFill/>
          <a:ln/>
        </p:spPr>
        <p:txBody>
          <a:bodyPr wrap="square" lIns="0" tIns="0" rIns="0" bIns="0" rtlCol="0" anchor="ctr"/>
          <a:lstStyle/>
          <a:p>
            <a:pPr marL="0" indent="0">
              <a:buNone/>
            </a:pPr>
            <a:r>
              <a:rPr lang="en-US" sz="2000" b="1" dirty="0">
                <a:solidFill>
                  <a:srgbClr val="0F1B3D"/>
                </a:solidFill>
                <a:latin typeface="Calibri" pitchFamily="34" charset="0"/>
                <a:ea typeface="Calibri" pitchFamily="34" charset="-122"/>
                <a:cs typeface="Calibri" pitchFamily="34" charset="-120"/>
              </a:rPr>
              <a:t>Excel</a:t>
            </a:r>
            <a:endParaRPr lang="en-US" sz="2000" dirty="0"/>
          </a:p>
        </p:txBody>
      </p:sp>
      <p:sp>
        <p:nvSpPr>
          <p:cNvPr id="17" name="Shape 14"/>
          <p:cNvSpPr/>
          <p:nvPr/>
        </p:nvSpPr>
        <p:spPr>
          <a:xfrm>
            <a:off x="9738360" y="1828800"/>
            <a:ext cx="2011680" cy="1737360"/>
          </a:xfrm>
          <a:prstGeom prst="roundRect">
            <a:avLst>
              <a:gd name="adj" fmla="val 7368"/>
            </a:avLst>
          </a:prstGeom>
          <a:solidFill>
            <a:srgbClr val="FFFFFF"/>
          </a:solidFill>
          <a:ln w="12700">
            <a:solidFill>
              <a:srgbClr val="FFFFFF"/>
            </a:solidFill>
            <a:prstDash val="solid"/>
          </a:ln>
          <a:effectLst>
            <a:outerShdw blurRad="152400" dist="38100" dir="5400000" algn="bl" rotWithShape="0">
              <a:srgbClr val="000000">
                <a:alpha val="30000"/>
              </a:srgbClr>
            </a:outerShdw>
          </a:effectLst>
        </p:spPr>
        <p:txBody>
          <a:bodyPr/>
          <a:lstStyle/>
          <a:p>
            <a:endParaRPr lang="en-IN"/>
          </a:p>
        </p:txBody>
      </p:sp>
      <p:sp>
        <p:nvSpPr>
          <p:cNvPr id="18" name="Shape 15"/>
          <p:cNvSpPr/>
          <p:nvPr/>
        </p:nvSpPr>
        <p:spPr>
          <a:xfrm>
            <a:off x="9966960" y="2084832"/>
            <a:ext cx="685800" cy="685800"/>
          </a:xfrm>
          <a:prstGeom prst="ellipse">
            <a:avLst/>
          </a:prstGeom>
          <a:solidFill>
            <a:srgbClr val="F2C811"/>
          </a:solidFill>
          <a:ln w="12700">
            <a:solidFill>
              <a:srgbClr val="F2C811"/>
            </a:solidFill>
            <a:prstDash val="solid"/>
          </a:ln>
        </p:spPr>
        <p:txBody>
          <a:bodyPr/>
          <a:lstStyle/>
          <a:p>
            <a:endParaRPr lang="en-IN"/>
          </a:p>
        </p:txBody>
      </p:sp>
      <p:pic>
        <p:nvPicPr>
          <p:cNvPr id="19" name="Image 1" descr="preencoded.png"/>
          <p:cNvPicPr>
            <a:picLocks noChangeAspect="1"/>
          </p:cNvPicPr>
          <p:nvPr/>
        </p:nvPicPr>
        <p:blipFill>
          <a:blip r:embed="rId4"/>
          <a:stretch>
            <a:fillRect/>
          </a:stretch>
        </p:blipFill>
        <p:spPr>
          <a:xfrm>
            <a:off x="10138410" y="2256282"/>
            <a:ext cx="342900" cy="342900"/>
          </a:xfrm>
          <a:prstGeom prst="rect">
            <a:avLst/>
          </a:prstGeom>
        </p:spPr>
      </p:pic>
      <p:sp>
        <p:nvSpPr>
          <p:cNvPr id="20" name="Text 16"/>
          <p:cNvSpPr txBox="1"/>
          <p:nvPr/>
        </p:nvSpPr>
        <p:spPr>
          <a:xfrm>
            <a:off x="9966960" y="2852928"/>
            <a:ext cx="1645920" cy="228600"/>
          </a:xfrm>
          <a:prstGeom prst="rect">
            <a:avLst/>
          </a:prstGeom>
          <a:noFill/>
          <a:ln/>
        </p:spPr>
        <p:txBody>
          <a:bodyPr wrap="square" lIns="0" tIns="0" rIns="0" bIns="0" rtlCol="0" anchor="ctr"/>
          <a:lstStyle/>
          <a:p>
            <a:pPr marL="0" indent="0">
              <a:buNone/>
            </a:pPr>
            <a:r>
              <a:rPr lang="en-US" sz="1100" dirty="0">
                <a:solidFill>
                  <a:srgbClr val="5B6578"/>
                </a:solidFill>
                <a:latin typeface="Calibri" pitchFamily="34" charset="0"/>
                <a:ea typeface="Calibri" pitchFamily="34" charset="-122"/>
                <a:cs typeface="Calibri" pitchFamily="34" charset="-120"/>
              </a:rPr>
              <a:t>Module 2</a:t>
            </a:r>
            <a:endParaRPr lang="en-US" sz="1100" dirty="0"/>
          </a:p>
        </p:txBody>
      </p:sp>
      <p:sp>
        <p:nvSpPr>
          <p:cNvPr id="21" name="Text 17"/>
          <p:cNvSpPr txBox="1"/>
          <p:nvPr/>
        </p:nvSpPr>
        <p:spPr>
          <a:xfrm>
            <a:off x="9966960" y="3072384"/>
            <a:ext cx="1645920" cy="365760"/>
          </a:xfrm>
          <a:prstGeom prst="rect">
            <a:avLst/>
          </a:prstGeom>
          <a:noFill/>
          <a:ln/>
        </p:spPr>
        <p:txBody>
          <a:bodyPr wrap="square" lIns="0" tIns="0" rIns="0" bIns="0" rtlCol="0" anchor="ctr"/>
          <a:lstStyle/>
          <a:p>
            <a:pPr marL="0" indent="0">
              <a:buNone/>
            </a:pPr>
            <a:r>
              <a:rPr lang="en-US" sz="2000" b="1" dirty="0">
                <a:solidFill>
                  <a:srgbClr val="0F1B3D"/>
                </a:solidFill>
                <a:latin typeface="Calibri" pitchFamily="34" charset="0"/>
                <a:ea typeface="Calibri" pitchFamily="34" charset="-122"/>
                <a:cs typeface="Calibri" pitchFamily="34" charset="-120"/>
              </a:rPr>
              <a:t>Power BI</a:t>
            </a:r>
            <a:endParaRPr lang="en-US" sz="2000" dirty="0"/>
          </a:p>
        </p:txBody>
      </p:sp>
      <p:sp>
        <p:nvSpPr>
          <p:cNvPr id="22" name="Shape 18"/>
          <p:cNvSpPr/>
          <p:nvPr/>
        </p:nvSpPr>
        <p:spPr>
          <a:xfrm>
            <a:off x="7498080" y="3794760"/>
            <a:ext cx="2011680" cy="1737360"/>
          </a:xfrm>
          <a:prstGeom prst="roundRect">
            <a:avLst>
              <a:gd name="adj" fmla="val 7368"/>
            </a:avLst>
          </a:prstGeom>
          <a:solidFill>
            <a:srgbClr val="FFFFFF"/>
          </a:solidFill>
          <a:ln w="12700">
            <a:solidFill>
              <a:srgbClr val="FFFFFF"/>
            </a:solidFill>
            <a:prstDash val="solid"/>
          </a:ln>
          <a:effectLst>
            <a:outerShdw blurRad="152400" dist="38100" dir="5400000" algn="bl" rotWithShape="0">
              <a:srgbClr val="000000">
                <a:alpha val="30000"/>
              </a:srgbClr>
            </a:outerShdw>
          </a:effectLst>
        </p:spPr>
        <p:txBody>
          <a:bodyPr/>
          <a:lstStyle/>
          <a:p>
            <a:endParaRPr lang="en-IN"/>
          </a:p>
        </p:txBody>
      </p:sp>
      <p:sp>
        <p:nvSpPr>
          <p:cNvPr id="23" name="Shape 19"/>
          <p:cNvSpPr/>
          <p:nvPr/>
        </p:nvSpPr>
        <p:spPr>
          <a:xfrm>
            <a:off x="7726680" y="4050792"/>
            <a:ext cx="685800" cy="685800"/>
          </a:xfrm>
          <a:prstGeom prst="ellipse">
            <a:avLst/>
          </a:prstGeom>
          <a:solidFill>
            <a:srgbClr val="00758F"/>
          </a:solidFill>
          <a:ln w="12700">
            <a:solidFill>
              <a:srgbClr val="00758F"/>
            </a:solidFill>
            <a:prstDash val="solid"/>
          </a:ln>
        </p:spPr>
        <p:txBody>
          <a:bodyPr/>
          <a:lstStyle/>
          <a:p>
            <a:endParaRPr lang="en-IN"/>
          </a:p>
        </p:txBody>
      </p:sp>
      <p:pic>
        <p:nvPicPr>
          <p:cNvPr id="24" name="Image 2" descr="preencoded.png"/>
          <p:cNvPicPr>
            <a:picLocks noChangeAspect="1"/>
          </p:cNvPicPr>
          <p:nvPr/>
        </p:nvPicPr>
        <p:blipFill>
          <a:blip r:embed="rId5"/>
          <a:stretch>
            <a:fillRect/>
          </a:stretch>
        </p:blipFill>
        <p:spPr>
          <a:xfrm>
            <a:off x="7898130" y="4222242"/>
            <a:ext cx="342900" cy="342900"/>
          </a:xfrm>
          <a:prstGeom prst="rect">
            <a:avLst/>
          </a:prstGeom>
        </p:spPr>
      </p:pic>
      <p:sp>
        <p:nvSpPr>
          <p:cNvPr id="25" name="Text 20"/>
          <p:cNvSpPr txBox="1"/>
          <p:nvPr/>
        </p:nvSpPr>
        <p:spPr>
          <a:xfrm>
            <a:off x="7726680" y="4818888"/>
            <a:ext cx="1645920" cy="228600"/>
          </a:xfrm>
          <a:prstGeom prst="rect">
            <a:avLst/>
          </a:prstGeom>
          <a:noFill/>
          <a:ln/>
        </p:spPr>
        <p:txBody>
          <a:bodyPr wrap="square" lIns="0" tIns="0" rIns="0" bIns="0" rtlCol="0" anchor="ctr"/>
          <a:lstStyle/>
          <a:p>
            <a:pPr marL="0" indent="0">
              <a:buNone/>
            </a:pPr>
            <a:r>
              <a:rPr lang="en-US" sz="1100" dirty="0">
                <a:solidFill>
                  <a:srgbClr val="5B6578"/>
                </a:solidFill>
                <a:latin typeface="Calibri" pitchFamily="34" charset="0"/>
                <a:ea typeface="Calibri" pitchFamily="34" charset="-122"/>
                <a:cs typeface="Calibri" pitchFamily="34" charset="-120"/>
              </a:rPr>
              <a:t>Module 3</a:t>
            </a:r>
            <a:endParaRPr lang="en-US" sz="1100" dirty="0"/>
          </a:p>
        </p:txBody>
      </p:sp>
      <p:sp>
        <p:nvSpPr>
          <p:cNvPr id="26" name="Text 21"/>
          <p:cNvSpPr txBox="1"/>
          <p:nvPr/>
        </p:nvSpPr>
        <p:spPr>
          <a:xfrm>
            <a:off x="7726680" y="5038344"/>
            <a:ext cx="1645920" cy="365760"/>
          </a:xfrm>
          <a:prstGeom prst="rect">
            <a:avLst/>
          </a:prstGeom>
          <a:noFill/>
          <a:ln/>
        </p:spPr>
        <p:txBody>
          <a:bodyPr wrap="square" lIns="0" tIns="0" rIns="0" bIns="0" rtlCol="0" anchor="ctr"/>
          <a:lstStyle/>
          <a:p>
            <a:pPr marL="0" indent="0">
              <a:buNone/>
            </a:pPr>
            <a:r>
              <a:rPr lang="en-US" sz="2000" b="1" dirty="0">
                <a:solidFill>
                  <a:srgbClr val="0F1B3D"/>
                </a:solidFill>
                <a:latin typeface="Calibri" pitchFamily="34" charset="0"/>
                <a:ea typeface="Calibri" pitchFamily="34" charset="-122"/>
                <a:cs typeface="Calibri" pitchFamily="34" charset="-120"/>
              </a:rPr>
              <a:t>SQL</a:t>
            </a:r>
            <a:endParaRPr lang="en-US" sz="2000" dirty="0"/>
          </a:p>
        </p:txBody>
      </p:sp>
      <p:sp>
        <p:nvSpPr>
          <p:cNvPr id="27" name="Shape 22"/>
          <p:cNvSpPr/>
          <p:nvPr/>
        </p:nvSpPr>
        <p:spPr>
          <a:xfrm>
            <a:off x="9738360" y="3794760"/>
            <a:ext cx="2011680" cy="1737360"/>
          </a:xfrm>
          <a:prstGeom prst="roundRect">
            <a:avLst>
              <a:gd name="adj" fmla="val 7368"/>
            </a:avLst>
          </a:prstGeom>
          <a:solidFill>
            <a:srgbClr val="FFFFFF"/>
          </a:solidFill>
          <a:ln w="12700">
            <a:solidFill>
              <a:srgbClr val="FFFFFF"/>
            </a:solidFill>
            <a:prstDash val="solid"/>
          </a:ln>
          <a:effectLst>
            <a:outerShdw blurRad="152400" dist="38100" dir="5400000" algn="bl" rotWithShape="0">
              <a:srgbClr val="000000">
                <a:alpha val="30000"/>
              </a:srgbClr>
            </a:outerShdw>
          </a:effectLst>
        </p:spPr>
        <p:txBody>
          <a:bodyPr/>
          <a:lstStyle/>
          <a:p>
            <a:endParaRPr lang="en-IN"/>
          </a:p>
        </p:txBody>
      </p:sp>
      <p:sp>
        <p:nvSpPr>
          <p:cNvPr id="28" name="Shape 23"/>
          <p:cNvSpPr/>
          <p:nvPr/>
        </p:nvSpPr>
        <p:spPr>
          <a:xfrm>
            <a:off x="9966960" y="4050792"/>
            <a:ext cx="685800" cy="685800"/>
          </a:xfrm>
          <a:prstGeom prst="ellipse">
            <a:avLst/>
          </a:prstGeom>
          <a:solidFill>
            <a:srgbClr val="E97627"/>
          </a:solidFill>
          <a:ln w="12700">
            <a:solidFill>
              <a:srgbClr val="E97627"/>
            </a:solidFill>
            <a:prstDash val="solid"/>
          </a:ln>
        </p:spPr>
        <p:txBody>
          <a:bodyPr/>
          <a:lstStyle/>
          <a:p>
            <a:endParaRPr lang="en-IN"/>
          </a:p>
        </p:txBody>
      </p:sp>
      <p:pic>
        <p:nvPicPr>
          <p:cNvPr id="29" name="Image 3" descr="preencoded.png"/>
          <p:cNvPicPr>
            <a:picLocks noChangeAspect="1"/>
          </p:cNvPicPr>
          <p:nvPr/>
        </p:nvPicPr>
        <p:blipFill>
          <a:blip r:embed="rId6"/>
          <a:stretch>
            <a:fillRect/>
          </a:stretch>
        </p:blipFill>
        <p:spPr>
          <a:xfrm>
            <a:off x="10138410" y="4222242"/>
            <a:ext cx="342900" cy="342900"/>
          </a:xfrm>
          <a:prstGeom prst="rect">
            <a:avLst/>
          </a:prstGeom>
        </p:spPr>
      </p:pic>
      <p:sp>
        <p:nvSpPr>
          <p:cNvPr id="30" name="Text 24"/>
          <p:cNvSpPr txBox="1"/>
          <p:nvPr/>
        </p:nvSpPr>
        <p:spPr>
          <a:xfrm>
            <a:off x="9966960" y="4818888"/>
            <a:ext cx="1645920" cy="228600"/>
          </a:xfrm>
          <a:prstGeom prst="rect">
            <a:avLst/>
          </a:prstGeom>
          <a:noFill/>
          <a:ln/>
        </p:spPr>
        <p:txBody>
          <a:bodyPr wrap="square" lIns="0" tIns="0" rIns="0" bIns="0" rtlCol="0" anchor="ctr"/>
          <a:lstStyle/>
          <a:p>
            <a:pPr marL="0" indent="0">
              <a:buNone/>
            </a:pPr>
            <a:r>
              <a:rPr lang="en-US" sz="1100" dirty="0">
                <a:solidFill>
                  <a:srgbClr val="5B6578"/>
                </a:solidFill>
                <a:latin typeface="Calibri" pitchFamily="34" charset="0"/>
                <a:ea typeface="Calibri" pitchFamily="34" charset="-122"/>
                <a:cs typeface="Calibri" pitchFamily="34" charset="-120"/>
              </a:rPr>
              <a:t>Module 4</a:t>
            </a:r>
            <a:endParaRPr lang="en-US" sz="1100" dirty="0"/>
          </a:p>
        </p:txBody>
      </p:sp>
      <p:sp>
        <p:nvSpPr>
          <p:cNvPr id="31" name="Text 25"/>
          <p:cNvSpPr txBox="1"/>
          <p:nvPr/>
        </p:nvSpPr>
        <p:spPr>
          <a:xfrm>
            <a:off x="9966960" y="5038344"/>
            <a:ext cx="1645920" cy="365760"/>
          </a:xfrm>
          <a:prstGeom prst="rect">
            <a:avLst/>
          </a:prstGeom>
          <a:noFill/>
          <a:ln/>
        </p:spPr>
        <p:txBody>
          <a:bodyPr wrap="square" lIns="0" tIns="0" rIns="0" bIns="0" rtlCol="0" anchor="ctr"/>
          <a:lstStyle/>
          <a:p>
            <a:pPr marL="0" indent="0">
              <a:buNone/>
            </a:pPr>
            <a:r>
              <a:rPr lang="en-US" sz="2000" b="1" dirty="0">
                <a:solidFill>
                  <a:srgbClr val="0F1B3D"/>
                </a:solidFill>
                <a:latin typeface="Calibri" pitchFamily="34" charset="0"/>
                <a:ea typeface="Calibri" pitchFamily="34" charset="-122"/>
                <a:cs typeface="Calibri" pitchFamily="34" charset="-120"/>
              </a:rPr>
              <a:t>Tableau</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chip"/>
          <p:cNvSpPr/>
          <p:nvPr/>
        </p:nvSpPr>
        <p:spPr>
          <a:xfrm>
            <a:off x="548640" y="384048"/>
            <a:ext cx="1175004" cy="310896"/>
          </a:xfrm>
          <a:prstGeom prst="roundRect">
            <a:avLst>
              <a:gd name="adj" fmla="val 50000"/>
            </a:avLst>
          </a:prstGeom>
          <a:solidFill>
            <a:srgbClr val="2F5BEA"/>
          </a:solidFill>
          <a:ln w="12700">
            <a:solidFill>
              <a:srgbClr val="2F5BEA"/>
            </a:solidFill>
            <a:prstDash val="solid"/>
          </a:ln>
        </p:spPr>
        <p:txBody>
          <a:bodyPr/>
          <a:lstStyle/>
          <a:p>
            <a:endParaRPr lang="en-IN"/>
          </a:p>
        </p:txBody>
      </p:sp>
      <p:sp>
        <p:nvSpPr>
          <p:cNvPr id="3" name="Text 1"/>
          <p:cNvSpPr txBox="1"/>
          <p:nvPr/>
        </p:nvSpPr>
        <p:spPr>
          <a:xfrm>
            <a:off x="548640" y="384048"/>
            <a:ext cx="1175004"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PROJECT</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Overview</a:t>
            </a:r>
            <a:endParaRPr lang="en-US" sz="3200" dirty="0"/>
          </a:p>
        </p:txBody>
      </p:sp>
      <p:sp>
        <p:nvSpPr>
          <p:cNvPr id="5" name="Shape 3"/>
          <p:cNvSpPr/>
          <p:nvPr/>
        </p:nvSpPr>
        <p:spPr>
          <a:xfrm>
            <a:off x="548640" y="1600200"/>
            <a:ext cx="6812280" cy="4663440"/>
          </a:xfrm>
          <a:prstGeom prst="roundRect">
            <a:avLst>
              <a:gd name="adj" fmla="val 1961"/>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6" name="Shape 4"/>
          <p:cNvSpPr/>
          <p:nvPr/>
        </p:nvSpPr>
        <p:spPr>
          <a:xfrm>
            <a:off x="868680" y="1810512"/>
            <a:ext cx="502920" cy="502920"/>
          </a:xfrm>
          <a:prstGeom prst="ellipse">
            <a:avLst/>
          </a:prstGeom>
          <a:solidFill>
            <a:srgbClr val="E8EEFD"/>
          </a:solidFill>
          <a:ln w="12700">
            <a:solidFill>
              <a:srgbClr val="E8EEFD"/>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994410" y="1936242"/>
            <a:ext cx="251460" cy="251460"/>
          </a:xfrm>
          <a:prstGeom prst="rect">
            <a:avLst/>
          </a:prstGeom>
        </p:spPr>
      </p:pic>
      <p:sp>
        <p:nvSpPr>
          <p:cNvPr id="8" name="Text 5"/>
          <p:cNvSpPr txBox="1"/>
          <p:nvPr/>
        </p:nvSpPr>
        <p:spPr>
          <a:xfrm>
            <a:off x="1600200" y="1810512"/>
            <a:ext cx="2331720" cy="502920"/>
          </a:xfrm>
          <a:prstGeom prst="rect">
            <a:avLst/>
          </a:prstGeom>
          <a:noFill/>
          <a:ln/>
        </p:spPr>
        <p:txBody>
          <a:bodyPr wrap="square" lIns="0" tIns="0" rIns="0" bIns="0" rtlCol="0" anchor="ctr"/>
          <a:lstStyle/>
          <a:p>
            <a:pPr marL="0" indent="0">
              <a:buNone/>
            </a:pPr>
            <a:r>
              <a:rPr lang="en-US" sz="1400" b="1" dirty="0">
                <a:solidFill>
                  <a:srgbClr val="2F5BEA"/>
                </a:solidFill>
                <a:latin typeface="Calibri" pitchFamily="34" charset="0"/>
                <a:ea typeface="Calibri" pitchFamily="34" charset="-122"/>
                <a:cs typeface="Calibri" pitchFamily="34" charset="-120"/>
              </a:rPr>
              <a:t>Domain</a:t>
            </a:r>
            <a:endParaRPr lang="en-US" sz="1400" dirty="0"/>
          </a:p>
        </p:txBody>
      </p:sp>
      <p:sp>
        <p:nvSpPr>
          <p:cNvPr id="9" name="Text 6"/>
          <p:cNvSpPr txBox="1"/>
          <p:nvPr/>
        </p:nvSpPr>
        <p:spPr>
          <a:xfrm>
            <a:off x="3931920" y="1810512"/>
            <a:ext cx="3246120" cy="502920"/>
          </a:xfrm>
          <a:prstGeom prst="rect">
            <a:avLst/>
          </a:prstGeom>
          <a:noFill/>
          <a:ln/>
        </p:spPr>
        <p:txBody>
          <a:bodyPr wrap="square" lIns="0" tIns="0" rIns="0" bIns="0" rtlCol="0" anchor="ctr"/>
          <a:lstStyle/>
          <a:p>
            <a:pPr marL="0" indent="0">
              <a:buNone/>
            </a:pPr>
            <a:r>
              <a:rPr lang="en-US" sz="1800" b="1" dirty="0">
                <a:solidFill>
                  <a:srgbClr val="0F1B3D"/>
                </a:solidFill>
                <a:latin typeface="Calibri" pitchFamily="34" charset="0"/>
                <a:ea typeface="Calibri" pitchFamily="34" charset="-122"/>
                <a:cs typeface="Calibri" pitchFamily="34" charset="-120"/>
              </a:rPr>
              <a:t>E-Commerce</a:t>
            </a:r>
            <a:endParaRPr lang="en-US" sz="1800" dirty="0"/>
          </a:p>
        </p:txBody>
      </p:sp>
      <p:sp>
        <p:nvSpPr>
          <p:cNvPr id="10" name="Shape 7"/>
          <p:cNvSpPr/>
          <p:nvPr/>
        </p:nvSpPr>
        <p:spPr>
          <a:xfrm>
            <a:off x="868680" y="2542032"/>
            <a:ext cx="502920" cy="502920"/>
          </a:xfrm>
          <a:prstGeom prst="ellipse">
            <a:avLst/>
          </a:prstGeom>
          <a:solidFill>
            <a:srgbClr val="E8EEFD"/>
          </a:solidFill>
          <a:ln w="12700">
            <a:solidFill>
              <a:srgbClr val="E8EEFD"/>
            </a:solidFill>
            <a:prstDash val="solid"/>
          </a:ln>
        </p:spPr>
        <p:txBody>
          <a:bodyPr/>
          <a:lstStyle/>
          <a:p>
            <a:endParaRPr lang="en-IN"/>
          </a:p>
        </p:txBody>
      </p:sp>
      <p:pic>
        <p:nvPicPr>
          <p:cNvPr id="11" name="Image 1" descr="preencoded.png"/>
          <p:cNvPicPr>
            <a:picLocks noChangeAspect="1"/>
          </p:cNvPicPr>
          <p:nvPr/>
        </p:nvPicPr>
        <p:blipFill>
          <a:blip r:embed="rId4"/>
          <a:stretch>
            <a:fillRect/>
          </a:stretch>
        </p:blipFill>
        <p:spPr>
          <a:xfrm>
            <a:off x="994410" y="2667762"/>
            <a:ext cx="251460" cy="251460"/>
          </a:xfrm>
          <a:prstGeom prst="rect">
            <a:avLst/>
          </a:prstGeom>
        </p:spPr>
      </p:pic>
      <p:sp>
        <p:nvSpPr>
          <p:cNvPr id="12" name="Text 8"/>
          <p:cNvSpPr txBox="1"/>
          <p:nvPr/>
        </p:nvSpPr>
        <p:spPr>
          <a:xfrm>
            <a:off x="1600200" y="2542032"/>
            <a:ext cx="2331720" cy="502920"/>
          </a:xfrm>
          <a:prstGeom prst="rect">
            <a:avLst/>
          </a:prstGeom>
          <a:noFill/>
          <a:ln/>
        </p:spPr>
        <p:txBody>
          <a:bodyPr wrap="square" lIns="0" tIns="0" rIns="0" bIns="0" rtlCol="0" anchor="ctr"/>
          <a:lstStyle/>
          <a:p>
            <a:pPr marL="0" indent="0">
              <a:buNone/>
            </a:pPr>
            <a:r>
              <a:rPr lang="en-US" sz="1400" b="1" dirty="0">
                <a:solidFill>
                  <a:srgbClr val="2F5BEA"/>
                </a:solidFill>
                <a:latin typeface="Calibri" pitchFamily="34" charset="0"/>
                <a:ea typeface="Calibri" pitchFamily="34" charset="-122"/>
                <a:cs typeface="Calibri" pitchFamily="34" charset="-120"/>
              </a:rPr>
              <a:t>Project Name</a:t>
            </a:r>
            <a:endParaRPr lang="en-US" sz="1400" dirty="0"/>
          </a:p>
        </p:txBody>
      </p:sp>
      <p:sp>
        <p:nvSpPr>
          <p:cNvPr id="13" name="Text 9"/>
          <p:cNvSpPr txBox="1"/>
          <p:nvPr/>
        </p:nvSpPr>
        <p:spPr>
          <a:xfrm>
            <a:off x="3931920" y="2542032"/>
            <a:ext cx="3246120" cy="502920"/>
          </a:xfrm>
          <a:prstGeom prst="rect">
            <a:avLst/>
          </a:prstGeom>
          <a:noFill/>
          <a:ln/>
        </p:spPr>
        <p:txBody>
          <a:bodyPr wrap="square" lIns="0" tIns="0" rIns="0" bIns="0" rtlCol="0" anchor="ctr"/>
          <a:lstStyle/>
          <a:p>
            <a:pPr marL="0" indent="0">
              <a:buNone/>
            </a:pPr>
            <a:r>
              <a:rPr lang="en-US" sz="1800" b="1" dirty="0">
                <a:solidFill>
                  <a:srgbClr val="0F1B3D"/>
                </a:solidFill>
                <a:latin typeface="Calibri" pitchFamily="34" charset="0"/>
                <a:ea typeface="Calibri" pitchFamily="34" charset="-122"/>
                <a:cs typeface="Calibri" pitchFamily="34" charset="-120"/>
              </a:rPr>
              <a:t>Olist Store Analysis</a:t>
            </a:r>
            <a:endParaRPr lang="en-US" sz="1800" dirty="0"/>
          </a:p>
        </p:txBody>
      </p:sp>
      <p:sp>
        <p:nvSpPr>
          <p:cNvPr id="14" name="Shape 10"/>
          <p:cNvSpPr/>
          <p:nvPr/>
        </p:nvSpPr>
        <p:spPr>
          <a:xfrm>
            <a:off x="868680" y="3273552"/>
            <a:ext cx="502920" cy="502920"/>
          </a:xfrm>
          <a:prstGeom prst="ellipse">
            <a:avLst/>
          </a:prstGeom>
          <a:solidFill>
            <a:srgbClr val="E8EEFD"/>
          </a:solidFill>
          <a:ln w="12700">
            <a:solidFill>
              <a:srgbClr val="E8EEFD"/>
            </a:solidFill>
            <a:prstDash val="solid"/>
          </a:ln>
        </p:spPr>
        <p:txBody>
          <a:bodyPr/>
          <a:lstStyle/>
          <a:p>
            <a:endParaRPr lang="en-IN"/>
          </a:p>
        </p:txBody>
      </p:sp>
      <p:pic>
        <p:nvPicPr>
          <p:cNvPr id="15" name="Image 2" descr="preencoded.png"/>
          <p:cNvPicPr>
            <a:picLocks noChangeAspect="1"/>
          </p:cNvPicPr>
          <p:nvPr/>
        </p:nvPicPr>
        <p:blipFill>
          <a:blip r:embed="rId5"/>
          <a:stretch>
            <a:fillRect/>
          </a:stretch>
        </p:blipFill>
        <p:spPr>
          <a:xfrm>
            <a:off x="994410" y="3399282"/>
            <a:ext cx="251460" cy="251460"/>
          </a:xfrm>
          <a:prstGeom prst="rect">
            <a:avLst/>
          </a:prstGeom>
        </p:spPr>
      </p:pic>
      <p:sp>
        <p:nvSpPr>
          <p:cNvPr id="16" name="Text 11"/>
          <p:cNvSpPr txBox="1"/>
          <p:nvPr/>
        </p:nvSpPr>
        <p:spPr>
          <a:xfrm>
            <a:off x="1600200" y="3273552"/>
            <a:ext cx="2331720" cy="502920"/>
          </a:xfrm>
          <a:prstGeom prst="rect">
            <a:avLst/>
          </a:prstGeom>
          <a:noFill/>
          <a:ln/>
        </p:spPr>
        <p:txBody>
          <a:bodyPr wrap="square" lIns="0" tIns="0" rIns="0" bIns="0" rtlCol="0" anchor="ctr"/>
          <a:lstStyle/>
          <a:p>
            <a:pPr marL="0" indent="0">
              <a:buNone/>
            </a:pPr>
            <a:r>
              <a:rPr lang="en-US" sz="1400" b="1" dirty="0">
                <a:solidFill>
                  <a:srgbClr val="2F5BEA"/>
                </a:solidFill>
                <a:latin typeface="Calibri" pitchFamily="34" charset="0"/>
                <a:ea typeface="Calibri" pitchFamily="34" charset="-122"/>
                <a:cs typeface="Calibri" pitchFamily="34" charset="-120"/>
              </a:rPr>
              <a:t>Dataset Name</a:t>
            </a:r>
            <a:endParaRPr lang="en-US" sz="1400" dirty="0"/>
          </a:p>
        </p:txBody>
      </p:sp>
      <p:sp>
        <p:nvSpPr>
          <p:cNvPr id="17" name="Text 12"/>
          <p:cNvSpPr txBox="1"/>
          <p:nvPr/>
        </p:nvSpPr>
        <p:spPr>
          <a:xfrm>
            <a:off x="3931920" y="3273552"/>
            <a:ext cx="3246120" cy="502920"/>
          </a:xfrm>
          <a:prstGeom prst="rect">
            <a:avLst/>
          </a:prstGeom>
          <a:noFill/>
          <a:ln/>
        </p:spPr>
        <p:txBody>
          <a:bodyPr wrap="square" lIns="0" tIns="0" rIns="0" bIns="0" rtlCol="0" anchor="ctr"/>
          <a:lstStyle/>
          <a:p>
            <a:pPr marL="0" indent="0">
              <a:buNone/>
            </a:pPr>
            <a:r>
              <a:rPr lang="en-US" sz="1800" b="1" dirty="0">
                <a:solidFill>
                  <a:srgbClr val="0F1B3D"/>
                </a:solidFill>
                <a:latin typeface="Calibri" pitchFamily="34" charset="0"/>
                <a:ea typeface="Calibri" pitchFamily="34" charset="-122"/>
                <a:cs typeface="Calibri" pitchFamily="34" charset="-120"/>
              </a:rPr>
              <a:t>Olist Store Data</a:t>
            </a:r>
            <a:endParaRPr lang="en-US" sz="1800" dirty="0"/>
          </a:p>
        </p:txBody>
      </p:sp>
      <p:sp>
        <p:nvSpPr>
          <p:cNvPr id="18" name="Shape 13"/>
          <p:cNvSpPr/>
          <p:nvPr/>
        </p:nvSpPr>
        <p:spPr>
          <a:xfrm>
            <a:off x="868680" y="4005072"/>
            <a:ext cx="502920" cy="502920"/>
          </a:xfrm>
          <a:prstGeom prst="ellipse">
            <a:avLst/>
          </a:prstGeom>
          <a:solidFill>
            <a:srgbClr val="E8EEFD"/>
          </a:solidFill>
          <a:ln w="12700">
            <a:solidFill>
              <a:srgbClr val="E8EEFD"/>
            </a:solidFill>
            <a:prstDash val="solid"/>
          </a:ln>
        </p:spPr>
        <p:txBody>
          <a:bodyPr/>
          <a:lstStyle/>
          <a:p>
            <a:endParaRPr lang="en-IN"/>
          </a:p>
        </p:txBody>
      </p:sp>
      <p:pic>
        <p:nvPicPr>
          <p:cNvPr id="19" name="Image 3" descr="preencoded.png"/>
          <p:cNvPicPr>
            <a:picLocks noChangeAspect="1"/>
          </p:cNvPicPr>
          <p:nvPr/>
        </p:nvPicPr>
        <p:blipFill>
          <a:blip r:embed="rId6"/>
          <a:stretch>
            <a:fillRect/>
          </a:stretch>
        </p:blipFill>
        <p:spPr>
          <a:xfrm>
            <a:off x="994410" y="4130802"/>
            <a:ext cx="251460" cy="251460"/>
          </a:xfrm>
          <a:prstGeom prst="rect">
            <a:avLst/>
          </a:prstGeom>
        </p:spPr>
      </p:pic>
      <p:sp>
        <p:nvSpPr>
          <p:cNvPr id="20" name="Text 14"/>
          <p:cNvSpPr txBox="1"/>
          <p:nvPr/>
        </p:nvSpPr>
        <p:spPr>
          <a:xfrm>
            <a:off x="1600200" y="4005072"/>
            <a:ext cx="2331720" cy="502920"/>
          </a:xfrm>
          <a:prstGeom prst="rect">
            <a:avLst/>
          </a:prstGeom>
          <a:noFill/>
          <a:ln/>
        </p:spPr>
        <p:txBody>
          <a:bodyPr wrap="square" lIns="0" tIns="0" rIns="0" bIns="0" rtlCol="0" anchor="ctr"/>
          <a:lstStyle/>
          <a:p>
            <a:pPr marL="0" indent="0">
              <a:buNone/>
            </a:pPr>
            <a:r>
              <a:rPr lang="en-US" sz="1400" b="1" dirty="0">
                <a:solidFill>
                  <a:srgbClr val="2F5BEA"/>
                </a:solidFill>
                <a:latin typeface="Calibri" pitchFamily="34" charset="0"/>
                <a:ea typeface="Calibri" pitchFamily="34" charset="-122"/>
                <a:cs typeface="Calibri" pitchFamily="34" charset="-120"/>
              </a:rPr>
              <a:t>Dataset Type</a:t>
            </a:r>
            <a:endParaRPr lang="en-US" sz="1400" dirty="0"/>
          </a:p>
        </p:txBody>
      </p:sp>
      <p:sp>
        <p:nvSpPr>
          <p:cNvPr id="21" name="Text 15"/>
          <p:cNvSpPr txBox="1"/>
          <p:nvPr/>
        </p:nvSpPr>
        <p:spPr>
          <a:xfrm>
            <a:off x="3931920" y="4005072"/>
            <a:ext cx="3246120" cy="502920"/>
          </a:xfrm>
          <a:prstGeom prst="rect">
            <a:avLst/>
          </a:prstGeom>
          <a:noFill/>
          <a:ln/>
        </p:spPr>
        <p:txBody>
          <a:bodyPr wrap="square" lIns="0" tIns="0" rIns="0" bIns="0" rtlCol="0" anchor="ctr"/>
          <a:lstStyle/>
          <a:p>
            <a:pPr marL="0" indent="0">
              <a:buNone/>
            </a:pPr>
            <a:r>
              <a:rPr lang="en-US" sz="1800" b="1" dirty="0">
                <a:solidFill>
                  <a:srgbClr val="0F1B3D"/>
                </a:solidFill>
                <a:latin typeface="Calibri" pitchFamily="34" charset="0"/>
                <a:ea typeface="Calibri" pitchFamily="34" charset="-122"/>
                <a:cs typeface="Calibri" pitchFamily="34" charset="-120"/>
              </a:rPr>
              <a:t>CSV Data</a:t>
            </a:r>
            <a:endParaRPr lang="en-US" sz="1800" dirty="0"/>
          </a:p>
        </p:txBody>
      </p:sp>
      <p:sp>
        <p:nvSpPr>
          <p:cNvPr id="22" name="Shape 16"/>
          <p:cNvSpPr/>
          <p:nvPr/>
        </p:nvSpPr>
        <p:spPr>
          <a:xfrm>
            <a:off x="868680" y="4736592"/>
            <a:ext cx="502920" cy="502920"/>
          </a:xfrm>
          <a:prstGeom prst="ellipse">
            <a:avLst/>
          </a:prstGeom>
          <a:solidFill>
            <a:srgbClr val="E8EEFD"/>
          </a:solidFill>
          <a:ln w="12700">
            <a:solidFill>
              <a:srgbClr val="E8EEFD"/>
            </a:solidFill>
            <a:prstDash val="solid"/>
          </a:ln>
        </p:spPr>
        <p:txBody>
          <a:bodyPr/>
          <a:lstStyle/>
          <a:p>
            <a:endParaRPr lang="en-IN"/>
          </a:p>
        </p:txBody>
      </p:sp>
      <p:pic>
        <p:nvPicPr>
          <p:cNvPr id="23" name="Image 4" descr="preencoded.png"/>
          <p:cNvPicPr>
            <a:picLocks noChangeAspect="1"/>
          </p:cNvPicPr>
          <p:nvPr/>
        </p:nvPicPr>
        <p:blipFill>
          <a:blip r:embed="rId7"/>
          <a:stretch>
            <a:fillRect/>
          </a:stretch>
        </p:blipFill>
        <p:spPr>
          <a:xfrm>
            <a:off x="994410" y="4862322"/>
            <a:ext cx="251460" cy="251460"/>
          </a:xfrm>
          <a:prstGeom prst="rect">
            <a:avLst/>
          </a:prstGeom>
        </p:spPr>
      </p:pic>
      <p:sp>
        <p:nvSpPr>
          <p:cNvPr id="24" name="Text 17"/>
          <p:cNvSpPr txBox="1"/>
          <p:nvPr/>
        </p:nvSpPr>
        <p:spPr>
          <a:xfrm>
            <a:off x="1600200" y="4736592"/>
            <a:ext cx="2331720" cy="502920"/>
          </a:xfrm>
          <a:prstGeom prst="rect">
            <a:avLst/>
          </a:prstGeom>
          <a:noFill/>
          <a:ln/>
        </p:spPr>
        <p:txBody>
          <a:bodyPr wrap="square" lIns="0" tIns="0" rIns="0" bIns="0" rtlCol="0" anchor="ctr"/>
          <a:lstStyle/>
          <a:p>
            <a:pPr marL="0" indent="0">
              <a:buNone/>
            </a:pPr>
            <a:r>
              <a:rPr lang="en-US" sz="1400" b="1" dirty="0">
                <a:solidFill>
                  <a:srgbClr val="2F5BEA"/>
                </a:solidFill>
                <a:latin typeface="Calibri" pitchFamily="34" charset="0"/>
                <a:ea typeface="Calibri" pitchFamily="34" charset="-122"/>
                <a:cs typeface="Calibri" pitchFamily="34" charset="-120"/>
              </a:rPr>
              <a:t>Dataset Zip Folder Size</a:t>
            </a:r>
            <a:endParaRPr lang="en-US" sz="1400" dirty="0"/>
          </a:p>
        </p:txBody>
      </p:sp>
      <p:sp>
        <p:nvSpPr>
          <p:cNvPr id="25" name="Text 18"/>
          <p:cNvSpPr txBox="1"/>
          <p:nvPr/>
        </p:nvSpPr>
        <p:spPr>
          <a:xfrm>
            <a:off x="3931920" y="4736592"/>
            <a:ext cx="3246120" cy="502920"/>
          </a:xfrm>
          <a:prstGeom prst="rect">
            <a:avLst/>
          </a:prstGeom>
          <a:noFill/>
          <a:ln/>
        </p:spPr>
        <p:txBody>
          <a:bodyPr wrap="square" lIns="0" tIns="0" rIns="0" bIns="0" rtlCol="0" anchor="ctr"/>
          <a:lstStyle/>
          <a:p>
            <a:pPr marL="0" indent="0">
              <a:buNone/>
            </a:pPr>
            <a:r>
              <a:rPr lang="en-US" sz="1800" b="1" dirty="0">
                <a:solidFill>
                  <a:srgbClr val="0F1B3D"/>
                </a:solidFill>
                <a:latin typeface="Calibri" pitchFamily="34" charset="0"/>
                <a:ea typeface="Calibri" pitchFamily="34" charset="-122"/>
                <a:cs typeface="Calibri" pitchFamily="34" charset="-120"/>
              </a:rPr>
              <a:t>45 MB</a:t>
            </a:r>
            <a:endParaRPr lang="en-US" sz="1800" dirty="0"/>
          </a:p>
        </p:txBody>
      </p:sp>
      <p:sp>
        <p:nvSpPr>
          <p:cNvPr id="26" name="Shape 19"/>
          <p:cNvSpPr/>
          <p:nvPr/>
        </p:nvSpPr>
        <p:spPr>
          <a:xfrm>
            <a:off x="868680" y="5468112"/>
            <a:ext cx="502920" cy="502920"/>
          </a:xfrm>
          <a:prstGeom prst="ellipse">
            <a:avLst/>
          </a:prstGeom>
          <a:solidFill>
            <a:srgbClr val="E8EEFD"/>
          </a:solidFill>
          <a:ln w="12700">
            <a:solidFill>
              <a:srgbClr val="E8EEFD"/>
            </a:solidFill>
            <a:prstDash val="solid"/>
          </a:ln>
        </p:spPr>
        <p:txBody>
          <a:bodyPr/>
          <a:lstStyle/>
          <a:p>
            <a:endParaRPr lang="en-IN"/>
          </a:p>
        </p:txBody>
      </p:sp>
      <p:pic>
        <p:nvPicPr>
          <p:cNvPr id="27" name="Image 5" descr="preencoded.png"/>
          <p:cNvPicPr>
            <a:picLocks noChangeAspect="1"/>
          </p:cNvPicPr>
          <p:nvPr/>
        </p:nvPicPr>
        <p:blipFill>
          <a:blip r:embed="rId8"/>
          <a:stretch>
            <a:fillRect/>
          </a:stretch>
        </p:blipFill>
        <p:spPr>
          <a:xfrm>
            <a:off x="994410" y="5593842"/>
            <a:ext cx="251460" cy="251460"/>
          </a:xfrm>
          <a:prstGeom prst="rect">
            <a:avLst/>
          </a:prstGeom>
        </p:spPr>
      </p:pic>
      <p:sp>
        <p:nvSpPr>
          <p:cNvPr id="28" name="Text 20"/>
          <p:cNvSpPr txBox="1"/>
          <p:nvPr/>
        </p:nvSpPr>
        <p:spPr>
          <a:xfrm>
            <a:off x="1600200" y="5468112"/>
            <a:ext cx="2331720" cy="502920"/>
          </a:xfrm>
          <a:prstGeom prst="rect">
            <a:avLst/>
          </a:prstGeom>
          <a:noFill/>
          <a:ln/>
        </p:spPr>
        <p:txBody>
          <a:bodyPr wrap="square" lIns="0" tIns="0" rIns="0" bIns="0" rtlCol="0" anchor="ctr"/>
          <a:lstStyle/>
          <a:p>
            <a:pPr marL="0" indent="0">
              <a:buNone/>
            </a:pPr>
            <a:r>
              <a:rPr lang="en-US" sz="1400" b="1" dirty="0">
                <a:solidFill>
                  <a:srgbClr val="2F5BEA"/>
                </a:solidFill>
                <a:latin typeface="Calibri" pitchFamily="34" charset="0"/>
                <a:ea typeface="Calibri" pitchFamily="34" charset="-122"/>
                <a:cs typeface="Calibri" pitchFamily="34" charset="-120"/>
              </a:rPr>
              <a:t>Tools</a:t>
            </a:r>
            <a:endParaRPr lang="en-US" sz="1400" dirty="0"/>
          </a:p>
        </p:txBody>
      </p:sp>
      <p:sp>
        <p:nvSpPr>
          <p:cNvPr id="29" name="Text 21"/>
          <p:cNvSpPr txBox="1"/>
          <p:nvPr/>
        </p:nvSpPr>
        <p:spPr>
          <a:xfrm>
            <a:off x="3931920" y="5468112"/>
            <a:ext cx="3246120" cy="502920"/>
          </a:xfrm>
          <a:prstGeom prst="rect">
            <a:avLst/>
          </a:prstGeom>
          <a:noFill/>
          <a:ln/>
        </p:spPr>
        <p:txBody>
          <a:bodyPr wrap="square" lIns="0" tIns="0" rIns="0" bIns="0" rtlCol="0" anchor="ctr"/>
          <a:lstStyle/>
          <a:p>
            <a:pPr marL="0" indent="0">
              <a:buNone/>
            </a:pPr>
            <a:r>
              <a:rPr lang="en-US" sz="1800" b="1" dirty="0">
                <a:solidFill>
                  <a:srgbClr val="0F1B3D"/>
                </a:solidFill>
                <a:latin typeface="Calibri" pitchFamily="34" charset="0"/>
                <a:ea typeface="Calibri" pitchFamily="34" charset="-122"/>
                <a:cs typeface="Calibri" pitchFamily="34" charset="-120"/>
              </a:rPr>
              <a:t>Excel, Power BI, SQL, Tableau</a:t>
            </a:r>
            <a:endParaRPr lang="en-US" sz="1800" dirty="0"/>
          </a:p>
        </p:txBody>
      </p:sp>
      <p:sp>
        <p:nvSpPr>
          <p:cNvPr id="30" name="Shape 22"/>
          <p:cNvSpPr/>
          <p:nvPr/>
        </p:nvSpPr>
        <p:spPr>
          <a:xfrm>
            <a:off x="7635240" y="1600200"/>
            <a:ext cx="4005072" cy="4663440"/>
          </a:xfrm>
          <a:prstGeom prst="roundRect">
            <a:avLst>
              <a:gd name="adj" fmla="val 2283"/>
            </a:avLst>
          </a:prstGeom>
          <a:solidFill>
            <a:srgbClr val="0F1B3D"/>
          </a:solidFill>
          <a:ln w="12700">
            <a:solidFill>
              <a:srgbClr val="0F1B3D"/>
            </a:solidFill>
            <a:prstDash val="solid"/>
          </a:ln>
          <a:effectLst>
            <a:outerShdw blurRad="114300" dist="25400" dir="5400000" algn="bl" rotWithShape="0">
              <a:srgbClr val="1F2A44">
                <a:alpha val="13000"/>
              </a:srgbClr>
            </a:outerShdw>
          </a:effectLst>
        </p:spPr>
        <p:txBody>
          <a:bodyPr/>
          <a:lstStyle/>
          <a:p>
            <a:endParaRPr lang="en-IN"/>
          </a:p>
        </p:txBody>
      </p:sp>
      <p:sp>
        <p:nvSpPr>
          <p:cNvPr id="31" name="Text 23"/>
          <p:cNvSpPr txBox="1"/>
          <p:nvPr/>
        </p:nvSpPr>
        <p:spPr>
          <a:xfrm>
            <a:off x="7955280" y="2011680"/>
            <a:ext cx="1783080" cy="86868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9</a:t>
            </a:r>
            <a:endParaRPr lang="en-US" sz="4000" dirty="0"/>
          </a:p>
        </p:txBody>
      </p:sp>
      <p:sp>
        <p:nvSpPr>
          <p:cNvPr id="32" name="Text 24"/>
          <p:cNvSpPr txBox="1"/>
          <p:nvPr/>
        </p:nvSpPr>
        <p:spPr>
          <a:xfrm>
            <a:off x="7955280" y="2880360"/>
            <a:ext cx="1783080" cy="365760"/>
          </a:xfrm>
          <a:prstGeom prst="rect">
            <a:avLst/>
          </a:prstGeom>
          <a:noFill/>
          <a:ln/>
        </p:spPr>
        <p:txBody>
          <a:bodyPr wrap="square" lIns="0" tIns="0" rIns="0" bIns="0" rtlCol="0" anchor="t"/>
          <a:lstStyle/>
          <a:p>
            <a:pPr marL="0" indent="0">
              <a:buNone/>
            </a:pPr>
            <a:r>
              <a:rPr lang="en-US" sz="1400" dirty="0">
                <a:solidFill>
                  <a:srgbClr val="BFD0F5"/>
                </a:solidFill>
                <a:latin typeface="Calibri" pitchFamily="34" charset="0"/>
                <a:ea typeface="Calibri" pitchFamily="34" charset="-122"/>
                <a:cs typeface="Calibri" pitchFamily="34" charset="-120"/>
              </a:rPr>
              <a:t>CSV files</a:t>
            </a:r>
            <a:endParaRPr lang="en-US" sz="1400" dirty="0"/>
          </a:p>
        </p:txBody>
      </p:sp>
      <p:sp>
        <p:nvSpPr>
          <p:cNvPr id="33" name="Text 25"/>
          <p:cNvSpPr txBox="1"/>
          <p:nvPr/>
        </p:nvSpPr>
        <p:spPr>
          <a:xfrm>
            <a:off x="9784080" y="2011680"/>
            <a:ext cx="1783080" cy="86868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99,441</a:t>
            </a:r>
            <a:endParaRPr lang="en-US" sz="4000" dirty="0"/>
          </a:p>
        </p:txBody>
      </p:sp>
      <p:sp>
        <p:nvSpPr>
          <p:cNvPr id="34" name="Text 26"/>
          <p:cNvSpPr txBox="1"/>
          <p:nvPr/>
        </p:nvSpPr>
        <p:spPr>
          <a:xfrm>
            <a:off x="9784080" y="2880360"/>
            <a:ext cx="1783080" cy="365760"/>
          </a:xfrm>
          <a:prstGeom prst="rect">
            <a:avLst/>
          </a:prstGeom>
          <a:noFill/>
          <a:ln/>
        </p:spPr>
        <p:txBody>
          <a:bodyPr wrap="square" lIns="0" tIns="0" rIns="0" bIns="0" rtlCol="0" anchor="t"/>
          <a:lstStyle/>
          <a:p>
            <a:pPr marL="0" indent="0">
              <a:buNone/>
            </a:pPr>
            <a:r>
              <a:rPr lang="en-US" sz="1400" dirty="0">
                <a:solidFill>
                  <a:srgbClr val="BFD0F5"/>
                </a:solidFill>
                <a:latin typeface="Calibri" pitchFamily="34" charset="0"/>
                <a:ea typeface="Calibri" pitchFamily="34" charset="-122"/>
                <a:cs typeface="Calibri" pitchFamily="34" charset="-120"/>
              </a:rPr>
              <a:t>orders</a:t>
            </a:r>
            <a:endParaRPr lang="en-US" sz="1400" dirty="0"/>
          </a:p>
        </p:txBody>
      </p:sp>
      <p:sp>
        <p:nvSpPr>
          <p:cNvPr id="35" name="Text 27"/>
          <p:cNvSpPr txBox="1"/>
          <p:nvPr/>
        </p:nvSpPr>
        <p:spPr>
          <a:xfrm>
            <a:off x="7955280" y="4114800"/>
            <a:ext cx="1783080" cy="86868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4</a:t>
            </a:r>
            <a:endParaRPr lang="en-US" sz="4000" dirty="0"/>
          </a:p>
        </p:txBody>
      </p:sp>
      <p:sp>
        <p:nvSpPr>
          <p:cNvPr id="36" name="Text 28"/>
          <p:cNvSpPr txBox="1"/>
          <p:nvPr/>
        </p:nvSpPr>
        <p:spPr>
          <a:xfrm>
            <a:off x="7955280" y="4983480"/>
            <a:ext cx="1783080" cy="365760"/>
          </a:xfrm>
          <a:prstGeom prst="rect">
            <a:avLst/>
          </a:prstGeom>
          <a:noFill/>
          <a:ln/>
        </p:spPr>
        <p:txBody>
          <a:bodyPr wrap="square" lIns="0" tIns="0" rIns="0" bIns="0" rtlCol="0" anchor="t"/>
          <a:lstStyle/>
          <a:p>
            <a:pPr marL="0" indent="0">
              <a:buNone/>
            </a:pPr>
            <a:r>
              <a:rPr lang="en-US" sz="1400" dirty="0">
                <a:solidFill>
                  <a:srgbClr val="BFD0F5"/>
                </a:solidFill>
                <a:latin typeface="Calibri" pitchFamily="34" charset="0"/>
                <a:ea typeface="Calibri" pitchFamily="34" charset="-122"/>
                <a:cs typeface="Calibri" pitchFamily="34" charset="-120"/>
              </a:rPr>
              <a:t>tools</a:t>
            </a:r>
            <a:endParaRPr lang="en-US" sz="1400" dirty="0"/>
          </a:p>
        </p:txBody>
      </p:sp>
      <p:sp>
        <p:nvSpPr>
          <p:cNvPr id="37" name="Text 29"/>
          <p:cNvSpPr txBox="1"/>
          <p:nvPr/>
        </p:nvSpPr>
        <p:spPr>
          <a:xfrm>
            <a:off x="9784080" y="4114800"/>
            <a:ext cx="1783080" cy="86868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5</a:t>
            </a:r>
            <a:endParaRPr lang="en-US" sz="4000" dirty="0"/>
          </a:p>
        </p:txBody>
      </p:sp>
      <p:sp>
        <p:nvSpPr>
          <p:cNvPr id="38" name="Text 30"/>
          <p:cNvSpPr txBox="1"/>
          <p:nvPr/>
        </p:nvSpPr>
        <p:spPr>
          <a:xfrm>
            <a:off x="9784080" y="4983480"/>
            <a:ext cx="1783080" cy="365760"/>
          </a:xfrm>
          <a:prstGeom prst="rect">
            <a:avLst/>
          </a:prstGeom>
          <a:noFill/>
          <a:ln/>
        </p:spPr>
        <p:txBody>
          <a:bodyPr wrap="square" lIns="0" tIns="0" rIns="0" bIns="0" rtlCol="0" anchor="t"/>
          <a:lstStyle/>
          <a:p>
            <a:pPr marL="0" indent="0">
              <a:buNone/>
            </a:pPr>
            <a:r>
              <a:rPr lang="en-US" sz="1400" dirty="0">
                <a:solidFill>
                  <a:srgbClr val="BFD0F5"/>
                </a:solidFill>
                <a:latin typeface="Calibri" pitchFamily="34" charset="0"/>
                <a:ea typeface="Calibri" pitchFamily="34" charset="-122"/>
                <a:cs typeface="Calibri" pitchFamily="34" charset="-120"/>
              </a:rPr>
              <a:t>business KPIs</a:t>
            </a:r>
            <a:endParaRPr lang="en-US" sz="1400" dirty="0"/>
          </a:p>
        </p:txBody>
      </p:sp>
      <p:sp>
        <p:nvSpPr>
          <p:cNvPr id="39"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chip"/>
          <p:cNvSpPr/>
          <p:nvPr/>
        </p:nvSpPr>
        <p:spPr>
          <a:xfrm>
            <a:off x="548640" y="384048"/>
            <a:ext cx="1175004" cy="310896"/>
          </a:xfrm>
          <a:prstGeom prst="roundRect">
            <a:avLst>
              <a:gd name="adj" fmla="val 50000"/>
            </a:avLst>
          </a:prstGeom>
          <a:solidFill>
            <a:srgbClr val="2F5BEA"/>
          </a:solidFill>
          <a:ln w="12700">
            <a:solidFill>
              <a:srgbClr val="2F5BEA"/>
            </a:solidFill>
            <a:prstDash val="solid"/>
          </a:ln>
        </p:spPr>
        <p:txBody>
          <a:bodyPr/>
          <a:lstStyle/>
          <a:p>
            <a:endParaRPr lang="en-IN"/>
          </a:p>
        </p:txBody>
      </p:sp>
      <p:sp>
        <p:nvSpPr>
          <p:cNvPr id="3" name="Text 1"/>
          <p:cNvSpPr txBox="1"/>
          <p:nvPr/>
        </p:nvSpPr>
        <p:spPr>
          <a:xfrm>
            <a:off x="548640" y="384048"/>
            <a:ext cx="1175004"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PROJECT</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KPI's</a:t>
            </a:r>
            <a:endParaRPr lang="en-US" sz="3200" dirty="0"/>
          </a:p>
        </p:txBody>
      </p:sp>
      <p:sp>
        <p:nvSpPr>
          <p:cNvPr id="5" name="Shape 3"/>
          <p:cNvSpPr/>
          <p:nvPr/>
        </p:nvSpPr>
        <p:spPr>
          <a:xfrm>
            <a:off x="548640" y="1600200"/>
            <a:ext cx="11091672" cy="804672"/>
          </a:xfrm>
          <a:prstGeom prst="roundRect">
            <a:avLst>
              <a:gd name="adj" fmla="val 11364"/>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6" name="Shape 4"/>
          <p:cNvSpPr/>
          <p:nvPr/>
        </p:nvSpPr>
        <p:spPr>
          <a:xfrm>
            <a:off x="777240" y="1728216"/>
            <a:ext cx="548640" cy="548640"/>
          </a:xfrm>
          <a:prstGeom prst="ellipse">
            <a:avLst/>
          </a:prstGeom>
          <a:solidFill>
            <a:srgbClr val="2F5BEA"/>
          </a:solidFill>
          <a:ln w="12700">
            <a:solidFill>
              <a:srgbClr val="2F5BEA"/>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914400" y="1865376"/>
            <a:ext cx="274320" cy="274320"/>
          </a:xfrm>
          <a:prstGeom prst="rect">
            <a:avLst/>
          </a:prstGeom>
        </p:spPr>
      </p:pic>
      <p:sp>
        <p:nvSpPr>
          <p:cNvPr id="8" name="Text 5"/>
          <p:cNvSpPr txBox="1"/>
          <p:nvPr/>
        </p:nvSpPr>
        <p:spPr>
          <a:xfrm>
            <a:off x="1554480" y="1600200"/>
            <a:ext cx="9875520" cy="804672"/>
          </a:xfrm>
          <a:prstGeom prst="rect">
            <a:avLst/>
          </a:prstGeom>
          <a:noFill/>
          <a:ln/>
        </p:spPr>
        <p:txBody>
          <a:bodyPr wrap="square" lIns="0" tIns="0" rIns="0" bIns="0" rtlCol="0" anchor="ctr"/>
          <a:lstStyle/>
          <a:p>
            <a:pPr marL="0" indent="0">
              <a:buNone/>
            </a:pPr>
            <a:r>
              <a:rPr lang="en-US" sz="1700" b="1" dirty="0">
                <a:solidFill>
                  <a:srgbClr val="2F5BEA"/>
                </a:solidFill>
                <a:latin typeface="Calibri" pitchFamily="34" charset="0"/>
                <a:ea typeface="Calibri" pitchFamily="34" charset="-122"/>
                <a:cs typeface="Calibri" pitchFamily="34" charset="-120"/>
              </a:rPr>
              <a:t>KPI 1   </a:t>
            </a:r>
            <a:r>
              <a:rPr lang="en-US" sz="1700" dirty="0">
                <a:solidFill>
                  <a:srgbClr val="0F1B3D"/>
                </a:solidFill>
                <a:latin typeface="Calibri" pitchFamily="34" charset="0"/>
                <a:ea typeface="Calibri" pitchFamily="34" charset="-122"/>
                <a:cs typeface="Calibri" pitchFamily="34" charset="-120"/>
              </a:rPr>
              <a:t>Weekday Vs Weekend (order_purchase_timestamp) Payment Statistics</a:t>
            </a:r>
            <a:endParaRPr lang="en-US" sz="1700" dirty="0"/>
          </a:p>
        </p:txBody>
      </p:sp>
      <p:sp>
        <p:nvSpPr>
          <p:cNvPr id="9" name="Shape 6"/>
          <p:cNvSpPr/>
          <p:nvPr/>
        </p:nvSpPr>
        <p:spPr>
          <a:xfrm>
            <a:off x="548640" y="2542032"/>
            <a:ext cx="11091672" cy="804672"/>
          </a:xfrm>
          <a:prstGeom prst="roundRect">
            <a:avLst>
              <a:gd name="adj" fmla="val 11364"/>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0" name="Shape 7"/>
          <p:cNvSpPr/>
          <p:nvPr/>
        </p:nvSpPr>
        <p:spPr>
          <a:xfrm>
            <a:off x="777240" y="2670048"/>
            <a:ext cx="548640" cy="548640"/>
          </a:xfrm>
          <a:prstGeom prst="ellipse">
            <a:avLst/>
          </a:prstGeom>
          <a:solidFill>
            <a:srgbClr val="217346"/>
          </a:solidFill>
          <a:ln w="12700">
            <a:solidFill>
              <a:srgbClr val="217346"/>
            </a:solidFill>
            <a:prstDash val="solid"/>
          </a:ln>
        </p:spPr>
        <p:txBody>
          <a:bodyPr/>
          <a:lstStyle/>
          <a:p>
            <a:endParaRPr lang="en-IN"/>
          </a:p>
        </p:txBody>
      </p:sp>
      <p:pic>
        <p:nvPicPr>
          <p:cNvPr id="11" name="Image 1" descr="preencoded.png"/>
          <p:cNvPicPr>
            <a:picLocks noChangeAspect="1"/>
          </p:cNvPicPr>
          <p:nvPr/>
        </p:nvPicPr>
        <p:blipFill>
          <a:blip r:embed="rId4"/>
          <a:stretch>
            <a:fillRect/>
          </a:stretch>
        </p:blipFill>
        <p:spPr>
          <a:xfrm>
            <a:off x="914400" y="2807208"/>
            <a:ext cx="274320" cy="274320"/>
          </a:xfrm>
          <a:prstGeom prst="rect">
            <a:avLst/>
          </a:prstGeom>
        </p:spPr>
      </p:pic>
      <p:sp>
        <p:nvSpPr>
          <p:cNvPr id="12" name="Text 8"/>
          <p:cNvSpPr txBox="1"/>
          <p:nvPr/>
        </p:nvSpPr>
        <p:spPr>
          <a:xfrm>
            <a:off x="1554480" y="2542032"/>
            <a:ext cx="9875520" cy="804672"/>
          </a:xfrm>
          <a:prstGeom prst="rect">
            <a:avLst/>
          </a:prstGeom>
          <a:noFill/>
          <a:ln/>
        </p:spPr>
        <p:txBody>
          <a:bodyPr wrap="square" lIns="0" tIns="0" rIns="0" bIns="0" rtlCol="0" anchor="ctr"/>
          <a:lstStyle/>
          <a:p>
            <a:pPr marL="0" indent="0">
              <a:buNone/>
            </a:pPr>
            <a:r>
              <a:rPr lang="en-US" sz="1700" b="1" dirty="0">
                <a:solidFill>
                  <a:srgbClr val="217346"/>
                </a:solidFill>
                <a:latin typeface="Calibri" pitchFamily="34" charset="0"/>
                <a:ea typeface="Calibri" pitchFamily="34" charset="-122"/>
                <a:cs typeface="Calibri" pitchFamily="34" charset="-120"/>
              </a:rPr>
              <a:t>KPI 2   </a:t>
            </a:r>
            <a:r>
              <a:rPr lang="en-US" sz="1700" dirty="0">
                <a:solidFill>
                  <a:srgbClr val="0F1B3D"/>
                </a:solidFill>
                <a:latin typeface="Calibri" pitchFamily="34" charset="0"/>
                <a:ea typeface="Calibri" pitchFamily="34" charset="-122"/>
                <a:cs typeface="Calibri" pitchFamily="34" charset="-120"/>
              </a:rPr>
              <a:t>Number of Orders with review score 5 and payment type as credit card.</a:t>
            </a:r>
            <a:endParaRPr lang="en-US" sz="1700" dirty="0"/>
          </a:p>
        </p:txBody>
      </p:sp>
      <p:sp>
        <p:nvSpPr>
          <p:cNvPr id="13" name="Shape 9"/>
          <p:cNvSpPr/>
          <p:nvPr/>
        </p:nvSpPr>
        <p:spPr>
          <a:xfrm>
            <a:off x="548640" y="3483864"/>
            <a:ext cx="11091672" cy="804672"/>
          </a:xfrm>
          <a:prstGeom prst="roundRect">
            <a:avLst>
              <a:gd name="adj" fmla="val 11364"/>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4" name="Shape 10"/>
          <p:cNvSpPr/>
          <p:nvPr/>
        </p:nvSpPr>
        <p:spPr>
          <a:xfrm>
            <a:off x="777240" y="3611880"/>
            <a:ext cx="548640" cy="548640"/>
          </a:xfrm>
          <a:prstGeom prst="ellipse">
            <a:avLst/>
          </a:prstGeom>
          <a:solidFill>
            <a:srgbClr val="E97627"/>
          </a:solidFill>
          <a:ln w="12700">
            <a:solidFill>
              <a:srgbClr val="E97627"/>
            </a:solidFill>
            <a:prstDash val="solid"/>
          </a:ln>
        </p:spPr>
        <p:txBody>
          <a:bodyPr/>
          <a:lstStyle/>
          <a:p>
            <a:endParaRPr lang="en-IN"/>
          </a:p>
        </p:txBody>
      </p:sp>
      <p:pic>
        <p:nvPicPr>
          <p:cNvPr id="15" name="Image 2" descr="preencoded.png"/>
          <p:cNvPicPr>
            <a:picLocks noChangeAspect="1"/>
          </p:cNvPicPr>
          <p:nvPr/>
        </p:nvPicPr>
        <p:blipFill>
          <a:blip r:embed="rId5"/>
          <a:stretch>
            <a:fillRect/>
          </a:stretch>
        </p:blipFill>
        <p:spPr>
          <a:xfrm>
            <a:off x="914400" y="3749040"/>
            <a:ext cx="274320" cy="274320"/>
          </a:xfrm>
          <a:prstGeom prst="rect">
            <a:avLst/>
          </a:prstGeom>
        </p:spPr>
      </p:pic>
      <p:sp>
        <p:nvSpPr>
          <p:cNvPr id="16" name="Text 11"/>
          <p:cNvSpPr txBox="1"/>
          <p:nvPr/>
        </p:nvSpPr>
        <p:spPr>
          <a:xfrm>
            <a:off x="1554480" y="3483864"/>
            <a:ext cx="9875520" cy="804672"/>
          </a:xfrm>
          <a:prstGeom prst="rect">
            <a:avLst/>
          </a:prstGeom>
          <a:noFill/>
          <a:ln/>
        </p:spPr>
        <p:txBody>
          <a:bodyPr wrap="square" lIns="0" tIns="0" rIns="0" bIns="0" rtlCol="0" anchor="ctr"/>
          <a:lstStyle/>
          <a:p>
            <a:pPr marL="0" indent="0">
              <a:buNone/>
            </a:pPr>
            <a:r>
              <a:rPr lang="en-US" sz="1700" b="1" dirty="0">
                <a:solidFill>
                  <a:srgbClr val="E97627"/>
                </a:solidFill>
                <a:latin typeface="Calibri" pitchFamily="34" charset="0"/>
                <a:ea typeface="Calibri" pitchFamily="34" charset="-122"/>
                <a:cs typeface="Calibri" pitchFamily="34" charset="-120"/>
              </a:rPr>
              <a:t>KPI 3   </a:t>
            </a:r>
            <a:r>
              <a:rPr lang="en-US" sz="1700" dirty="0">
                <a:solidFill>
                  <a:srgbClr val="0F1B3D"/>
                </a:solidFill>
                <a:latin typeface="Calibri" pitchFamily="34" charset="0"/>
                <a:ea typeface="Calibri" pitchFamily="34" charset="-122"/>
                <a:cs typeface="Calibri" pitchFamily="34" charset="-120"/>
              </a:rPr>
              <a:t>Average number of days taken for order_delivered_customer_date for pet_shop</a:t>
            </a:r>
            <a:endParaRPr lang="en-US" sz="1700" dirty="0"/>
          </a:p>
        </p:txBody>
      </p:sp>
      <p:sp>
        <p:nvSpPr>
          <p:cNvPr id="17" name="Shape 12"/>
          <p:cNvSpPr/>
          <p:nvPr/>
        </p:nvSpPr>
        <p:spPr>
          <a:xfrm>
            <a:off x="548640" y="4425696"/>
            <a:ext cx="11091672" cy="804672"/>
          </a:xfrm>
          <a:prstGeom prst="roundRect">
            <a:avLst>
              <a:gd name="adj" fmla="val 11364"/>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8" name="Shape 13"/>
          <p:cNvSpPr/>
          <p:nvPr/>
        </p:nvSpPr>
        <p:spPr>
          <a:xfrm>
            <a:off x="777240" y="4553712"/>
            <a:ext cx="548640" cy="548640"/>
          </a:xfrm>
          <a:prstGeom prst="ellipse">
            <a:avLst/>
          </a:prstGeom>
          <a:solidFill>
            <a:srgbClr val="00758F"/>
          </a:solidFill>
          <a:ln w="12700">
            <a:solidFill>
              <a:srgbClr val="00758F"/>
            </a:solidFill>
            <a:prstDash val="solid"/>
          </a:ln>
        </p:spPr>
        <p:txBody>
          <a:bodyPr/>
          <a:lstStyle/>
          <a:p>
            <a:endParaRPr lang="en-IN"/>
          </a:p>
        </p:txBody>
      </p:sp>
      <p:pic>
        <p:nvPicPr>
          <p:cNvPr id="19" name="Image 3" descr="preencoded.png"/>
          <p:cNvPicPr>
            <a:picLocks noChangeAspect="1"/>
          </p:cNvPicPr>
          <p:nvPr/>
        </p:nvPicPr>
        <p:blipFill>
          <a:blip r:embed="rId6"/>
          <a:stretch>
            <a:fillRect/>
          </a:stretch>
        </p:blipFill>
        <p:spPr>
          <a:xfrm>
            <a:off x="914400" y="4690872"/>
            <a:ext cx="274320" cy="274320"/>
          </a:xfrm>
          <a:prstGeom prst="rect">
            <a:avLst/>
          </a:prstGeom>
        </p:spPr>
      </p:pic>
      <p:sp>
        <p:nvSpPr>
          <p:cNvPr id="20" name="Text 14"/>
          <p:cNvSpPr txBox="1"/>
          <p:nvPr/>
        </p:nvSpPr>
        <p:spPr>
          <a:xfrm>
            <a:off x="1554480" y="4425696"/>
            <a:ext cx="9875520" cy="804672"/>
          </a:xfrm>
          <a:prstGeom prst="rect">
            <a:avLst/>
          </a:prstGeom>
          <a:noFill/>
          <a:ln/>
        </p:spPr>
        <p:txBody>
          <a:bodyPr wrap="square" lIns="0" tIns="0" rIns="0" bIns="0" rtlCol="0" anchor="ctr"/>
          <a:lstStyle/>
          <a:p>
            <a:pPr marL="0" indent="0">
              <a:buNone/>
            </a:pPr>
            <a:r>
              <a:rPr lang="en-US" sz="1700" b="1" dirty="0">
                <a:solidFill>
                  <a:srgbClr val="00758F"/>
                </a:solidFill>
                <a:latin typeface="Calibri" pitchFamily="34" charset="0"/>
                <a:ea typeface="Calibri" pitchFamily="34" charset="-122"/>
                <a:cs typeface="Calibri" pitchFamily="34" charset="-120"/>
              </a:rPr>
              <a:t>KPI 4   </a:t>
            </a:r>
            <a:r>
              <a:rPr lang="en-US" sz="1700" dirty="0">
                <a:solidFill>
                  <a:srgbClr val="0F1B3D"/>
                </a:solidFill>
                <a:latin typeface="Calibri" pitchFamily="34" charset="0"/>
                <a:ea typeface="Calibri" pitchFamily="34" charset="-122"/>
                <a:cs typeface="Calibri" pitchFamily="34" charset="-120"/>
              </a:rPr>
              <a:t>Average price and payment values from customers of sao paulo city</a:t>
            </a:r>
            <a:endParaRPr lang="en-US" sz="1700" dirty="0"/>
          </a:p>
        </p:txBody>
      </p:sp>
      <p:sp>
        <p:nvSpPr>
          <p:cNvPr id="21" name="Shape 15"/>
          <p:cNvSpPr/>
          <p:nvPr/>
        </p:nvSpPr>
        <p:spPr>
          <a:xfrm>
            <a:off x="548640" y="5367528"/>
            <a:ext cx="11091672" cy="804672"/>
          </a:xfrm>
          <a:prstGeom prst="roundRect">
            <a:avLst>
              <a:gd name="adj" fmla="val 11364"/>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2" name="Shape 16"/>
          <p:cNvSpPr/>
          <p:nvPr/>
        </p:nvSpPr>
        <p:spPr>
          <a:xfrm>
            <a:off x="777240" y="5495544"/>
            <a:ext cx="548640" cy="548640"/>
          </a:xfrm>
          <a:prstGeom prst="ellipse">
            <a:avLst/>
          </a:prstGeom>
          <a:solidFill>
            <a:srgbClr val="8E44AD"/>
          </a:solidFill>
          <a:ln w="12700">
            <a:solidFill>
              <a:srgbClr val="8E44AD"/>
            </a:solidFill>
            <a:prstDash val="solid"/>
          </a:ln>
        </p:spPr>
        <p:txBody>
          <a:bodyPr/>
          <a:lstStyle/>
          <a:p>
            <a:endParaRPr lang="en-IN"/>
          </a:p>
        </p:txBody>
      </p:sp>
      <p:pic>
        <p:nvPicPr>
          <p:cNvPr id="23" name="Image 4" descr="preencoded.png"/>
          <p:cNvPicPr>
            <a:picLocks noChangeAspect="1"/>
          </p:cNvPicPr>
          <p:nvPr/>
        </p:nvPicPr>
        <p:blipFill>
          <a:blip r:embed="rId7"/>
          <a:stretch>
            <a:fillRect/>
          </a:stretch>
        </p:blipFill>
        <p:spPr>
          <a:xfrm>
            <a:off x="914400" y="5632704"/>
            <a:ext cx="274320" cy="274320"/>
          </a:xfrm>
          <a:prstGeom prst="rect">
            <a:avLst/>
          </a:prstGeom>
        </p:spPr>
      </p:pic>
      <p:sp>
        <p:nvSpPr>
          <p:cNvPr id="24" name="Text 17"/>
          <p:cNvSpPr txBox="1"/>
          <p:nvPr/>
        </p:nvSpPr>
        <p:spPr>
          <a:xfrm>
            <a:off x="1554480" y="5367528"/>
            <a:ext cx="9875520" cy="804672"/>
          </a:xfrm>
          <a:prstGeom prst="rect">
            <a:avLst/>
          </a:prstGeom>
          <a:noFill/>
          <a:ln/>
        </p:spPr>
        <p:txBody>
          <a:bodyPr wrap="square" lIns="0" tIns="0" rIns="0" bIns="0" rtlCol="0" anchor="ctr"/>
          <a:lstStyle/>
          <a:p>
            <a:pPr marL="0" indent="0">
              <a:buNone/>
            </a:pPr>
            <a:r>
              <a:rPr lang="en-US" sz="1700" b="1" dirty="0">
                <a:solidFill>
                  <a:srgbClr val="8E44AD"/>
                </a:solidFill>
                <a:latin typeface="Calibri" pitchFamily="34" charset="0"/>
                <a:ea typeface="Calibri" pitchFamily="34" charset="-122"/>
                <a:cs typeface="Calibri" pitchFamily="34" charset="-120"/>
              </a:rPr>
              <a:t>KPI 5   </a:t>
            </a:r>
            <a:r>
              <a:rPr lang="en-US" sz="1700" dirty="0">
                <a:solidFill>
                  <a:srgbClr val="0F1B3D"/>
                </a:solidFill>
                <a:latin typeface="Calibri" pitchFamily="34" charset="0"/>
                <a:ea typeface="Calibri" pitchFamily="34" charset="-122"/>
                <a:cs typeface="Calibri" pitchFamily="34" charset="-120"/>
              </a:rPr>
              <a:t>Relationship between shipping days (order_delivered_customer_date - order_purchase_timestamp) Vs review scores.</a:t>
            </a:r>
            <a:endParaRPr lang="en-US" sz="17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chip"/>
          <p:cNvSpPr/>
          <p:nvPr/>
        </p:nvSpPr>
        <p:spPr>
          <a:xfrm>
            <a:off x="548640" y="384048"/>
            <a:ext cx="1175004" cy="310896"/>
          </a:xfrm>
          <a:prstGeom prst="roundRect">
            <a:avLst>
              <a:gd name="adj" fmla="val 50000"/>
            </a:avLst>
          </a:prstGeom>
          <a:solidFill>
            <a:srgbClr val="2F5BEA"/>
          </a:solidFill>
          <a:ln w="12700">
            <a:solidFill>
              <a:srgbClr val="2F5BEA"/>
            </a:solidFill>
            <a:prstDash val="solid"/>
          </a:ln>
        </p:spPr>
        <p:txBody>
          <a:bodyPr/>
          <a:lstStyle/>
          <a:p>
            <a:endParaRPr lang="en-IN"/>
          </a:p>
        </p:txBody>
      </p:sp>
      <p:sp>
        <p:nvSpPr>
          <p:cNvPr id="3" name="Text 1"/>
          <p:cNvSpPr txBox="1"/>
          <p:nvPr/>
        </p:nvSpPr>
        <p:spPr>
          <a:xfrm>
            <a:off x="548640" y="384048"/>
            <a:ext cx="1175004"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PROJECT</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Dataset and Data Model</a:t>
            </a:r>
            <a:endParaRPr lang="en-US" sz="3200" dirty="0"/>
          </a:p>
        </p:txBody>
      </p:sp>
      <p:sp>
        <p:nvSpPr>
          <p:cNvPr id="5" name="Screenshot placeholder"/>
          <p:cNvSpPr/>
          <p:nvPr/>
        </p:nvSpPr>
        <p:spPr>
          <a:xfrm>
            <a:off x="548640" y="1600200"/>
            <a:ext cx="7315200" cy="4663440"/>
          </a:xfrm>
          <a:prstGeom prst="roundRect">
            <a:avLst>
              <a:gd name="adj" fmla="val 2353"/>
            </a:avLst>
          </a:prstGeom>
          <a:blipFill dpi="0" rotWithShape="1">
            <a:blip r:embed="rId3">
              <a:extLst>
                <a:ext uri="{28A0092B-C50C-407E-A947-70E740481C1C}">
                  <a14:useLocalDpi xmlns:a14="http://schemas.microsoft.com/office/drawing/2010/main" val="0"/>
                </a:ext>
              </a:extLst>
            </a:blip>
            <a:srcRect/>
            <a:stretch>
              <a:fillRect/>
            </a:stretch>
          </a:blipFill>
          <a:ln w="19050">
            <a:solidFill>
              <a:srgbClr val="2F5BEA"/>
            </a:solidFill>
            <a:prstDash val="dash"/>
          </a:ln>
          <a:effectLst>
            <a:outerShdw blurRad="114300" dist="25400" dir="5400000" algn="bl" rotWithShape="0">
              <a:srgbClr val="1F2A44">
                <a:alpha val="13000"/>
              </a:srgbClr>
            </a:outerShdw>
          </a:effectLst>
        </p:spPr>
        <p:txBody>
          <a:bodyPr/>
          <a:lstStyle/>
          <a:p>
            <a:endParaRPr lang="en-IN"/>
          </a:p>
        </p:txBody>
      </p:sp>
      <p:sp>
        <p:nvSpPr>
          <p:cNvPr id="9" name="Stat tile"/>
          <p:cNvSpPr/>
          <p:nvPr/>
        </p:nvSpPr>
        <p:spPr>
          <a:xfrm>
            <a:off x="8183880" y="1600200"/>
            <a:ext cx="3456432" cy="1051560"/>
          </a:xfrm>
          <a:prstGeom prst="roundRect">
            <a:avLst>
              <a:gd name="adj" fmla="val 869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0" name="Text 7"/>
          <p:cNvSpPr txBox="1"/>
          <p:nvPr/>
        </p:nvSpPr>
        <p:spPr>
          <a:xfrm>
            <a:off x="8321040" y="1673352"/>
            <a:ext cx="3182112" cy="504749"/>
          </a:xfrm>
          <a:prstGeom prst="rect">
            <a:avLst/>
          </a:prstGeom>
          <a:noFill/>
          <a:ln/>
        </p:spPr>
        <p:txBody>
          <a:bodyPr wrap="square" lIns="0" tIns="0" rIns="0" bIns="0" rtlCol="0" anchor="ctr"/>
          <a:lstStyle/>
          <a:p>
            <a:pPr marL="0" indent="0">
              <a:buNone/>
            </a:pPr>
            <a:r>
              <a:rPr lang="en-US" sz="2800" b="1" dirty="0">
                <a:solidFill>
                  <a:srgbClr val="2F5BEA"/>
                </a:solidFill>
                <a:latin typeface="Calibri" pitchFamily="34" charset="0"/>
                <a:ea typeface="Calibri" pitchFamily="34" charset="-122"/>
                <a:cs typeface="Calibri" pitchFamily="34" charset="-120"/>
              </a:rPr>
              <a:t>9</a:t>
            </a:r>
            <a:endParaRPr lang="en-US" sz="2800" dirty="0"/>
          </a:p>
        </p:txBody>
      </p:sp>
      <p:sp>
        <p:nvSpPr>
          <p:cNvPr id="11" name="Text 8"/>
          <p:cNvSpPr txBox="1"/>
          <p:nvPr/>
        </p:nvSpPr>
        <p:spPr>
          <a:xfrm>
            <a:off x="8321040" y="2168042"/>
            <a:ext cx="3182112" cy="441655"/>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source tables (CSV files)</a:t>
            </a:r>
            <a:endParaRPr lang="en-US" sz="1100" dirty="0"/>
          </a:p>
        </p:txBody>
      </p:sp>
      <p:sp>
        <p:nvSpPr>
          <p:cNvPr id="12" name="Stat tile"/>
          <p:cNvSpPr/>
          <p:nvPr/>
        </p:nvSpPr>
        <p:spPr>
          <a:xfrm>
            <a:off x="8183880" y="2788920"/>
            <a:ext cx="3456432" cy="1051560"/>
          </a:xfrm>
          <a:prstGeom prst="roundRect">
            <a:avLst>
              <a:gd name="adj" fmla="val 869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3" name="Text 10"/>
          <p:cNvSpPr txBox="1"/>
          <p:nvPr/>
        </p:nvSpPr>
        <p:spPr>
          <a:xfrm>
            <a:off x="8321040" y="2862072"/>
            <a:ext cx="3182112" cy="504749"/>
          </a:xfrm>
          <a:prstGeom prst="rect">
            <a:avLst/>
          </a:prstGeom>
          <a:noFill/>
          <a:ln/>
        </p:spPr>
        <p:txBody>
          <a:bodyPr wrap="square" lIns="0" tIns="0" rIns="0" bIns="0" rtlCol="0" anchor="ctr"/>
          <a:lstStyle/>
          <a:p>
            <a:pPr marL="0" indent="0">
              <a:buNone/>
            </a:pPr>
            <a:r>
              <a:rPr lang="en-US" sz="2800" b="1" dirty="0">
                <a:solidFill>
                  <a:srgbClr val="2F5BEA"/>
                </a:solidFill>
                <a:latin typeface="Calibri" pitchFamily="34" charset="0"/>
                <a:ea typeface="Calibri" pitchFamily="34" charset="-122"/>
                <a:cs typeface="Calibri" pitchFamily="34" charset="-120"/>
              </a:rPr>
              <a:t>99,441</a:t>
            </a:r>
            <a:endParaRPr lang="en-US" sz="2800" dirty="0"/>
          </a:p>
        </p:txBody>
      </p:sp>
      <p:sp>
        <p:nvSpPr>
          <p:cNvPr id="14" name="Text 11"/>
          <p:cNvSpPr txBox="1"/>
          <p:nvPr/>
        </p:nvSpPr>
        <p:spPr>
          <a:xfrm>
            <a:off x="8321040" y="3356762"/>
            <a:ext cx="3182112" cy="441655"/>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orders in the orders table</a:t>
            </a:r>
            <a:endParaRPr lang="en-US" sz="1100" dirty="0"/>
          </a:p>
        </p:txBody>
      </p:sp>
      <p:sp>
        <p:nvSpPr>
          <p:cNvPr id="15" name="Shape 12"/>
          <p:cNvSpPr/>
          <p:nvPr/>
        </p:nvSpPr>
        <p:spPr>
          <a:xfrm>
            <a:off x="8183880" y="3977640"/>
            <a:ext cx="3456432" cy="2286000"/>
          </a:xfrm>
          <a:prstGeom prst="roundRect">
            <a:avLst>
              <a:gd name="adj" fmla="val 4000"/>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6" name="Text 13"/>
          <p:cNvSpPr txBox="1"/>
          <p:nvPr/>
        </p:nvSpPr>
        <p:spPr>
          <a:xfrm>
            <a:off x="8366760" y="4114800"/>
            <a:ext cx="3108960" cy="205740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A44"/>
                </a:solidFill>
                <a:latin typeface="Calibri" pitchFamily="34" charset="0"/>
                <a:ea typeface="Calibri" pitchFamily="34" charset="-122"/>
                <a:cs typeface="Calibri" pitchFamily="34" charset="-120"/>
              </a:rPr>
              <a:t>Joined on order_id, customer_id, product_id, seller_id, zip code prefix and product category name</a:t>
            </a:r>
            <a:endParaRPr lang="en-US" sz="1300" dirty="0"/>
          </a:p>
          <a:p>
            <a:pPr marL="342900" indent="-342900">
              <a:spcAft>
                <a:spcPts val="900"/>
              </a:spcAft>
              <a:buSzPct val="100000"/>
              <a:buChar char="•"/>
            </a:pPr>
            <a:r>
              <a:rPr lang="en-US" sz="1300" dirty="0">
                <a:solidFill>
                  <a:srgbClr val="1F2A44"/>
                </a:solidFill>
                <a:latin typeface="Calibri" pitchFamily="34" charset="0"/>
                <a:ea typeface="Calibri" pitchFamily="34" charset="-122"/>
                <a:cs typeface="Calibri" pitchFamily="34" charset="-120"/>
              </a:rPr>
              <a:t>Geolocation handled through lookup tables built from the raw table</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chip"/>
          <p:cNvSpPr/>
          <p:nvPr/>
        </p:nvSpPr>
        <p:spPr>
          <a:xfrm>
            <a:off x="548640" y="384048"/>
            <a:ext cx="1271016" cy="310896"/>
          </a:xfrm>
          <a:prstGeom prst="roundRect">
            <a:avLst>
              <a:gd name="adj" fmla="val 50000"/>
            </a:avLst>
          </a:prstGeom>
          <a:solidFill>
            <a:srgbClr val="2F5BEA"/>
          </a:solidFill>
          <a:ln w="12700">
            <a:solidFill>
              <a:srgbClr val="2F5BEA"/>
            </a:solidFill>
            <a:prstDash val="solid"/>
          </a:ln>
        </p:spPr>
        <p:txBody>
          <a:bodyPr/>
          <a:lstStyle/>
          <a:p>
            <a:endParaRPr lang="en-IN"/>
          </a:p>
        </p:txBody>
      </p:sp>
      <p:sp>
        <p:nvSpPr>
          <p:cNvPr id="3" name="Text 1"/>
          <p:cNvSpPr txBox="1"/>
          <p:nvPr/>
        </p:nvSpPr>
        <p:spPr>
          <a:xfrm>
            <a:off x="548640" y="384048"/>
            <a:ext cx="1271016"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APPROACH</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Our Approach: 4 Modules</a:t>
            </a:r>
            <a:endParaRPr lang="en-US" sz="3200" dirty="0"/>
          </a:p>
        </p:txBody>
      </p:sp>
      <p:sp>
        <p:nvSpPr>
          <p:cNvPr id="5" name="Shape 3"/>
          <p:cNvSpPr/>
          <p:nvPr/>
        </p:nvSpPr>
        <p:spPr>
          <a:xfrm>
            <a:off x="548640" y="1691640"/>
            <a:ext cx="2578608" cy="3429000"/>
          </a:xfrm>
          <a:prstGeom prst="roundRect">
            <a:avLst>
              <a:gd name="adj" fmla="val 354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6" name="Shape 4"/>
          <p:cNvSpPr/>
          <p:nvPr/>
        </p:nvSpPr>
        <p:spPr>
          <a:xfrm>
            <a:off x="822960" y="1965960"/>
            <a:ext cx="868680" cy="868680"/>
          </a:xfrm>
          <a:prstGeom prst="ellipse">
            <a:avLst/>
          </a:prstGeom>
          <a:solidFill>
            <a:srgbClr val="217346"/>
          </a:solidFill>
          <a:ln w="12700">
            <a:solidFill>
              <a:srgbClr val="217346"/>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1040130" y="2183130"/>
            <a:ext cx="434340" cy="434340"/>
          </a:xfrm>
          <a:prstGeom prst="rect">
            <a:avLst/>
          </a:prstGeom>
        </p:spPr>
      </p:pic>
      <p:sp>
        <p:nvSpPr>
          <p:cNvPr id="8" name="Text 5"/>
          <p:cNvSpPr txBox="1"/>
          <p:nvPr/>
        </p:nvSpPr>
        <p:spPr>
          <a:xfrm>
            <a:off x="822960" y="3017520"/>
            <a:ext cx="2103120" cy="274320"/>
          </a:xfrm>
          <a:prstGeom prst="rect">
            <a:avLst/>
          </a:prstGeom>
          <a:noFill/>
          <a:ln/>
        </p:spPr>
        <p:txBody>
          <a:bodyPr wrap="square" lIns="0" tIns="0" rIns="0" bIns="0" rtlCol="0" anchor="ctr"/>
          <a:lstStyle/>
          <a:p>
            <a:pPr marL="0" indent="0">
              <a:buNone/>
            </a:pPr>
            <a:r>
              <a:rPr lang="en-US" sz="1100" b="1" kern="0" spc="200" dirty="0">
                <a:solidFill>
                  <a:srgbClr val="5B6578"/>
                </a:solidFill>
                <a:latin typeface="Calibri" pitchFamily="34" charset="0"/>
                <a:ea typeface="Calibri" pitchFamily="34" charset="-122"/>
                <a:cs typeface="Calibri" pitchFamily="34" charset="-120"/>
              </a:rPr>
              <a:t>MODULE 1</a:t>
            </a:r>
            <a:endParaRPr lang="en-US" sz="1100" dirty="0"/>
          </a:p>
        </p:txBody>
      </p:sp>
      <p:sp>
        <p:nvSpPr>
          <p:cNvPr id="9" name="Text 6"/>
          <p:cNvSpPr txBox="1"/>
          <p:nvPr/>
        </p:nvSpPr>
        <p:spPr>
          <a:xfrm>
            <a:off x="822960" y="3291840"/>
            <a:ext cx="2103120" cy="457200"/>
          </a:xfrm>
          <a:prstGeom prst="rect">
            <a:avLst/>
          </a:prstGeom>
          <a:noFill/>
          <a:ln/>
        </p:spPr>
        <p:txBody>
          <a:bodyPr wrap="square" lIns="0" tIns="0" rIns="0" bIns="0" rtlCol="0" anchor="ctr"/>
          <a:lstStyle/>
          <a:p>
            <a:pPr marL="0" indent="0">
              <a:buNone/>
            </a:pPr>
            <a:r>
              <a:rPr lang="en-US" sz="2600" b="1" dirty="0">
                <a:solidFill>
                  <a:srgbClr val="0F1B3D"/>
                </a:solidFill>
                <a:latin typeface="Calibri" pitchFamily="34" charset="0"/>
                <a:ea typeface="Calibri" pitchFamily="34" charset="-122"/>
                <a:cs typeface="Calibri" pitchFamily="34" charset="-120"/>
              </a:rPr>
              <a:t>Excel</a:t>
            </a:r>
            <a:endParaRPr lang="en-US" sz="2600" dirty="0"/>
          </a:p>
        </p:txBody>
      </p:sp>
      <p:sp>
        <p:nvSpPr>
          <p:cNvPr id="10" name="Text 7"/>
          <p:cNvSpPr txBox="1"/>
          <p:nvPr/>
        </p:nvSpPr>
        <p:spPr>
          <a:xfrm>
            <a:off x="822960" y="3794760"/>
            <a:ext cx="2103120" cy="1188720"/>
          </a:xfrm>
          <a:prstGeom prst="rect">
            <a:avLst/>
          </a:prstGeom>
          <a:noFill/>
          <a:ln/>
        </p:spPr>
        <p:txBody>
          <a:bodyPr wrap="square" lIns="0" tIns="0" rIns="0" bIns="0" rtlCol="0" anchor="t"/>
          <a:lstStyle/>
          <a:p>
            <a:pPr marL="0" indent="0">
              <a:buNone/>
            </a:pPr>
            <a:r>
              <a:rPr lang="en-US" sz="1400" dirty="0">
                <a:solidFill>
                  <a:srgbClr val="1F2A44"/>
                </a:solidFill>
                <a:latin typeface="Calibri" pitchFamily="34" charset="0"/>
                <a:ea typeface="Calibri" pitchFamily="34" charset="-122"/>
                <a:cs typeface="Calibri" pitchFamily="34" charset="-120"/>
              </a:rPr>
              <a:t>Power Query cleaning, Data Model, PivotTables, dashboard</a:t>
            </a:r>
            <a:endParaRPr lang="en-US" sz="1400" dirty="0"/>
          </a:p>
        </p:txBody>
      </p:sp>
      <p:sp>
        <p:nvSpPr>
          <p:cNvPr id="11" name="Shape 8"/>
          <p:cNvSpPr/>
          <p:nvPr/>
        </p:nvSpPr>
        <p:spPr>
          <a:xfrm>
            <a:off x="3163824" y="3246120"/>
            <a:ext cx="201168" cy="274320"/>
          </a:xfrm>
          <a:prstGeom prst="rightArrow">
            <a:avLst/>
          </a:prstGeom>
          <a:solidFill>
            <a:srgbClr val="9FB0D6"/>
          </a:solidFill>
          <a:ln w="12700">
            <a:solidFill>
              <a:srgbClr val="9FB0D6"/>
            </a:solidFill>
            <a:prstDash val="solid"/>
          </a:ln>
        </p:spPr>
        <p:txBody>
          <a:bodyPr/>
          <a:lstStyle/>
          <a:p>
            <a:endParaRPr lang="en-IN"/>
          </a:p>
        </p:txBody>
      </p:sp>
      <p:sp>
        <p:nvSpPr>
          <p:cNvPr id="12" name="Shape 9"/>
          <p:cNvSpPr/>
          <p:nvPr/>
        </p:nvSpPr>
        <p:spPr>
          <a:xfrm>
            <a:off x="3383280" y="1691640"/>
            <a:ext cx="2578608" cy="3429000"/>
          </a:xfrm>
          <a:prstGeom prst="roundRect">
            <a:avLst>
              <a:gd name="adj" fmla="val 354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3" name="Shape 10"/>
          <p:cNvSpPr/>
          <p:nvPr/>
        </p:nvSpPr>
        <p:spPr>
          <a:xfrm>
            <a:off x="3657600" y="1965960"/>
            <a:ext cx="868680" cy="868680"/>
          </a:xfrm>
          <a:prstGeom prst="ellipse">
            <a:avLst/>
          </a:prstGeom>
          <a:solidFill>
            <a:srgbClr val="F2C811"/>
          </a:solidFill>
          <a:ln w="12700">
            <a:solidFill>
              <a:srgbClr val="F2C811"/>
            </a:solidFill>
            <a:prstDash val="solid"/>
          </a:ln>
        </p:spPr>
        <p:txBody>
          <a:bodyPr/>
          <a:lstStyle/>
          <a:p>
            <a:endParaRPr lang="en-IN"/>
          </a:p>
        </p:txBody>
      </p:sp>
      <p:pic>
        <p:nvPicPr>
          <p:cNvPr id="14" name="Image 1" descr="preencoded.png"/>
          <p:cNvPicPr>
            <a:picLocks noChangeAspect="1"/>
          </p:cNvPicPr>
          <p:nvPr/>
        </p:nvPicPr>
        <p:blipFill>
          <a:blip r:embed="rId4"/>
          <a:stretch>
            <a:fillRect/>
          </a:stretch>
        </p:blipFill>
        <p:spPr>
          <a:xfrm>
            <a:off x="3874770" y="2183130"/>
            <a:ext cx="434340" cy="434340"/>
          </a:xfrm>
          <a:prstGeom prst="rect">
            <a:avLst/>
          </a:prstGeom>
        </p:spPr>
      </p:pic>
      <p:sp>
        <p:nvSpPr>
          <p:cNvPr id="15" name="Text 11"/>
          <p:cNvSpPr txBox="1"/>
          <p:nvPr/>
        </p:nvSpPr>
        <p:spPr>
          <a:xfrm>
            <a:off x="3657600" y="3017520"/>
            <a:ext cx="2103120" cy="274320"/>
          </a:xfrm>
          <a:prstGeom prst="rect">
            <a:avLst/>
          </a:prstGeom>
          <a:noFill/>
          <a:ln/>
        </p:spPr>
        <p:txBody>
          <a:bodyPr wrap="square" lIns="0" tIns="0" rIns="0" bIns="0" rtlCol="0" anchor="ctr"/>
          <a:lstStyle/>
          <a:p>
            <a:pPr marL="0" indent="0">
              <a:buNone/>
            </a:pPr>
            <a:r>
              <a:rPr lang="en-US" sz="1100" b="1" kern="0" spc="200" dirty="0">
                <a:solidFill>
                  <a:srgbClr val="5B6578"/>
                </a:solidFill>
                <a:latin typeface="Calibri" pitchFamily="34" charset="0"/>
                <a:ea typeface="Calibri" pitchFamily="34" charset="-122"/>
                <a:cs typeface="Calibri" pitchFamily="34" charset="-120"/>
              </a:rPr>
              <a:t>MODULE 2</a:t>
            </a:r>
            <a:endParaRPr lang="en-US" sz="1100" dirty="0"/>
          </a:p>
        </p:txBody>
      </p:sp>
      <p:sp>
        <p:nvSpPr>
          <p:cNvPr id="16" name="Text 12"/>
          <p:cNvSpPr txBox="1"/>
          <p:nvPr/>
        </p:nvSpPr>
        <p:spPr>
          <a:xfrm>
            <a:off x="3657600" y="3291840"/>
            <a:ext cx="2103120" cy="457200"/>
          </a:xfrm>
          <a:prstGeom prst="rect">
            <a:avLst/>
          </a:prstGeom>
          <a:noFill/>
          <a:ln/>
        </p:spPr>
        <p:txBody>
          <a:bodyPr wrap="square" lIns="0" tIns="0" rIns="0" bIns="0" rtlCol="0" anchor="ctr"/>
          <a:lstStyle/>
          <a:p>
            <a:pPr marL="0" indent="0">
              <a:buNone/>
            </a:pPr>
            <a:r>
              <a:rPr lang="en-US" sz="2600" b="1" dirty="0">
                <a:solidFill>
                  <a:srgbClr val="0F1B3D"/>
                </a:solidFill>
                <a:latin typeface="Calibri" pitchFamily="34" charset="0"/>
                <a:ea typeface="Calibri" pitchFamily="34" charset="-122"/>
                <a:cs typeface="Calibri" pitchFamily="34" charset="-120"/>
              </a:rPr>
              <a:t>Power BI</a:t>
            </a:r>
            <a:endParaRPr lang="en-US" sz="2600" dirty="0"/>
          </a:p>
        </p:txBody>
      </p:sp>
      <p:sp>
        <p:nvSpPr>
          <p:cNvPr id="17" name="Text 13"/>
          <p:cNvSpPr txBox="1"/>
          <p:nvPr/>
        </p:nvSpPr>
        <p:spPr>
          <a:xfrm>
            <a:off x="3657600" y="3794760"/>
            <a:ext cx="2103120" cy="1188720"/>
          </a:xfrm>
          <a:prstGeom prst="rect">
            <a:avLst/>
          </a:prstGeom>
          <a:noFill/>
          <a:ln/>
        </p:spPr>
        <p:txBody>
          <a:bodyPr wrap="square" lIns="0" tIns="0" rIns="0" bIns="0" rtlCol="0" anchor="t"/>
          <a:lstStyle/>
          <a:p>
            <a:pPr marL="0" indent="0">
              <a:buNone/>
            </a:pPr>
            <a:r>
              <a:rPr lang="en-US" sz="1400" dirty="0">
                <a:solidFill>
                  <a:srgbClr val="1F2A44"/>
                </a:solidFill>
                <a:latin typeface="Calibri" pitchFamily="34" charset="0"/>
                <a:ea typeface="Calibri" pitchFamily="34" charset="-122"/>
                <a:cs typeface="Calibri" pitchFamily="34" charset="-120"/>
              </a:rPr>
              <a:t>Power Query, relationships, DAX measures, KPI pages and dashboard</a:t>
            </a:r>
            <a:endParaRPr lang="en-US" sz="1400" dirty="0"/>
          </a:p>
        </p:txBody>
      </p:sp>
      <p:sp>
        <p:nvSpPr>
          <p:cNvPr id="18" name="Shape 14"/>
          <p:cNvSpPr/>
          <p:nvPr/>
        </p:nvSpPr>
        <p:spPr>
          <a:xfrm>
            <a:off x="5998464" y="3246120"/>
            <a:ext cx="201168" cy="274320"/>
          </a:xfrm>
          <a:prstGeom prst="rightArrow">
            <a:avLst/>
          </a:prstGeom>
          <a:solidFill>
            <a:srgbClr val="9FB0D6"/>
          </a:solidFill>
          <a:ln w="12700">
            <a:solidFill>
              <a:srgbClr val="9FB0D6"/>
            </a:solidFill>
            <a:prstDash val="solid"/>
          </a:ln>
        </p:spPr>
        <p:txBody>
          <a:bodyPr/>
          <a:lstStyle/>
          <a:p>
            <a:endParaRPr lang="en-IN"/>
          </a:p>
        </p:txBody>
      </p:sp>
      <p:sp>
        <p:nvSpPr>
          <p:cNvPr id="19" name="Shape 15"/>
          <p:cNvSpPr/>
          <p:nvPr/>
        </p:nvSpPr>
        <p:spPr>
          <a:xfrm>
            <a:off x="6217920" y="1691640"/>
            <a:ext cx="2578608" cy="3429000"/>
          </a:xfrm>
          <a:prstGeom prst="roundRect">
            <a:avLst>
              <a:gd name="adj" fmla="val 354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0" name="Shape 16"/>
          <p:cNvSpPr/>
          <p:nvPr/>
        </p:nvSpPr>
        <p:spPr>
          <a:xfrm>
            <a:off x="6492240" y="1965960"/>
            <a:ext cx="868680" cy="868680"/>
          </a:xfrm>
          <a:prstGeom prst="ellipse">
            <a:avLst/>
          </a:prstGeom>
          <a:solidFill>
            <a:srgbClr val="00758F"/>
          </a:solidFill>
          <a:ln w="12700">
            <a:solidFill>
              <a:srgbClr val="00758F"/>
            </a:solidFill>
            <a:prstDash val="solid"/>
          </a:ln>
        </p:spPr>
        <p:txBody>
          <a:bodyPr/>
          <a:lstStyle/>
          <a:p>
            <a:endParaRPr lang="en-IN"/>
          </a:p>
        </p:txBody>
      </p:sp>
      <p:pic>
        <p:nvPicPr>
          <p:cNvPr id="21" name="Image 2" descr="preencoded.png"/>
          <p:cNvPicPr>
            <a:picLocks noChangeAspect="1"/>
          </p:cNvPicPr>
          <p:nvPr/>
        </p:nvPicPr>
        <p:blipFill>
          <a:blip r:embed="rId5"/>
          <a:stretch>
            <a:fillRect/>
          </a:stretch>
        </p:blipFill>
        <p:spPr>
          <a:xfrm>
            <a:off x="6709410" y="2183130"/>
            <a:ext cx="434340" cy="434340"/>
          </a:xfrm>
          <a:prstGeom prst="rect">
            <a:avLst/>
          </a:prstGeom>
        </p:spPr>
      </p:pic>
      <p:sp>
        <p:nvSpPr>
          <p:cNvPr id="22" name="Text 17"/>
          <p:cNvSpPr txBox="1"/>
          <p:nvPr/>
        </p:nvSpPr>
        <p:spPr>
          <a:xfrm>
            <a:off x="6492240" y="3017520"/>
            <a:ext cx="2103120" cy="274320"/>
          </a:xfrm>
          <a:prstGeom prst="rect">
            <a:avLst/>
          </a:prstGeom>
          <a:noFill/>
          <a:ln/>
        </p:spPr>
        <p:txBody>
          <a:bodyPr wrap="square" lIns="0" tIns="0" rIns="0" bIns="0" rtlCol="0" anchor="ctr"/>
          <a:lstStyle/>
          <a:p>
            <a:pPr marL="0" indent="0">
              <a:buNone/>
            </a:pPr>
            <a:r>
              <a:rPr lang="en-US" sz="1100" b="1" kern="0" spc="200" dirty="0">
                <a:solidFill>
                  <a:srgbClr val="5B6578"/>
                </a:solidFill>
                <a:latin typeface="Calibri" pitchFamily="34" charset="0"/>
                <a:ea typeface="Calibri" pitchFamily="34" charset="-122"/>
                <a:cs typeface="Calibri" pitchFamily="34" charset="-120"/>
              </a:rPr>
              <a:t>MODULE 3</a:t>
            </a:r>
            <a:endParaRPr lang="en-US" sz="1100" dirty="0"/>
          </a:p>
        </p:txBody>
      </p:sp>
      <p:sp>
        <p:nvSpPr>
          <p:cNvPr id="23" name="Text 18"/>
          <p:cNvSpPr txBox="1"/>
          <p:nvPr/>
        </p:nvSpPr>
        <p:spPr>
          <a:xfrm>
            <a:off x="6492240" y="3291840"/>
            <a:ext cx="2103120" cy="457200"/>
          </a:xfrm>
          <a:prstGeom prst="rect">
            <a:avLst/>
          </a:prstGeom>
          <a:noFill/>
          <a:ln/>
        </p:spPr>
        <p:txBody>
          <a:bodyPr wrap="square" lIns="0" tIns="0" rIns="0" bIns="0" rtlCol="0" anchor="ctr"/>
          <a:lstStyle/>
          <a:p>
            <a:pPr marL="0" indent="0">
              <a:buNone/>
            </a:pPr>
            <a:r>
              <a:rPr lang="en-US" sz="2600" b="1" dirty="0">
                <a:solidFill>
                  <a:srgbClr val="0F1B3D"/>
                </a:solidFill>
                <a:latin typeface="Calibri" pitchFamily="34" charset="0"/>
                <a:ea typeface="Calibri" pitchFamily="34" charset="-122"/>
                <a:cs typeface="Calibri" pitchFamily="34" charset="-120"/>
              </a:rPr>
              <a:t>SQL</a:t>
            </a:r>
            <a:endParaRPr lang="en-US" sz="2600" dirty="0"/>
          </a:p>
        </p:txBody>
      </p:sp>
      <p:sp>
        <p:nvSpPr>
          <p:cNvPr id="24" name="Text 19"/>
          <p:cNvSpPr txBox="1"/>
          <p:nvPr/>
        </p:nvSpPr>
        <p:spPr>
          <a:xfrm>
            <a:off x="6492240" y="3794760"/>
            <a:ext cx="2103120" cy="1188720"/>
          </a:xfrm>
          <a:prstGeom prst="rect">
            <a:avLst/>
          </a:prstGeom>
          <a:noFill/>
          <a:ln/>
        </p:spPr>
        <p:txBody>
          <a:bodyPr wrap="square" lIns="0" tIns="0" rIns="0" bIns="0" rtlCol="0" anchor="t"/>
          <a:lstStyle/>
          <a:p>
            <a:pPr marL="0" indent="0">
              <a:buNone/>
            </a:pPr>
            <a:r>
              <a:rPr lang="en-US" sz="1400" dirty="0">
                <a:solidFill>
                  <a:srgbClr val="1F2A44"/>
                </a:solidFill>
                <a:latin typeface="Calibri" pitchFamily="34" charset="0"/>
                <a:ea typeface="Calibri" pitchFamily="34" charset="-122"/>
                <a:cs typeface="Calibri" pitchFamily="34" charset="-120"/>
              </a:rPr>
              <a:t>MySQL database olist_store, KPI queries</a:t>
            </a:r>
            <a:endParaRPr lang="en-US" sz="1400" dirty="0"/>
          </a:p>
        </p:txBody>
      </p:sp>
      <p:sp>
        <p:nvSpPr>
          <p:cNvPr id="25" name="Shape 20"/>
          <p:cNvSpPr/>
          <p:nvPr/>
        </p:nvSpPr>
        <p:spPr>
          <a:xfrm>
            <a:off x="8833104" y="3246120"/>
            <a:ext cx="201168" cy="274320"/>
          </a:xfrm>
          <a:prstGeom prst="rightArrow">
            <a:avLst/>
          </a:prstGeom>
          <a:solidFill>
            <a:srgbClr val="9FB0D6"/>
          </a:solidFill>
          <a:ln w="12700">
            <a:solidFill>
              <a:srgbClr val="9FB0D6"/>
            </a:solidFill>
            <a:prstDash val="solid"/>
          </a:ln>
        </p:spPr>
        <p:txBody>
          <a:bodyPr/>
          <a:lstStyle/>
          <a:p>
            <a:endParaRPr lang="en-IN"/>
          </a:p>
        </p:txBody>
      </p:sp>
      <p:sp>
        <p:nvSpPr>
          <p:cNvPr id="26" name="Shape 21"/>
          <p:cNvSpPr/>
          <p:nvPr/>
        </p:nvSpPr>
        <p:spPr>
          <a:xfrm>
            <a:off x="9052560" y="1691640"/>
            <a:ext cx="2578608" cy="3429000"/>
          </a:xfrm>
          <a:prstGeom prst="roundRect">
            <a:avLst>
              <a:gd name="adj" fmla="val 354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7" name="Shape 22"/>
          <p:cNvSpPr/>
          <p:nvPr/>
        </p:nvSpPr>
        <p:spPr>
          <a:xfrm>
            <a:off x="9326880" y="1965960"/>
            <a:ext cx="868680" cy="868680"/>
          </a:xfrm>
          <a:prstGeom prst="ellipse">
            <a:avLst/>
          </a:prstGeom>
          <a:solidFill>
            <a:srgbClr val="E97627"/>
          </a:solidFill>
          <a:ln w="12700">
            <a:solidFill>
              <a:srgbClr val="E97627"/>
            </a:solidFill>
            <a:prstDash val="solid"/>
          </a:ln>
        </p:spPr>
        <p:txBody>
          <a:bodyPr/>
          <a:lstStyle/>
          <a:p>
            <a:endParaRPr lang="en-IN"/>
          </a:p>
        </p:txBody>
      </p:sp>
      <p:pic>
        <p:nvPicPr>
          <p:cNvPr id="28" name="Image 3" descr="preencoded.png"/>
          <p:cNvPicPr>
            <a:picLocks noChangeAspect="1"/>
          </p:cNvPicPr>
          <p:nvPr/>
        </p:nvPicPr>
        <p:blipFill>
          <a:blip r:embed="rId6"/>
          <a:stretch>
            <a:fillRect/>
          </a:stretch>
        </p:blipFill>
        <p:spPr>
          <a:xfrm>
            <a:off x="9544050" y="2183130"/>
            <a:ext cx="434340" cy="434340"/>
          </a:xfrm>
          <a:prstGeom prst="rect">
            <a:avLst/>
          </a:prstGeom>
        </p:spPr>
      </p:pic>
      <p:sp>
        <p:nvSpPr>
          <p:cNvPr id="29" name="Text 23"/>
          <p:cNvSpPr txBox="1"/>
          <p:nvPr/>
        </p:nvSpPr>
        <p:spPr>
          <a:xfrm>
            <a:off x="9326880" y="3017520"/>
            <a:ext cx="2103120" cy="274320"/>
          </a:xfrm>
          <a:prstGeom prst="rect">
            <a:avLst/>
          </a:prstGeom>
          <a:noFill/>
          <a:ln/>
        </p:spPr>
        <p:txBody>
          <a:bodyPr wrap="square" lIns="0" tIns="0" rIns="0" bIns="0" rtlCol="0" anchor="ctr"/>
          <a:lstStyle/>
          <a:p>
            <a:pPr marL="0" indent="0">
              <a:buNone/>
            </a:pPr>
            <a:r>
              <a:rPr lang="en-US" sz="1100" b="1" kern="0" spc="200" dirty="0">
                <a:solidFill>
                  <a:srgbClr val="5B6578"/>
                </a:solidFill>
                <a:latin typeface="Calibri" pitchFamily="34" charset="0"/>
                <a:ea typeface="Calibri" pitchFamily="34" charset="-122"/>
                <a:cs typeface="Calibri" pitchFamily="34" charset="-120"/>
              </a:rPr>
              <a:t>MODULE 4</a:t>
            </a:r>
            <a:endParaRPr lang="en-US" sz="1100" dirty="0"/>
          </a:p>
        </p:txBody>
      </p:sp>
      <p:sp>
        <p:nvSpPr>
          <p:cNvPr id="30" name="Text 24"/>
          <p:cNvSpPr txBox="1"/>
          <p:nvPr/>
        </p:nvSpPr>
        <p:spPr>
          <a:xfrm>
            <a:off x="9326880" y="3291840"/>
            <a:ext cx="2103120" cy="457200"/>
          </a:xfrm>
          <a:prstGeom prst="rect">
            <a:avLst/>
          </a:prstGeom>
          <a:noFill/>
          <a:ln/>
        </p:spPr>
        <p:txBody>
          <a:bodyPr wrap="square" lIns="0" tIns="0" rIns="0" bIns="0" rtlCol="0" anchor="ctr"/>
          <a:lstStyle/>
          <a:p>
            <a:pPr marL="0" indent="0">
              <a:buNone/>
            </a:pPr>
            <a:r>
              <a:rPr lang="en-US" sz="2600" b="1" dirty="0">
                <a:solidFill>
                  <a:srgbClr val="0F1B3D"/>
                </a:solidFill>
                <a:latin typeface="Calibri" pitchFamily="34" charset="0"/>
                <a:ea typeface="Calibri" pitchFamily="34" charset="-122"/>
                <a:cs typeface="Calibri" pitchFamily="34" charset="-120"/>
              </a:rPr>
              <a:t>Tableau</a:t>
            </a:r>
            <a:endParaRPr lang="en-US" sz="2600" dirty="0"/>
          </a:p>
        </p:txBody>
      </p:sp>
      <p:sp>
        <p:nvSpPr>
          <p:cNvPr id="31" name="Text 25"/>
          <p:cNvSpPr txBox="1"/>
          <p:nvPr/>
        </p:nvSpPr>
        <p:spPr>
          <a:xfrm>
            <a:off x="9326880" y="3794760"/>
            <a:ext cx="2103120" cy="1188720"/>
          </a:xfrm>
          <a:prstGeom prst="rect">
            <a:avLst/>
          </a:prstGeom>
          <a:noFill/>
          <a:ln/>
        </p:spPr>
        <p:txBody>
          <a:bodyPr wrap="square" lIns="0" tIns="0" rIns="0" bIns="0" rtlCol="0" anchor="t"/>
          <a:lstStyle/>
          <a:p>
            <a:pPr marL="0" indent="0">
              <a:buNone/>
            </a:pPr>
            <a:r>
              <a:rPr lang="en-US" sz="1400" dirty="0">
                <a:solidFill>
                  <a:srgbClr val="1F2A44"/>
                </a:solidFill>
                <a:latin typeface="Calibri" pitchFamily="34" charset="0"/>
                <a:ea typeface="Calibri" pitchFamily="34" charset="-122"/>
                <a:cs typeface="Calibri" pitchFamily="34" charset="-120"/>
              </a:rPr>
              <a:t>One worksheet per KPI, final dashboard</a:t>
            </a:r>
            <a:endParaRPr lang="en-US" sz="1400" dirty="0"/>
          </a:p>
        </p:txBody>
      </p:sp>
      <p:sp>
        <p:nvSpPr>
          <p:cNvPr id="32" name="Shape 26"/>
          <p:cNvSpPr/>
          <p:nvPr/>
        </p:nvSpPr>
        <p:spPr>
          <a:xfrm>
            <a:off x="548640" y="5440680"/>
            <a:ext cx="11091672" cy="777240"/>
          </a:xfrm>
          <a:prstGeom prst="roundRect">
            <a:avLst>
              <a:gd name="adj" fmla="val 11765"/>
            </a:avLst>
          </a:prstGeom>
          <a:solidFill>
            <a:srgbClr val="0F1B3D"/>
          </a:solidFill>
          <a:ln w="12700">
            <a:solidFill>
              <a:srgbClr val="0F1B3D"/>
            </a:solidFill>
            <a:prstDash val="solid"/>
          </a:ln>
        </p:spPr>
        <p:txBody>
          <a:bodyPr/>
          <a:lstStyle/>
          <a:p>
            <a:endParaRPr lang="en-IN"/>
          </a:p>
        </p:txBody>
      </p:sp>
      <p:sp>
        <p:nvSpPr>
          <p:cNvPr id="33" name="Text 27"/>
          <p:cNvSpPr txBox="1"/>
          <p:nvPr/>
        </p:nvSpPr>
        <p:spPr>
          <a:xfrm>
            <a:off x="548640" y="5440680"/>
            <a:ext cx="11091672"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The same 5 KPIs were answered in every tool and then cross-checked.</a:t>
            </a:r>
            <a:endParaRPr lang="en-US" sz="1800" dirty="0"/>
          </a:p>
        </p:txBody>
      </p:sp>
      <p:sp>
        <p:nvSpPr>
          <p:cNvPr id="34"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chip"/>
          <p:cNvSpPr/>
          <p:nvPr/>
        </p:nvSpPr>
        <p:spPr>
          <a:xfrm>
            <a:off x="548640" y="384048"/>
            <a:ext cx="2039112" cy="310896"/>
          </a:xfrm>
          <a:prstGeom prst="roundRect">
            <a:avLst>
              <a:gd name="adj" fmla="val 50000"/>
            </a:avLst>
          </a:prstGeom>
          <a:solidFill>
            <a:srgbClr val="217346"/>
          </a:solidFill>
          <a:ln w="12700">
            <a:solidFill>
              <a:srgbClr val="217346"/>
            </a:solidFill>
            <a:prstDash val="solid"/>
          </a:ln>
        </p:spPr>
        <p:txBody>
          <a:bodyPr/>
          <a:lstStyle/>
          <a:p>
            <a:endParaRPr lang="en-IN"/>
          </a:p>
        </p:txBody>
      </p:sp>
      <p:sp>
        <p:nvSpPr>
          <p:cNvPr id="3" name="Text 1"/>
          <p:cNvSpPr txBox="1"/>
          <p:nvPr/>
        </p:nvSpPr>
        <p:spPr>
          <a:xfrm>
            <a:off x="548640" y="384048"/>
            <a:ext cx="2039112"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MODULE 1 · EXCEL</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Data Cleaning</a:t>
            </a:r>
            <a:endParaRPr lang="en-US" sz="3200" dirty="0"/>
          </a:p>
        </p:txBody>
      </p:sp>
      <p:sp>
        <p:nvSpPr>
          <p:cNvPr id="5" name="Shape 3"/>
          <p:cNvSpPr/>
          <p:nvPr/>
        </p:nvSpPr>
        <p:spPr>
          <a:xfrm>
            <a:off x="11091672" y="457200"/>
            <a:ext cx="548640" cy="548640"/>
          </a:xfrm>
          <a:prstGeom prst="ellipse">
            <a:avLst/>
          </a:prstGeom>
          <a:solidFill>
            <a:srgbClr val="217346"/>
          </a:solidFill>
          <a:ln w="12700">
            <a:solidFill>
              <a:srgbClr val="217346"/>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11228832" y="594360"/>
            <a:ext cx="274320" cy="274320"/>
          </a:xfrm>
          <a:prstGeom prst="rect">
            <a:avLst/>
          </a:prstGeom>
        </p:spPr>
      </p:pic>
      <p:sp>
        <p:nvSpPr>
          <p:cNvPr id="7" name="Screenshot placeholder"/>
          <p:cNvSpPr/>
          <p:nvPr/>
        </p:nvSpPr>
        <p:spPr>
          <a:xfrm>
            <a:off x="734568" y="1600200"/>
            <a:ext cx="6580632" cy="4663440"/>
          </a:xfrm>
          <a:prstGeom prst="roundRect">
            <a:avLst>
              <a:gd name="adj" fmla="val 2353"/>
            </a:avLst>
          </a:prstGeom>
          <a:blipFill>
            <a:blip r:embed="rId4"/>
            <a:stretch>
              <a:fillRect l="-2825"/>
            </a:stretch>
          </a:blipFill>
          <a:ln w="19050">
            <a:solidFill>
              <a:srgbClr val="217346"/>
            </a:solidFill>
            <a:prstDash val="dash"/>
          </a:ln>
          <a:effectLst>
            <a:outerShdw blurRad="114300" dist="25400" dir="5400000" algn="bl" rotWithShape="0">
              <a:srgbClr val="1F2A44">
                <a:alpha val="13000"/>
              </a:srgbClr>
            </a:outerShdw>
          </a:effectLst>
        </p:spPr>
        <p:txBody>
          <a:bodyPr/>
          <a:lstStyle/>
          <a:p>
            <a:endParaRPr lang="en-IN" dirty="0"/>
          </a:p>
        </p:txBody>
      </p:sp>
      <p:sp>
        <p:nvSpPr>
          <p:cNvPr id="11" name="Stat tile"/>
          <p:cNvSpPr/>
          <p:nvPr/>
        </p:nvSpPr>
        <p:spPr>
          <a:xfrm>
            <a:off x="7635240" y="1600200"/>
            <a:ext cx="4005072" cy="1051560"/>
          </a:xfrm>
          <a:prstGeom prst="roundRect">
            <a:avLst>
              <a:gd name="adj" fmla="val 869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2" name="Text 8"/>
          <p:cNvSpPr txBox="1"/>
          <p:nvPr/>
        </p:nvSpPr>
        <p:spPr>
          <a:xfrm>
            <a:off x="7818120" y="1600200"/>
            <a:ext cx="1371600" cy="1051560"/>
          </a:xfrm>
          <a:prstGeom prst="rect">
            <a:avLst/>
          </a:prstGeom>
          <a:noFill/>
          <a:ln/>
        </p:spPr>
        <p:txBody>
          <a:bodyPr wrap="square" lIns="0" tIns="0" rIns="0" bIns="0" rtlCol="0" anchor="ctr"/>
          <a:lstStyle/>
          <a:p>
            <a:pPr marL="0" indent="0">
              <a:buNone/>
            </a:pPr>
            <a:r>
              <a:rPr lang="en-US" sz="2400" b="1" dirty="0">
                <a:solidFill>
                  <a:srgbClr val="217346"/>
                </a:solidFill>
                <a:latin typeface="Calibri" pitchFamily="34" charset="0"/>
                <a:ea typeface="Calibri" pitchFamily="34" charset="-122"/>
                <a:cs typeface="Calibri" pitchFamily="34" charset="-120"/>
              </a:rPr>
              <a:t>261,831</a:t>
            </a:r>
            <a:endParaRPr lang="en-US" sz="2400" dirty="0"/>
          </a:p>
        </p:txBody>
      </p:sp>
      <p:sp>
        <p:nvSpPr>
          <p:cNvPr id="13" name="Text 9"/>
          <p:cNvSpPr txBox="1"/>
          <p:nvPr/>
        </p:nvSpPr>
        <p:spPr>
          <a:xfrm>
            <a:off x="9281160" y="1600200"/>
            <a:ext cx="2176272" cy="1051560"/>
          </a:xfrm>
          <a:prstGeom prst="rect">
            <a:avLst/>
          </a:prstGeom>
          <a:noFill/>
          <a:ln/>
        </p:spPr>
        <p:txBody>
          <a:bodyPr wrap="square" lIns="0" tIns="0" rIns="0" bIns="0" rtlCol="0" anchor="ctr"/>
          <a:lstStyle/>
          <a:p>
            <a:pPr marL="0" indent="0">
              <a:buNone/>
            </a:pPr>
            <a:r>
              <a:rPr lang="en-US" sz="1200" dirty="0">
                <a:solidFill>
                  <a:srgbClr val="1F2A44"/>
                </a:solidFill>
                <a:latin typeface="Calibri" pitchFamily="34" charset="0"/>
                <a:ea typeface="Calibri" pitchFamily="34" charset="-122"/>
                <a:cs typeface="Calibri" pitchFamily="34" charset="-120"/>
              </a:rPr>
              <a:t>duplicate rows removed from the geolocation table</a:t>
            </a:r>
            <a:endParaRPr lang="en-US" sz="1200" dirty="0"/>
          </a:p>
        </p:txBody>
      </p:sp>
      <p:sp>
        <p:nvSpPr>
          <p:cNvPr id="14" name="Stat tile"/>
          <p:cNvSpPr/>
          <p:nvPr/>
        </p:nvSpPr>
        <p:spPr>
          <a:xfrm>
            <a:off x="7635240" y="2788920"/>
            <a:ext cx="4005072" cy="1051560"/>
          </a:xfrm>
          <a:prstGeom prst="roundRect">
            <a:avLst>
              <a:gd name="adj" fmla="val 869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5" name="Text 11"/>
          <p:cNvSpPr txBox="1"/>
          <p:nvPr/>
        </p:nvSpPr>
        <p:spPr>
          <a:xfrm>
            <a:off x="7818120" y="2788920"/>
            <a:ext cx="1371600" cy="1051560"/>
          </a:xfrm>
          <a:prstGeom prst="rect">
            <a:avLst/>
          </a:prstGeom>
          <a:noFill/>
          <a:ln/>
        </p:spPr>
        <p:txBody>
          <a:bodyPr wrap="square" lIns="0" tIns="0" rIns="0" bIns="0" rtlCol="0" anchor="ctr"/>
          <a:lstStyle/>
          <a:p>
            <a:pPr marL="0" indent="0">
              <a:buNone/>
            </a:pPr>
            <a:r>
              <a:rPr lang="en-US" sz="2400" b="1" dirty="0">
                <a:solidFill>
                  <a:srgbClr val="217346"/>
                </a:solidFill>
                <a:latin typeface="Calibri" pitchFamily="34" charset="0"/>
                <a:ea typeface="Calibri" pitchFamily="34" charset="-122"/>
                <a:cs typeface="Calibri" pitchFamily="34" charset="-120"/>
              </a:rPr>
              <a:t>610</a:t>
            </a:r>
            <a:endParaRPr lang="en-US" sz="2400" dirty="0"/>
          </a:p>
        </p:txBody>
      </p:sp>
      <p:sp>
        <p:nvSpPr>
          <p:cNvPr id="16" name="Text 12"/>
          <p:cNvSpPr txBox="1"/>
          <p:nvPr/>
        </p:nvSpPr>
        <p:spPr>
          <a:xfrm>
            <a:off x="9281160" y="2788920"/>
            <a:ext cx="2176272" cy="1051560"/>
          </a:xfrm>
          <a:prstGeom prst="rect">
            <a:avLst/>
          </a:prstGeom>
          <a:noFill/>
          <a:ln/>
        </p:spPr>
        <p:txBody>
          <a:bodyPr wrap="square" lIns="0" tIns="0" rIns="0" bIns="0" rtlCol="0" anchor="ctr"/>
          <a:lstStyle/>
          <a:p>
            <a:pPr marL="0" indent="0">
              <a:buNone/>
            </a:pPr>
            <a:r>
              <a:rPr lang="en-US" sz="1200" dirty="0">
                <a:solidFill>
                  <a:srgbClr val="1F2A44"/>
                </a:solidFill>
                <a:latin typeface="Calibri" pitchFamily="34" charset="0"/>
                <a:ea typeface="Calibri" pitchFamily="34" charset="-122"/>
                <a:cs typeface="Calibri" pitchFamily="34" charset="-120"/>
              </a:rPr>
              <a:t>products with a blank category set to "unknown"</a:t>
            </a:r>
            <a:endParaRPr lang="en-US" sz="1200" dirty="0"/>
          </a:p>
        </p:txBody>
      </p:sp>
      <p:sp>
        <p:nvSpPr>
          <p:cNvPr id="17" name="Stat tile"/>
          <p:cNvSpPr/>
          <p:nvPr/>
        </p:nvSpPr>
        <p:spPr>
          <a:xfrm>
            <a:off x="7635240" y="3977640"/>
            <a:ext cx="4005072" cy="1051560"/>
          </a:xfrm>
          <a:prstGeom prst="roundRect">
            <a:avLst>
              <a:gd name="adj" fmla="val 869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8" name="Text 14"/>
          <p:cNvSpPr txBox="1"/>
          <p:nvPr/>
        </p:nvSpPr>
        <p:spPr>
          <a:xfrm>
            <a:off x="7818120" y="3977640"/>
            <a:ext cx="1371600" cy="1051560"/>
          </a:xfrm>
          <a:prstGeom prst="rect">
            <a:avLst/>
          </a:prstGeom>
          <a:noFill/>
          <a:ln/>
        </p:spPr>
        <p:txBody>
          <a:bodyPr wrap="square" lIns="0" tIns="0" rIns="0" bIns="0" rtlCol="0" anchor="ctr"/>
          <a:lstStyle/>
          <a:p>
            <a:pPr marL="0" indent="0">
              <a:buNone/>
            </a:pPr>
            <a:r>
              <a:rPr lang="en-US" sz="2400" b="1" dirty="0">
                <a:solidFill>
                  <a:srgbClr val="217346"/>
                </a:solidFill>
                <a:latin typeface="Calibri" pitchFamily="34" charset="0"/>
                <a:ea typeface="Calibri" pitchFamily="34" charset="-122"/>
                <a:cs typeface="Calibri" pitchFamily="34" charset="-120"/>
              </a:rPr>
              <a:t>2,965</a:t>
            </a:r>
            <a:endParaRPr lang="en-US" sz="2400" dirty="0"/>
          </a:p>
        </p:txBody>
      </p:sp>
      <p:sp>
        <p:nvSpPr>
          <p:cNvPr id="19" name="Text 15"/>
          <p:cNvSpPr txBox="1"/>
          <p:nvPr/>
        </p:nvSpPr>
        <p:spPr>
          <a:xfrm>
            <a:off x="9281160" y="3977640"/>
            <a:ext cx="2176272" cy="1051560"/>
          </a:xfrm>
          <a:prstGeom prst="rect">
            <a:avLst/>
          </a:prstGeom>
          <a:noFill/>
          <a:ln/>
        </p:spPr>
        <p:txBody>
          <a:bodyPr wrap="square" lIns="0" tIns="0" rIns="0" bIns="0" rtlCol="0" anchor="ctr"/>
          <a:lstStyle/>
          <a:p>
            <a:pPr marL="0" indent="0">
              <a:buNone/>
            </a:pPr>
            <a:r>
              <a:rPr lang="en-US" sz="1200" dirty="0">
                <a:solidFill>
                  <a:srgbClr val="1F2A44"/>
                </a:solidFill>
                <a:latin typeface="Calibri" pitchFamily="34" charset="0"/>
                <a:ea typeface="Calibri" pitchFamily="34" charset="-122"/>
                <a:cs typeface="Calibri" pitchFamily="34" charset="-120"/>
              </a:rPr>
              <a:t>undelivered orders kept; excluded only from delivery KPIs</a:t>
            </a:r>
            <a:endParaRPr lang="en-US" sz="1200" dirty="0"/>
          </a:p>
        </p:txBody>
      </p:sp>
      <p:sp>
        <p:nvSpPr>
          <p:cNvPr id="20" name="Stat tile"/>
          <p:cNvSpPr/>
          <p:nvPr/>
        </p:nvSpPr>
        <p:spPr>
          <a:xfrm>
            <a:off x="7635240" y="5166360"/>
            <a:ext cx="4005072" cy="1051560"/>
          </a:xfrm>
          <a:prstGeom prst="roundRect">
            <a:avLst>
              <a:gd name="adj" fmla="val 869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1" name="Text 17"/>
          <p:cNvSpPr txBox="1"/>
          <p:nvPr/>
        </p:nvSpPr>
        <p:spPr>
          <a:xfrm>
            <a:off x="7818120" y="5166360"/>
            <a:ext cx="1371600" cy="1051560"/>
          </a:xfrm>
          <a:prstGeom prst="rect">
            <a:avLst/>
          </a:prstGeom>
          <a:noFill/>
          <a:ln/>
        </p:spPr>
        <p:txBody>
          <a:bodyPr wrap="square" lIns="0" tIns="0" rIns="0" bIns="0" rtlCol="0" anchor="ctr"/>
          <a:lstStyle/>
          <a:p>
            <a:pPr marL="0" indent="0">
              <a:buNone/>
            </a:pPr>
            <a:r>
              <a:rPr lang="en-US" sz="2400" b="1" dirty="0">
                <a:solidFill>
                  <a:srgbClr val="217346"/>
                </a:solidFill>
                <a:latin typeface="Calibri" pitchFamily="34" charset="0"/>
                <a:ea typeface="Calibri" pitchFamily="34" charset="-122"/>
                <a:cs typeface="Calibri" pitchFamily="34" charset="-120"/>
              </a:rPr>
              <a:t>103,886</a:t>
            </a:r>
            <a:endParaRPr lang="en-US" sz="2400" dirty="0"/>
          </a:p>
        </p:txBody>
      </p:sp>
      <p:sp>
        <p:nvSpPr>
          <p:cNvPr id="22" name="Text 18"/>
          <p:cNvSpPr txBox="1"/>
          <p:nvPr/>
        </p:nvSpPr>
        <p:spPr>
          <a:xfrm>
            <a:off x="9281160" y="5166360"/>
            <a:ext cx="2176272" cy="1051560"/>
          </a:xfrm>
          <a:prstGeom prst="rect">
            <a:avLst/>
          </a:prstGeom>
          <a:noFill/>
          <a:ln/>
        </p:spPr>
        <p:txBody>
          <a:bodyPr wrap="square" lIns="0" tIns="0" rIns="0" bIns="0" rtlCol="0" anchor="ctr"/>
          <a:lstStyle/>
          <a:p>
            <a:pPr marL="0" indent="0">
              <a:buNone/>
            </a:pPr>
            <a:r>
              <a:rPr lang="en-US" sz="1200" dirty="0">
                <a:solidFill>
                  <a:srgbClr val="1F2A44"/>
                </a:solidFill>
                <a:latin typeface="Calibri" pitchFamily="34" charset="0"/>
                <a:ea typeface="Calibri" pitchFamily="34" charset="-122"/>
                <a:cs typeface="Calibri" pitchFamily="34" charset="-120"/>
              </a:rPr>
              <a:t>payment rows for 99,440 orders (installment splits), so orders are counted with a distinct count</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chip"/>
          <p:cNvSpPr/>
          <p:nvPr/>
        </p:nvSpPr>
        <p:spPr>
          <a:xfrm>
            <a:off x="548640" y="384048"/>
            <a:ext cx="2039112" cy="310896"/>
          </a:xfrm>
          <a:prstGeom prst="roundRect">
            <a:avLst>
              <a:gd name="adj" fmla="val 50000"/>
            </a:avLst>
          </a:prstGeom>
          <a:solidFill>
            <a:srgbClr val="217346"/>
          </a:solidFill>
          <a:ln w="12700">
            <a:solidFill>
              <a:srgbClr val="217346"/>
            </a:solidFill>
            <a:prstDash val="solid"/>
          </a:ln>
        </p:spPr>
        <p:txBody>
          <a:bodyPr/>
          <a:lstStyle/>
          <a:p>
            <a:endParaRPr lang="en-IN"/>
          </a:p>
        </p:txBody>
      </p:sp>
      <p:sp>
        <p:nvSpPr>
          <p:cNvPr id="3" name="Text 1"/>
          <p:cNvSpPr txBox="1"/>
          <p:nvPr/>
        </p:nvSpPr>
        <p:spPr>
          <a:xfrm>
            <a:off x="548640" y="384048"/>
            <a:ext cx="2039112"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MODULE 1 · EXCEL</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KPI 1 and KPI 2</a:t>
            </a:r>
            <a:endParaRPr lang="en-US" sz="3200" dirty="0"/>
          </a:p>
        </p:txBody>
      </p:sp>
      <p:sp>
        <p:nvSpPr>
          <p:cNvPr id="5" name="Shape 3"/>
          <p:cNvSpPr/>
          <p:nvPr/>
        </p:nvSpPr>
        <p:spPr>
          <a:xfrm>
            <a:off x="11091672" y="457200"/>
            <a:ext cx="548640" cy="548640"/>
          </a:xfrm>
          <a:prstGeom prst="ellipse">
            <a:avLst/>
          </a:prstGeom>
          <a:solidFill>
            <a:srgbClr val="217346"/>
          </a:solidFill>
          <a:ln w="12700">
            <a:solidFill>
              <a:srgbClr val="217346"/>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11228832" y="594360"/>
            <a:ext cx="274320" cy="274320"/>
          </a:xfrm>
          <a:prstGeom prst="rect">
            <a:avLst/>
          </a:prstGeom>
        </p:spPr>
      </p:pic>
      <p:sp>
        <p:nvSpPr>
          <p:cNvPr id="7" name="Text 4"/>
          <p:cNvSpPr txBox="1"/>
          <p:nvPr/>
        </p:nvSpPr>
        <p:spPr>
          <a:xfrm>
            <a:off x="548640" y="1572768"/>
            <a:ext cx="5440680" cy="310896"/>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KPI 1: Weekday Vs Weekend Payment Statistics</a:t>
            </a:r>
            <a:endParaRPr lang="en-US" sz="1300" dirty="0"/>
          </a:p>
        </p:txBody>
      </p:sp>
      <p:sp>
        <p:nvSpPr>
          <p:cNvPr id="8" name="Text 5"/>
          <p:cNvSpPr txBox="1"/>
          <p:nvPr/>
        </p:nvSpPr>
        <p:spPr>
          <a:xfrm>
            <a:off x="6199632" y="1572768"/>
            <a:ext cx="5440680" cy="310896"/>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KPI 2: Orders with review score 5 and credit card</a:t>
            </a:r>
            <a:endParaRPr lang="en-US" sz="1300" dirty="0"/>
          </a:p>
        </p:txBody>
      </p:sp>
      <p:sp>
        <p:nvSpPr>
          <p:cNvPr id="9" name="Screenshot placeholder"/>
          <p:cNvSpPr/>
          <p:nvPr/>
        </p:nvSpPr>
        <p:spPr>
          <a:xfrm>
            <a:off x="548640" y="1938528"/>
            <a:ext cx="5440680" cy="2331720"/>
          </a:xfrm>
          <a:prstGeom prst="roundRect">
            <a:avLst>
              <a:gd name="adj" fmla="val 4706"/>
            </a:avLst>
          </a:prstGeom>
          <a:blipFill dpi="0" rotWithShape="1">
            <a:blip r:embed="rId4">
              <a:extLst>
                <a:ext uri="{28A0092B-C50C-407E-A947-70E740481C1C}">
                  <a14:useLocalDpi xmlns:a14="http://schemas.microsoft.com/office/drawing/2010/main" val="0"/>
                </a:ext>
              </a:extLst>
            </a:blip>
            <a:srcRect/>
            <a:stretch>
              <a:fillRect l="19578" r="19578"/>
            </a:stretch>
          </a:blipFill>
          <a:ln w="19050">
            <a:solidFill>
              <a:srgbClr val="217346"/>
            </a:solidFill>
            <a:prstDash val="dash"/>
          </a:ln>
          <a:effectLst>
            <a:outerShdw blurRad="114300" dist="25400" dir="5400000" algn="bl" rotWithShape="0">
              <a:srgbClr val="1F2A44">
                <a:alpha val="13000"/>
              </a:srgbClr>
            </a:outerShdw>
          </a:effectLst>
        </p:spPr>
        <p:txBody>
          <a:bodyPr/>
          <a:lstStyle/>
          <a:p>
            <a:endParaRPr lang="en-IN"/>
          </a:p>
        </p:txBody>
      </p:sp>
      <p:sp>
        <p:nvSpPr>
          <p:cNvPr id="13" name="Screenshot placeholder"/>
          <p:cNvSpPr/>
          <p:nvPr/>
        </p:nvSpPr>
        <p:spPr>
          <a:xfrm>
            <a:off x="6199632" y="1938528"/>
            <a:ext cx="5440680" cy="2331720"/>
          </a:xfrm>
          <a:prstGeom prst="roundRect">
            <a:avLst>
              <a:gd name="adj" fmla="val 4706"/>
            </a:avLst>
          </a:prstGeom>
          <a:blipFill dpi="0" rotWithShape="1">
            <a:blip r:embed="rId5">
              <a:extLst>
                <a:ext uri="{28A0092B-C50C-407E-A947-70E740481C1C}">
                  <a14:useLocalDpi xmlns:a14="http://schemas.microsoft.com/office/drawing/2010/main" val="0"/>
                </a:ext>
              </a:extLst>
            </a:blip>
            <a:srcRect/>
            <a:stretch>
              <a:fillRect/>
            </a:stretch>
          </a:blipFill>
          <a:ln w="19050">
            <a:solidFill>
              <a:srgbClr val="217346"/>
            </a:solidFill>
            <a:prstDash val="dash"/>
          </a:ln>
          <a:effectLst>
            <a:outerShdw blurRad="114300" dist="25400" dir="5400000" algn="bl" rotWithShape="0">
              <a:srgbClr val="1F2A44">
                <a:alpha val="13000"/>
              </a:srgbClr>
            </a:outerShdw>
          </a:effectLst>
        </p:spPr>
        <p:txBody>
          <a:bodyPr/>
          <a:lstStyle/>
          <a:p>
            <a:endParaRPr lang="en-IN"/>
          </a:p>
        </p:txBody>
      </p:sp>
      <p:sp>
        <p:nvSpPr>
          <p:cNvPr id="17" name="Stat tile"/>
          <p:cNvSpPr/>
          <p:nvPr/>
        </p:nvSpPr>
        <p:spPr>
          <a:xfrm>
            <a:off x="548640" y="4407408"/>
            <a:ext cx="2651760"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8" name="Text 13"/>
          <p:cNvSpPr txBox="1"/>
          <p:nvPr/>
        </p:nvSpPr>
        <p:spPr>
          <a:xfrm>
            <a:off x="685800" y="4480560"/>
            <a:ext cx="2377440" cy="491581"/>
          </a:xfrm>
          <a:prstGeom prst="rect">
            <a:avLst/>
          </a:prstGeom>
          <a:noFill/>
          <a:ln/>
        </p:spPr>
        <p:txBody>
          <a:bodyPr wrap="square" lIns="0" tIns="0" rIns="0" bIns="0" rtlCol="0" anchor="ctr"/>
          <a:lstStyle/>
          <a:p>
            <a:pPr marL="0" indent="0">
              <a:buNone/>
            </a:pPr>
            <a:r>
              <a:rPr lang="en-US" sz="2800" b="1" dirty="0">
                <a:solidFill>
                  <a:srgbClr val="217346"/>
                </a:solidFill>
                <a:latin typeface="Calibri" pitchFamily="34" charset="0"/>
                <a:ea typeface="Calibri" pitchFamily="34" charset="-122"/>
                <a:cs typeface="Calibri" pitchFamily="34" charset="-120"/>
              </a:rPr>
              <a:t>76,593</a:t>
            </a:r>
            <a:endParaRPr lang="en-US" sz="2800" dirty="0"/>
          </a:p>
        </p:txBody>
      </p:sp>
      <p:sp>
        <p:nvSpPr>
          <p:cNvPr id="19" name="Text 14"/>
          <p:cNvSpPr txBox="1"/>
          <p:nvPr/>
        </p:nvSpPr>
        <p:spPr>
          <a:xfrm>
            <a:off x="685800" y="4960437"/>
            <a:ext cx="2377440"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Weekday orders (77.02%), average payment ₹154.44</a:t>
            </a:r>
            <a:endParaRPr lang="en-US" sz="1100" dirty="0"/>
          </a:p>
        </p:txBody>
      </p:sp>
      <p:sp>
        <p:nvSpPr>
          <p:cNvPr id="20" name="Stat tile"/>
          <p:cNvSpPr/>
          <p:nvPr/>
        </p:nvSpPr>
        <p:spPr>
          <a:xfrm>
            <a:off x="3337560" y="4407408"/>
            <a:ext cx="2651760"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1" name="Text 16"/>
          <p:cNvSpPr txBox="1"/>
          <p:nvPr/>
        </p:nvSpPr>
        <p:spPr>
          <a:xfrm>
            <a:off x="3474720" y="4480560"/>
            <a:ext cx="2377440" cy="491581"/>
          </a:xfrm>
          <a:prstGeom prst="rect">
            <a:avLst/>
          </a:prstGeom>
          <a:noFill/>
          <a:ln/>
        </p:spPr>
        <p:txBody>
          <a:bodyPr wrap="square" lIns="0" tIns="0" rIns="0" bIns="0" rtlCol="0" anchor="ctr"/>
          <a:lstStyle/>
          <a:p>
            <a:pPr marL="0" indent="0">
              <a:buNone/>
            </a:pPr>
            <a:r>
              <a:rPr lang="en-US" sz="2800" b="1" dirty="0">
                <a:solidFill>
                  <a:srgbClr val="217346"/>
                </a:solidFill>
                <a:latin typeface="Calibri" pitchFamily="34" charset="0"/>
                <a:ea typeface="Calibri" pitchFamily="34" charset="-122"/>
                <a:cs typeface="Calibri" pitchFamily="34" charset="-120"/>
              </a:rPr>
              <a:t>22,847</a:t>
            </a:r>
            <a:endParaRPr lang="en-US" sz="2800" dirty="0"/>
          </a:p>
        </p:txBody>
      </p:sp>
      <p:sp>
        <p:nvSpPr>
          <p:cNvPr id="22" name="Text 17"/>
          <p:cNvSpPr txBox="1"/>
          <p:nvPr/>
        </p:nvSpPr>
        <p:spPr>
          <a:xfrm>
            <a:off x="3474720" y="4960437"/>
            <a:ext cx="2377440"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Weekend orders (22.98%), average payment ₹152.95</a:t>
            </a:r>
            <a:endParaRPr lang="en-US" sz="1100" dirty="0"/>
          </a:p>
        </p:txBody>
      </p:sp>
      <p:sp>
        <p:nvSpPr>
          <p:cNvPr id="23" name="Stat tile"/>
          <p:cNvSpPr/>
          <p:nvPr/>
        </p:nvSpPr>
        <p:spPr>
          <a:xfrm>
            <a:off x="6199632" y="4407408"/>
            <a:ext cx="2651760"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4" name="Text 19"/>
          <p:cNvSpPr txBox="1"/>
          <p:nvPr/>
        </p:nvSpPr>
        <p:spPr>
          <a:xfrm>
            <a:off x="6336792" y="4480560"/>
            <a:ext cx="2377440" cy="491581"/>
          </a:xfrm>
          <a:prstGeom prst="rect">
            <a:avLst/>
          </a:prstGeom>
          <a:noFill/>
          <a:ln/>
        </p:spPr>
        <p:txBody>
          <a:bodyPr wrap="square" lIns="0" tIns="0" rIns="0" bIns="0" rtlCol="0" anchor="ctr"/>
          <a:lstStyle/>
          <a:p>
            <a:pPr marL="0" indent="0">
              <a:buNone/>
            </a:pPr>
            <a:r>
              <a:rPr lang="en-US" sz="2800" b="1" dirty="0">
                <a:solidFill>
                  <a:srgbClr val="217346"/>
                </a:solidFill>
                <a:latin typeface="Calibri" pitchFamily="34" charset="0"/>
                <a:ea typeface="Calibri" pitchFamily="34" charset="-122"/>
                <a:cs typeface="Calibri" pitchFamily="34" charset="-120"/>
              </a:rPr>
              <a:t>43,981</a:t>
            </a:r>
            <a:endParaRPr lang="en-US" sz="2800" dirty="0"/>
          </a:p>
        </p:txBody>
      </p:sp>
      <p:sp>
        <p:nvSpPr>
          <p:cNvPr id="25" name="Text 20"/>
          <p:cNvSpPr txBox="1"/>
          <p:nvPr/>
        </p:nvSpPr>
        <p:spPr>
          <a:xfrm>
            <a:off x="6336792" y="4960437"/>
            <a:ext cx="2377440"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orders with review score 5 paid by credit card</a:t>
            </a:r>
            <a:endParaRPr lang="en-US" sz="1100" dirty="0"/>
          </a:p>
        </p:txBody>
      </p:sp>
      <p:sp>
        <p:nvSpPr>
          <p:cNvPr id="26" name="Text 21"/>
          <p:cNvSpPr txBox="1"/>
          <p:nvPr/>
        </p:nvSpPr>
        <p:spPr>
          <a:xfrm>
            <a:off x="8988552" y="4407408"/>
            <a:ext cx="2651760" cy="1024128"/>
          </a:xfrm>
          <a:prstGeom prst="rect">
            <a:avLst/>
          </a:prstGeom>
          <a:noFill/>
          <a:ln/>
        </p:spPr>
        <p:txBody>
          <a:bodyPr wrap="square" lIns="0" tIns="0" rIns="0" bIns="0" rtlCol="0" anchor="t"/>
          <a:lstStyle/>
          <a:p>
            <a:pPr marL="0" indent="0">
              <a:buNone/>
            </a:pPr>
            <a:r>
              <a:rPr lang="en-US" sz="1100" i="1" dirty="0">
                <a:solidFill>
                  <a:srgbClr val="5B6578"/>
                </a:solidFill>
                <a:latin typeface="Calibri" pitchFamily="34" charset="0"/>
                <a:ea typeface="Calibri" pitchFamily="34" charset="-122"/>
                <a:cs typeface="Calibri" pitchFamily="34" charset="-120"/>
              </a:rPr>
              <a:t>The Excel sheet shows 42,581 (faulty lookup). The distinct-order count in SQL, Power BI and Tableau gives 43,981.</a:t>
            </a:r>
            <a:endParaRPr lang="en-US" sz="1100" dirty="0"/>
          </a:p>
        </p:txBody>
      </p:sp>
      <p:sp>
        <p:nvSpPr>
          <p:cNvPr id="27" name="Text 22"/>
          <p:cNvSpPr txBox="1"/>
          <p:nvPr/>
        </p:nvSpPr>
        <p:spPr>
          <a:xfrm>
            <a:off x="548640" y="5596128"/>
            <a:ext cx="5440680" cy="64008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Weekend volume is about 3.4x lower, but the average payment barely changes.</a:t>
            </a:r>
            <a:endParaRPr lang="en-US" sz="1300" dirty="0"/>
          </a:p>
        </p:txBody>
      </p:sp>
      <p:sp>
        <p:nvSpPr>
          <p:cNvPr id="28" name="Text 23"/>
          <p:cNvSpPr txBox="1"/>
          <p:nvPr/>
        </p:nvSpPr>
        <p:spPr>
          <a:xfrm>
            <a:off x="6199632" y="5596128"/>
            <a:ext cx="5440680" cy="64008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Credit card is the dominant payment type among 5-star orders.</a:t>
            </a:r>
            <a:endParaRPr lang="en-US" sz="1300" dirty="0"/>
          </a:p>
        </p:txBody>
      </p:sp>
      <p:sp>
        <p:nvSpPr>
          <p:cNvPr id="29"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chip"/>
          <p:cNvSpPr/>
          <p:nvPr/>
        </p:nvSpPr>
        <p:spPr>
          <a:xfrm>
            <a:off x="548640" y="384048"/>
            <a:ext cx="2039112" cy="310896"/>
          </a:xfrm>
          <a:prstGeom prst="roundRect">
            <a:avLst>
              <a:gd name="adj" fmla="val 50000"/>
            </a:avLst>
          </a:prstGeom>
          <a:solidFill>
            <a:srgbClr val="217346"/>
          </a:solidFill>
          <a:ln w="12700">
            <a:solidFill>
              <a:srgbClr val="217346"/>
            </a:solidFill>
            <a:prstDash val="solid"/>
          </a:ln>
        </p:spPr>
        <p:txBody>
          <a:bodyPr/>
          <a:lstStyle/>
          <a:p>
            <a:endParaRPr lang="en-IN"/>
          </a:p>
        </p:txBody>
      </p:sp>
      <p:sp>
        <p:nvSpPr>
          <p:cNvPr id="3" name="Text 1"/>
          <p:cNvSpPr txBox="1"/>
          <p:nvPr/>
        </p:nvSpPr>
        <p:spPr>
          <a:xfrm>
            <a:off x="548640" y="384048"/>
            <a:ext cx="2039112"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MODULE 1 · EXCEL</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KPI 3, KPI 4 and KPI 5</a:t>
            </a:r>
            <a:endParaRPr lang="en-US" sz="3200" dirty="0"/>
          </a:p>
        </p:txBody>
      </p:sp>
      <p:sp>
        <p:nvSpPr>
          <p:cNvPr id="5" name="Shape 3"/>
          <p:cNvSpPr/>
          <p:nvPr/>
        </p:nvSpPr>
        <p:spPr>
          <a:xfrm>
            <a:off x="11091672" y="457200"/>
            <a:ext cx="548640" cy="548640"/>
          </a:xfrm>
          <a:prstGeom prst="ellipse">
            <a:avLst/>
          </a:prstGeom>
          <a:solidFill>
            <a:srgbClr val="217346"/>
          </a:solidFill>
          <a:ln w="12700">
            <a:solidFill>
              <a:srgbClr val="217346"/>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11228832" y="594360"/>
            <a:ext cx="274320" cy="274320"/>
          </a:xfrm>
          <a:prstGeom prst="rect">
            <a:avLst/>
          </a:prstGeom>
        </p:spPr>
      </p:pic>
      <p:sp>
        <p:nvSpPr>
          <p:cNvPr id="7" name="Text 4"/>
          <p:cNvSpPr txBox="1"/>
          <p:nvPr/>
        </p:nvSpPr>
        <p:spPr>
          <a:xfrm>
            <a:off x="548640" y="1536192"/>
            <a:ext cx="3611880" cy="566928"/>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KPI 3: Average days taken for delivery, pet_shop</a:t>
            </a:r>
            <a:endParaRPr lang="en-US" sz="1300" dirty="0"/>
          </a:p>
        </p:txBody>
      </p:sp>
      <p:sp>
        <p:nvSpPr>
          <p:cNvPr id="8" name="Screenshot placeholder"/>
          <p:cNvSpPr/>
          <p:nvPr/>
        </p:nvSpPr>
        <p:spPr>
          <a:xfrm>
            <a:off x="548640" y="2176272"/>
            <a:ext cx="3611880" cy="2103120"/>
          </a:xfrm>
          <a:prstGeom prst="roundRect">
            <a:avLst>
              <a:gd name="adj" fmla="val 5217"/>
            </a:avLst>
          </a:prstGeom>
          <a:blipFill dpi="0" rotWithShape="1">
            <a:blip r:embed="rId4">
              <a:extLst>
                <a:ext uri="{28A0092B-C50C-407E-A947-70E740481C1C}">
                  <a14:useLocalDpi xmlns:a14="http://schemas.microsoft.com/office/drawing/2010/main" val="0"/>
                </a:ext>
              </a:extLst>
            </a:blip>
            <a:srcRect/>
            <a:stretch>
              <a:fillRect/>
            </a:stretch>
          </a:blipFill>
          <a:ln w="19050">
            <a:solidFill>
              <a:srgbClr val="217346"/>
            </a:solidFill>
            <a:prstDash val="dash"/>
          </a:ln>
          <a:effectLst>
            <a:outerShdw blurRad="114300" dist="25400" dir="5400000" algn="bl" rotWithShape="0">
              <a:srgbClr val="1F2A44">
                <a:alpha val="13000"/>
              </a:srgbClr>
            </a:outerShdw>
          </a:effectLst>
        </p:spPr>
        <p:txBody>
          <a:bodyPr/>
          <a:lstStyle/>
          <a:p>
            <a:endParaRPr lang="en-IN"/>
          </a:p>
        </p:txBody>
      </p:sp>
      <p:sp>
        <p:nvSpPr>
          <p:cNvPr id="12" name="Stat tile"/>
          <p:cNvSpPr/>
          <p:nvPr/>
        </p:nvSpPr>
        <p:spPr>
          <a:xfrm>
            <a:off x="548640" y="4407408"/>
            <a:ext cx="3611880"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3" name="Text 9"/>
          <p:cNvSpPr txBox="1"/>
          <p:nvPr/>
        </p:nvSpPr>
        <p:spPr>
          <a:xfrm>
            <a:off x="685800" y="4480560"/>
            <a:ext cx="3337560" cy="491581"/>
          </a:xfrm>
          <a:prstGeom prst="rect">
            <a:avLst/>
          </a:prstGeom>
          <a:noFill/>
          <a:ln/>
        </p:spPr>
        <p:txBody>
          <a:bodyPr wrap="square" lIns="0" tIns="0" rIns="0" bIns="0" rtlCol="0" anchor="ctr"/>
          <a:lstStyle/>
          <a:p>
            <a:pPr marL="0" indent="0">
              <a:buNone/>
            </a:pPr>
            <a:r>
              <a:rPr lang="en-US" sz="2600" b="1" dirty="0">
                <a:solidFill>
                  <a:srgbClr val="217346"/>
                </a:solidFill>
                <a:latin typeface="Calibri" pitchFamily="34" charset="0"/>
                <a:ea typeface="Calibri" pitchFamily="34" charset="-122"/>
                <a:cs typeface="Calibri" pitchFamily="34" charset="-120"/>
              </a:rPr>
              <a:t>11.23 days</a:t>
            </a:r>
            <a:endParaRPr lang="en-US" sz="2600" dirty="0"/>
          </a:p>
        </p:txBody>
      </p:sp>
      <p:sp>
        <p:nvSpPr>
          <p:cNvPr id="14" name="Text 10"/>
          <p:cNvSpPr txBox="1"/>
          <p:nvPr/>
        </p:nvSpPr>
        <p:spPr>
          <a:xfrm>
            <a:off x="685800" y="4960437"/>
            <a:ext cx="3337560"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average delivery time, pet_shop</a:t>
            </a:r>
            <a:endParaRPr lang="en-US" sz="1100" dirty="0"/>
          </a:p>
        </p:txBody>
      </p:sp>
      <p:sp>
        <p:nvSpPr>
          <p:cNvPr id="15" name="Text 11"/>
          <p:cNvSpPr txBox="1"/>
          <p:nvPr/>
        </p:nvSpPr>
        <p:spPr>
          <a:xfrm>
            <a:off x="548640" y="5577840"/>
            <a:ext cx="3611880" cy="68580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Pet shop orders take about 11 days to reach the customer.</a:t>
            </a:r>
            <a:endParaRPr lang="en-US" sz="1300" dirty="0"/>
          </a:p>
        </p:txBody>
      </p:sp>
      <p:sp>
        <p:nvSpPr>
          <p:cNvPr id="16" name="Text 12"/>
          <p:cNvSpPr txBox="1"/>
          <p:nvPr/>
        </p:nvSpPr>
        <p:spPr>
          <a:xfrm>
            <a:off x="4297680" y="1536192"/>
            <a:ext cx="3611880" cy="566928"/>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KPI 4: Average price and payment values, sao paulo city</a:t>
            </a:r>
            <a:endParaRPr lang="en-US" sz="1300" dirty="0"/>
          </a:p>
        </p:txBody>
      </p:sp>
      <p:sp>
        <p:nvSpPr>
          <p:cNvPr id="17" name="Screenshot placeholder"/>
          <p:cNvSpPr/>
          <p:nvPr/>
        </p:nvSpPr>
        <p:spPr>
          <a:xfrm>
            <a:off x="4297680" y="2176272"/>
            <a:ext cx="3611880" cy="2103120"/>
          </a:xfrm>
          <a:prstGeom prst="roundRect">
            <a:avLst>
              <a:gd name="adj" fmla="val 5217"/>
            </a:avLst>
          </a:prstGeom>
          <a:blipFill>
            <a:blip r:embed="rId5"/>
            <a:srcRect/>
            <a:stretch>
              <a:fillRect t="14678" b="14678"/>
            </a:stretch>
          </a:blipFill>
          <a:ln w="19050">
            <a:solidFill>
              <a:srgbClr val="217346"/>
            </a:solidFill>
            <a:prstDash val="dash"/>
          </a:ln>
          <a:effectLst>
            <a:outerShdw blurRad="114300" dist="25400" dir="5400000" algn="bl" rotWithShape="0">
              <a:srgbClr val="1F2A44">
                <a:alpha val="13000"/>
              </a:srgbClr>
            </a:outerShdw>
          </a:effectLst>
        </p:spPr>
        <p:txBody>
          <a:bodyPr/>
          <a:lstStyle/>
          <a:p>
            <a:endParaRPr lang="en-IN"/>
          </a:p>
        </p:txBody>
      </p:sp>
      <p:sp>
        <p:nvSpPr>
          <p:cNvPr id="21" name="Stat tile"/>
          <p:cNvSpPr/>
          <p:nvPr/>
        </p:nvSpPr>
        <p:spPr>
          <a:xfrm>
            <a:off x="4297680" y="4407408"/>
            <a:ext cx="1755648"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2" name="Text 17"/>
          <p:cNvSpPr txBox="1"/>
          <p:nvPr/>
        </p:nvSpPr>
        <p:spPr>
          <a:xfrm>
            <a:off x="4434840" y="4480560"/>
            <a:ext cx="1481328" cy="491581"/>
          </a:xfrm>
          <a:prstGeom prst="rect">
            <a:avLst/>
          </a:prstGeom>
          <a:noFill/>
          <a:ln/>
        </p:spPr>
        <p:txBody>
          <a:bodyPr wrap="square" lIns="0" tIns="0" rIns="0" bIns="0" rtlCol="0" anchor="ctr"/>
          <a:lstStyle/>
          <a:p>
            <a:pPr marL="0" indent="0">
              <a:buNone/>
            </a:pPr>
            <a:r>
              <a:rPr lang="en-US" sz="2200" b="1" dirty="0">
                <a:solidFill>
                  <a:srgbClr val="217346"/>
                </a:solidFill>
                <a:latin typeface="Calibri" pitchFamily="34" charset="0"/>
                <a:ea typeface="Calibri" pitchFamily="34" charset="-122"/>
                <a:cs typeface="Calibri" pitchFamily="34" charset="-120"/>
              </a:rPr>
              <a:t>₹107.53</a:t>
            </a:r>
            <a:endParaRPr lang="en-US" sz="2200" dirty="0"/>
          </a:p>
        </p:txBody>
      </p:sp>
      <p:sp>
        <p:nvSpPr>
          <p:cNvPr id="23" name="Text 18"/>
          <p:cNvSpPr txBox="1"/>
          <p:nvPr/>
        </p:nvSpPr>
        <p:spPr>
          <a:xfrm>
            <a:off x="4434840" y="4960437"/>
            <a:ext cx="1481328"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average price</a:t>
            </a:r>
            <a:endParaRPr lang="en-US" sz="1100" dirty="0"/>
          </a:p>
        </p:txBody>
      </p:sp>
      <p:sp>
        <p:nvSpPr>
          <p:cNvPr id="24" name="Stat tile"/>
          <p:cNvSpPr/>
          <p:nvPr/>
        </p:nvSpPr>
        <p:spPr>
          <a:xfrm>
            <a:off x="6153912" y="4407408"/>
            <a:ext cx="1755648"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5" name="Text 20"/>
          <p:cNvSpPr txBox="1"/>
          <p:nvPr/>
        </p:nvSpPr>
        <p:spPr>
          <a:xfrm>
            <a:off x="6291072" y="4480560"/>
            <a:ext cx="1481328" cy="491581"/>
          </a:xfrm>
          <a:prstGeom prst="rect">
            <a:avLst/>
          </a:prstGeom>
          <a:noFill/>
          <a:ln/>
        </p:spPr>
        <p:txBody>
          <a:bodyPr wrap="square" lIns="0" tIns="0" rIns="0" bIns="0" rtlCol="0" anchor="ctr"/>
          <a:lstStyle/>
          <a:p>
            <a:pPr marL="0" indent="0">
              <a:buNone/>
            </a:pPr>
            <a:r>
              <a:rPr lang="en-US" sz="2200" b="1" dirty="0">
                <a:solidFill>
                  <a:srgbClr val="217346"/>
                </a:solidFill>
                <a:latin typeface="Calibri" pitchFamily="34" charset="0"/>
                <a:ea typeface="Calibri" pitchFamily="34" charset="-122"/>
                <a:cs typeface="Calibri" pitchFamily="34" charset="-120"/>
              </a:rPr>
              <a:t>₹135.83</a:t>
            </a:r>
            <a:endParaRPr lang="en-US" sz="2200" dirty="0"/>
          </a:p>
        </p:txBody>
      </p:sp>
      <p:sp>
        <p:nvSpPr>
          <p:cNvPr id="26" name="Text 21"/>
          <p:cNvSpPr txBox="1"/>
          <p:nvPr/>
        </p:nvSpPr>
        <p:spPr>
          <a:xfrm>
            <a:off x="6291072" y="4960437"/>
            <a:ext cx="1481328"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average payment value</a:t>
            </a:r>
            <a:endParaRPr lang="en-US" sz="1100" dirty="0"/>
          </a:p>
        </p:txBody>
      </p:sp>
      <p:sp>
        <p:nvSpPr>
          <p:cNvPr id="27" name="Text 22"/>
          <p:cNvSpPr txBox="1"/>
          <p:nvPr/>
        </p:nvSpPr>
        <p:spPr>
          <a:xfrm>
            <a:off x="4297680" y="5577840"/>
            <a:ext cx="3611880" cy="68580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15,540 orders, about 15.6% of all 99,441 orders.</a:t>
            </a:r>
            <a:endParaRPr lang="en-US" sz="1300" dirty="0"/>
          </a:p>
        </p:txBody>
      </p:sp>
      <p:sp>
        <p:nvSpPr>
          <p:cNvPr id="28" name="Text 23"/>
          <p:cNvSpPr txBox="1"/>
          <p:nvPr/>
        </p:nvSpPr>
        <p:spPr>
          <a:xfrm>
            <a:off x="8046720" y="1536192"/>
            <a:ext cx="3611880" cy="566928"/>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KPI 5: Shipping days Vs review scores</a:t>
            </a:r>
            <a:endParaRPr lang="en-US" sz="1300" dirty="0"/>
          </a:p>
        </p:txBody>
      </p:sp>
      <p:sp>
        <p:nvSpPr>
          <p:cNvPr id="29" name="Screenshot placeholder"/>
          <p:cNvSpPr/>
          <p:nvPr/>
        </p:nvSpPr>
        <p:spPr>
          <a:xfrm>
            <a:off x="8046720" y="2176272"/>
            <a:ext cx="3611880" cy="2103120"/>
          </a:xfrm>
          <a:prstGeom prst="roundRect">
            <a:avLst>
              <a:gd name="adj" fmla="val 5217"/>
            </a:avLst>
          </a:prstGeom>
          <a:blipFill dpi="0" rotWithShape="1">
            <a:blip r:embed="rId6">
              <a:extLst>
                <a:ext uri="{28A0092B-C50C-407E-A947-70E740481C1C}">
                  <a14:useLocalDpi xmlns:a14="http://schemas.microsoft.com/office/drawing/2010/main" val="0"/>
                </a:ext>
              </a:extLst>
            </a:blip>
            <a:srcRect/>
            <a:stretch>
              <a:fillRect/>
            </a:stretch>
          </a:blipFill>
          <a:ln w="19050">
            <a:solidFill>
              <a:srgbClr val="217346"/>
            </a:solidFill>
            <a:prstDash val="dash"/>
          </a:ln>
          <a:effectLst>
            <a:outerShdw blurRad="114300" dist="25400" dir="5400000" algn="bl" rotWithShape="0">
              <a:srgbClr val="1F2A44">
                <a:alpha val="13000"/>
              </a:srgbClr>
            </a:outerShdw>
          </a:effectLst>
        </p:spPr>
        <p:txBody>
          <a:bodyPr/>
          <a:lstStyle/>
          <a:p>
            <a:endParaRPr lang="en-IN" dirty="0"/>
          </a:p>
        </p:txBody>
      </p:sp>
      <p:sp>
        <p:nvSpPr>
          <p:cNvPr id="33" name="Stat tile"/>
          <p:cNvSpPr/>
          <p:nvPr/>
        </p:nvSpPr>
        <p:spPr>
          <a:xfrm>
            <a:off x="8046720" y="4407408"/>
            <a:ext cx="1755648"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34" name="Text 28"/>
          <p:cNvSpPr txBox="1"/>
          <p:nvPr/>
        </p:nvSpPr>
        <p:spPr>
          <a:xfrm>
            <a:off x="8183880" y="4480560"/>
            <a:ext cx="1481328" cy="491581"/>
          </a:xfrm>
          <a:prstGeom prst="rect">
            <a:avLst/>
          </a:prstGeom>
          <a:noFill/>
          <a:ln/>
        </p:spPr>
        <p:txBody>
          <a:bodyPr wrap="square" lIns="0" tIns="0" rIns="0" bIns="0" rtlCol="0" anchor="ctr"/>
          <a:lstStyle/>
          <a:p>
            <a:pPr marL="0" indent="0">
              <a:buNone/>
            </a:pPr>
            <a:r>
              <a:rPr lang="en-US" sz="2200" b="1" dirty="0">
                <a:solidFill>
                  <a:srgbClr val="217346"/>
                </a:solidFill>
                <a:latin typeface="Calibri" pitchFamily="34" charset="0"/>
                <a:ea typeface="Calibri" pitchFamily="34" charset="-122"/>
                <a:cs typeface="Calibri" pitchFamily="34" charset="-120"/>
              </a:rPr>
              <a:t>−0.334</a:t>
            </a:r>
            <a:endParaRPr lang="en-US" sz="2200" dirty="0"/>
          </a:p>
        </p:txBody>
      </p:sp>
      <p:sp>
        <p:nvSpPr>
          <p:cNvPr id="35" name="Text 29"/>
          <p:cNvSpPr txBox="1"/>
          <p:nvPr/>
        </p:nvSpPr>
        <p:spPr>
          <a:xfrm>
            <a:off x="8183880" y="4960437"/>
            <a:ext cx="1481328"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correlation</a:t>
            </a:r>
            <a:endParaRPr lang="en-US" sz="1100" dirty="0"/>
          </a:p>
        </p:txBody>
      </p:sp>
      <p:sp>
        <p:nvSpPr>
          <p:cNvPr id="36" name="Stat tile"/>
          <p:cNvSpPr/>
          <p:nvPr/>
        </p:nvSpPr>
        <p:spPr>
          <a:xfrm>
            <a:off x="9902952" y="4407408"/>
            <a:ext cx="1755648"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37" name="Text 31"/>
          <p:cNvSpPr txBox="1"/>
          <p:nvPr/>
        </p:nvSpPr>
        <p:spPr>
          <a:xfrm>
            <a:off x="10040112" y="4480560"/>
            <a:ext cx="1481328" cy="491581"/>
          </a:xfrm>
          <a:prstGeom prst="rect">
            <a:avLst/>
          </a:prstGeom>
          <a:noFill/>
          <a:ln/>
        </p:spPr>
        <p:txBody>
          <a:bodyPr wrap="square" lIns="0" tIns="0" rIns="0" bIns="0" rtlCol="0" anchor="ctr"/>
          <a:lstStyle/>
          <a:p>
            <a:pPr marL="0" indent="0">
              <a:buNone/>
            </a:pPr>
            <a:r>
              <a:rPr lang="en-US" sz="1700" b="1" dirty="0">
                <a:solidFill>
                  <a:srgbClr val="217346"/>
                </a:solidFill>
                <a:latin typeface="Calibri" pitchFamily="34" charset="0"/>
                <a:ea typeface="Calibri" pitchFamily="34" charset="-122"/>
                <a:cs typeface="Calibri" pitchFamily="34" charset="-120"/>
              </a:rPr>
              <a:t>21.32 → 10.68</a:t>
            </a:r>
            <a:endParaRPr lang="en-US" sz="1700" dirty="0"/>
          </a:p>
        </p:txBody>
      </p:sp>
      <p:sp>
        <p:nvSpPr>
          <p:cNvPr id="38" name="Text 32"/>
          <p:cNvSpPr txBox="1"/>
          <p:nvPr/>
        </p:nvSpPr>
        <p:spPr>
          <a:xfrm>
            <a:off x="10040112" y="4960437"/>
            <a:ext cx="1481328"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avg days, score 1 → 5</a:t>
            </a:r>
            <a:endParaRPr lang="en-US" sz="1100" dirty="0"/>
          </a:p>
        </p:txBody>
      </p:sp>
      <p:sp>
        <p:nvSpPr>
          <p:cNvPr id="39" name="Text 33"/>
          <p:cNvSpPr txBox="1"/>
          <p:nvPr/>
        </p:nvSpPr>
        <p:spPr>
          <a:xfrm>
            <a:off x="8046720" y="5577840"/>
            <a:ext cx="3611880" cy="68580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Longer delivery goes with lower review scores.</a:t>
            </a:r>
            <a:endParaRPr lang="en-US" sz="1300" dirty="0"/>
          </a:p>
        </p:txBody>
      </p:sp>
      <p:sp>
        <p:nvSpPr>
          <p:cNvPr id="40"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chip"/>
          <p:cNvSpPr/>
          <p:nvPr/>
        </p:nvSpPr>
        <p:spPr>
          <a:xfrm>
            <a:off x="548640" y="384048"/>
            <a:ext cx="2039112" cy="310896"/>
          </a:xfrm>
          <a:prstGeom prst="roundRect">
            <a:avLst>
              <a:gd name="adj" fmla="val 50000"/>
            </a:avLst>
          </a:prstGeom>
          <a:solidFill>
            <a:srgbClr val="217346"/>
          </a:solidFill>
          <a:ln w="12700">
            <a:solidFill>
              <a:srgbClr val="217346"/>
            </a:solidFill>
            <a:prstDash val="solid"/>
          </a:ln>
        </p:spPr>
        <p:txBody>
          <a:bodyPr/>
          <a:lstStyle/>
          <a:p>
            <a:endParaRPr lang="en-IN"/>
          </a:p>
        </p:txBody>
      </p:sp>
      <p:sp>
        <p:nvSpPr>
          <p:cNvPr id="3" name="Text 1"/>
          <p:cNvSpPr txBox="1"/>
          <p:nvPr/>
        </p:nvSpPr>
        <p:spPr>
          <a:xfrm>
            <a:off x="548640" y="384048"/>
            <a:ext cx="2039112"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MODULE 1 · EXCEL</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Final Dashboard</a:t>
            </a:r>
            <a:endParaRPr lang="en-US" sz="3200" dirty="0"/>
          </a:p>
        </p:txBody>
      </p:sp>
      <p:sp>
        <p:nvSpPr>
          <p:cNvPr id="5" name="Shape 3"/>
          <p:cNvSpPr/>
          <p:nvPr/>
        </p:nvSpPr>
        <p:spPr>
          <a:xfrm>
            <a:off x="11091672" y="457200"/>
            <a:ext cx="548640" cy="548640"/>
          </a:xfrm>
          <a:prstGeom prst="ellipse">
            <a:avLst/>
          </a:prstGeom>
          <a:solidFill>
            <a:srgbClr val="217346"/>
          </a:solidFill>
          <a:ln w="12700">
            <a:solidFill>
              <a:srgbClr val="217346"/>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11228832" y="594360"/>
            <a:ext cx="274320" cy="274320"/>
          </a:xfrm>
          <a:prstGeom prst="rect">
            <a:avLst/>
          </a:prstGeom>
        </p:spPr>
      </p:pic>
      <p:sp>
        <p:nvSpPr>
          <p:cNvPr id="7" name="Text 4"/>
          <p:cNvSpPr txBox="1"/>
          <p:nvPr/>
        </p:nvSpPr>
        <p:spPr>
          <a:xfrm>
            <a:off x="548640" y="1572768"/>
            <a:ext cx="11064240" cy="310896"/>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E-Commerce Performance Dashboard: slicers for year, payment type, review score, order status and day type</a:t>
            </a:r>
            <a:endParaRPr lang="en-US" sz="1300" dirty="0"/>
          </a:p>
        </p:txBody>
      </p:sp>
      <p:sp>
        <p:nvSpPr>
          <p:cNvPr id="8" name="Screenshot placeholder"/>
          <p:cNvSpPr/>
          <p:nvPr/>
        </p:nvSpPr>
        <p:spPr>
          <a:xfrm>
            <a:off x="1399592" y="1965960"/>
            <a:ext cx="9405257" cy="4297680"/>
          </a:xfrm>
          <a:prstGeom prst="roundRect">
            <a:avLst>
              <a:gd name="adj" fmla="val 2553"/>
            </a:avLst>
          </a:prstGeom>
          <a:blipFill dpi="0" rotWithShape="1">
            <a:blip r:embed="rId4">
              <a:extLst>
                <a:ext uri="{28A0092B-C50C-407E-A947-70E740481C1C}">
                  <a14:useLocalDpi xmlns:a14="http://schemas.microsoft.com/office/drawing/2010/main" val="0"/>
                </a:ext>
              </a:extLst>
            </a:blip>
            <a:srcRect/>
            <a:stretch>
              <a:fillRect l="-95" r="69"/>
            </a:stretch>
          </a:blipFill>
          <a:ln w="19050">
            <a:solidFill>
              <a:srgbClr val="217346"/>
            </a:solidFill>
            <a:prstDash val="dash"/>
          </a:ln>
          <a:effectLst>
            <a:outerShdw blurRad="114300" dist="25400" dir="5400000" algn="bl" rotWithShape="0">
              <a:srgbClr val="1F2A44">
                <a:alpha val="13000"/>
              </a:srgbClr>
            </a:outerShdw>
          </a:effectLst>
        </p:spPr>
        <p:txBody>
          <a:bodyPr/>
          <a:lstStyle/>
          <a:p>
            <a:endParaRPr lang="en-IN"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chip"/>
          <p:cNvSpPr/>
          <p:nvPr/>
        </p:nvSpPr>
        <p:spPr>
          <a:xfrm>
            <a:off x="548640" y="384048"/>
            <a:ext cx="2327148" cy="310896"/>
          </a:xfrm>
          <a:prstGeom prst="roundRect">
            <a:avLst>
              <a:gd name="adj" fmla="val 50000"/>
            </a:avLst>
          </a:prstGeom>
          <a:solidFill>
            <a:srgbClr val="F2C811"/>
          </a:solidFill>
          <a:ln w="12700">
            <a:solidFill>
              <a:srgbClr val="F2C811"/>
            </a:solidFill>
            <a:prstDash val="solid"/>
          </a:ln>
        </p:spPr>
        <p:txBody>
          <a:bodyPr/>
          <a:lstStyle/>
          <a:p>
            <a:endParaRPr lang="en-IN"/>
          </a:p>
        </p:txBody>
      </p:sp>
      <p:sp>
        <p:nvSpPr>
          <p:cNvPr id="3" name="Text 1"/>
          <p:cNvSpPr txBox="1"/>
          <p:nvPr/>
        </p:nvSpPr>
        <p:spPr>
          <a:xfrm>
            <a:off x="548640" y="384048"/>
            <a:ext cx="2327148" cy="310896"/>
          </a:xfrm>
          <a:prstGeom prst="rect">
            <a:avLst/>
          </a:prstGeom>
          <a:noFill/>
          <a:ln/>
        </p:spPr>
        <p:txBody>
          <a:bodyPr wrap="square" lIns="0" tIns="0" rIns="0" bIns="0" rtlCol="0" anchor="ctr"/>
          <a:lstStyle/>
          <a:p>
            <a:pPr marL="0" indent="0" algn="ctr">
              <a:buNone/>
            </a:pPr>
            <a:r>
              <a:rPr lang="en-US" sz="1100" b="1" kern="0" spc="200" dirty="0">
                <a:solidFill>
                  <a:srgbClr val="1F1F1F"/>
                </a:solidFill>
                <a:latin typeface="Calibri" pitchFamily="34" charset="0"/>
                <a:ea typeface="Calibri" pitchFamily="34" charset="-122"/>
                <a:cs typeface="Calibri" pitchFamily="34" charset="-120"/>
              </a:rPr>
              <a:t>MODULE 2 · POWER BI</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Data Model</a:t>
            </a:r>
            <a:endParaRPr lang="en-US" sz="3200" dirty="0"/>
          </a:p>
        </p:txBody>
      </p:sp>
      <p:sp>
        <p:nvSpPr>
          <p:cNvPr id="5" name="Shape 3"/>
          <p:cNvSpPr/>
          <p:nvPr/>
        </p:nvSpPr>
        <p:spPr>
          <a:xfrm>
            <a:off x="11091672" y="457200"/>
            <a:ext cx="548640" cy="548640"/>
          </a:xfrm>
          <a:prstGeom prst="ellipse">
            <a:avLst/>
          </a:prstGeom>
          <a:solidFill>
            <a:srgbClr val="F2C811"/>
          </a:solidFill>
          <a:ln w="12700">
            <a:solidFill>
              <a:srgbClr val="F2C811"/>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11228832" y="594360"/>
            <a:ext cx="274320" cy="274320"/>
          </a:xfrm>
          <a:prstGeom prst="rect">
            <a:avLst/>
          </a:prstGeom>
        </p:spPr>
      </p:pic>
      <p:sp>
        <p:nvSpPr>
          <p:cNvPr id="7" name="Screenshot placeholder"/>
          <p:cNvSpPr/>
          <p:nvPr/>
        </p:nvSpPr>
        <p:spPr>
          <a:xfrm>
            <a:off x="548640" y="1600200"/>
            <a:ext cx="7315200" cy="4663440"/>
          </a:xfrm>
          <a:prstGeom prst="roundRect">
            <a:avLst>
              <a:gd name="adj" fmla="val 2353"/>
            </a:avLst>
          </a:prstGeom>
          <a:blipFill dpi="0" rotWithShape="1">
            <a:blip r:embed="rId4">
              <a:extLst>
                <a:ext uri="{28A0092B-C50C-407E-A947-70E740481C1C}">
                  <a14:useLocalDpi xmlns:a14="http://schemas.microsoft.com/office/drawing/2010/main" val="0"/>
                </a:ext>
              </a:extLst>
            </a:blip>
            <a:srcRect/>
            <a:stretch>
              <a:fillRect/>
            </a:stretch>
          </a:blipFill>
          <a:ln w="19050">
            <a:solidFill>
              <a:srgbClr val="D9A400"/>
            </a:solidFill>
            <a:prstDash val="dash"/>
          </a:ln>
          <a:effectLst>
            <a:outerShdw blurRad="114300" dist="25400" dir="5400000" algn="bl" rotWithShape="0">
              <a:srgbClr val="1F2A44">
                <a:alpha val="13000"/>
              </a:srgbClr>
            </a:outerShdw>
          </a:effectLst>
        </p:spPr>
        <p:txBody>
          <a:bodyPr/>
          <a:lstStyle/>
          <a:p>
            <a:endParaRPr lang="en-IN"/>
          </a:p>
        </p:txBody>
      </p:sp>
      <p:sp>
        <p:nvSpPr>
          <p:cNvPr id="11" name="Stat tile"/>
          <p:cNvSpPr/>
          <p:nvPr/>
        </p:nvSpPr>
        <p:spPr>
          <a:xfrm>
            <a:off x="8183880" y="1600200"/>
            <a:ext cx="3456432" cy="1051560"/>
          </a:xfrm>
          <a:prstGeom prst="roundRect">
            <a:avLst>
              <a:gd name="adj" fmla="val 869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2" name="Text 8"/>
          <p:cNvSpPr txBox="1"/>
          <p:nvPr/>
        </p:nvSpPr>
        <p:spPr>
          <a:xfrm>
            <a:off x="8321040" y="1673352"/>
            <a:ext cx="3182112" cy="504749"/>
          </a:xfrm>
          <a:prstGeom prst="rect">
            <a:avLst/>
          </a:prstGeom>
          <a:noFill/>
          <a:ln/>
        </p:spPr>
        <p:txBody>
          <a:bodyPr wrap="square" lIns="0" tIns="0" rIns="0" bIns="0" rtlCol="0" anchor="ctr"/>
          <a:lstStyle/>
          <a:p>
            <a:pPr marL="0" indent="0">
              <a:buNone/>
            </a:pPr>
            <a:r>
              <a:rPr lang="en-US" sz="2800" b="1" dirty="0">
                <a:solidFill>
                  <a:srgbClr val="9A6B00"/>
                </a:solidFill>
                <a:latin typeface="Calibri" pitchFamily="34" charset="0"/>
                <a:ea typeface="Calibri" pitchFamily="34" charset="-122"/>
                <a:cs typeface="Calibri" pitchFamily="34" charset="-120"/>
              </a:rPr>
              <a:t>9</a:t>
            </a:r>
            <a:endParaRPr lang="en-US" sz="2800" dirty="0"/>
          </a:p>
        </p:txBody>
      </p:sp>
      <p:sp>
        <p:nvSpPr>
          <p:cNvPr id="13" name="Text 9"/>
          <p:cNvSpPr txBox="1"/>
          <p:nvPr/>
        </p:nvSpPr>
        <p:spPr>
          <a:xfrm>
            <a:off x="8321040" y="2168042"/>
            <a:ext cx="3182112" cy="441655"/>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CSV files imported with Power Query</a:t>
            </a:r>
            <a:endParaRPr lang="en-US" sz="1100" dirty="0"/>
          </a:p>
        </p:txBody>
      </p:sp>
      <p:sp>
        <p:nvSpPr>
          <p:cNvPr id="14" name="Stat tile"/>
          <p:cNvSpPr/>
          <p:nvPr/>
        </p:nvSpPr>
        <p:spPr>
          <a:xfrm>
            <a:off x="8183880" y="2788920"/>
            <a:ext cx="3456432" cy="1051560"/>
          </a:xfrm>
          <a:prstGeom prst="roundRect">
            <a:avLst>
              <a:gd name="adj" fmla="val 869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5" name="Text 11"/>
          <p:cNvSpPr txBox="1"/>
          <p:nvPr/>
        </p:nvSpPr>
        <p:spPr>
          <a:xfrm>
            <a:off x="8321040" y="2862072"/>
            <a:ext cx="3182112" cy="504749"/>
          </a:xfrm>
          <a:prstGeom prst="rect">
            <a:avLst/>
          </a:prstGeom>
          <a:noFill/>
          <a:ln/>
        </p:spPr>
        <p:txBody>
          <a:bodyPr wrap="square" lIns="0" tIns="0" rIns="0" bIns="0" rtlCol="0" anchor="ctr"/>
          <a:lstStyle/>
          <a:p>
            <a:pPr marL="0" indent="0">
              <a:buNone/>
            </a:pPr>
            <a:r>
              <a:rPr lang="en-US" sz="2800" b="1" dirty="0">
                <a:solidFill>
                  <a:srgbClr val="9A6B00"/>
                </a:solidFill>
                <a:latin typeface="Calibri" pitchFamily="34" charset="0"/>
                <a:ea typeface="Calibri" pitchFamily="34" charset="-122"/>
                <a:cs typeface="Calibri" pitchFamily="34" charset="-120"/>
              </a:rPr>
              <a:t>7 + 2</a:t>
            </a:r>
            <a:endParaRPr lang="en-US" sz="2800" dirty="0"/>
          </a:p>
        </p:txBody>
      </p:sp>
      <p:sp>
        <p:nvSpPr>
          <p:cNvPr id="16" name="Text 12"/>
          <p:cNvSpPr txBox="1"/>
          <p:nvPr/>
        </p:nvSpPr>
        <p:spPr>
          <a:xfrm>
            <a:off x="8321040" y="3356762"/>
            <a:ext cx="3182112" cy="441655"/>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core relationships + 2 geo lookup tables</a:t>
            </a:r>
            <a:endParaRPr lang="en-US" sz="1100" dirty="0"/>
          </a:p>
        </p:txBody>
      </p:sp>
      <p:sp>
        <p:nvSpPr>
          <p:cNvPr id="17" name="Stat tile"/>
          <p:cNvSpPr/>
          <p:nvPr/>
        </p:nvSpPr>
        <p:spPr>
          <a:xfrm>
            <a:off x="8183880" y="3977640"/>
            <a:ext cx="3456432" cy="1051560"/>
          </a:xfrm>
          <a:prstGeom prst="roundRect">
            <a:avLst>
              <a:gd name="adj" fmla="val 869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8" name="Text 14"/>
          <p:cNvSpPr txBox="1"/>
          <p:nvPr/>
        </p:nvSpPr>
        <p:spPr>
          <a:xfrm>
            <a:off x="8321040" y="4050792"/>
            <a:ext cx="3182112" cy="504749"/>
          </a:xfrm>
          <a:prstGeom prst="rect">
            <a:avLst/>
          </a:prstGeom>
          <a:noFill/>
          <a:ln/>
        </p:spPr>
        <p:txBody>
          <a:bodyPr wrap="square" lIns="0" tIns="0" rIns="0" bIns="0" rtlCol="0" anchor="ctr"/>
          <a:lstStyle/>
          <a:p>
            <a:pPr marL="0" indent="0">
              <a:buNone/>
            </a:pPr>
            <a:r>
              <a:rPr lang="en-US" sz="2800" b="1" dirty="0">
                <a:solidFill>
                  <a:srgbClr val="9A6B00"/>
                </a:solidFill>
                <a:latin typeface="Calibri" pitchFamily="34" charset="0"/>
                <a:ea typeface="Calibri" pitchFamily="34" charset="-122"/>
                <a:cs typeface="Calibri" pitchFamily="34" charset="-120"/>
              </a:rPr>
              <a:t>610</a:t>
            </a:r>
            <a:endParaRPr lang="en-US" sz="2800" dirty="0"/>
          </a:p>
        </p:txBody>
      </p:sp>
      <p:sp>
        <p:nvSpPr>
          <p:cNvPr id="19" name="Text 15"/>
          <p:cNvSpPr txBox="1"/>
          <p:nvPr/>
        </p:nvSpPr>
        <p:spPr>
          <a:xfrm>
            <a:off x="8321040" y="4545482"/>
            <a:ext cx="3182112" cy="441655"/>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blank product categories set to "unknown"</a:t>
            </a:r>
            <a:endParaRPr lang="en-US" sz="1100" dirty="0"/>
          </a:p>
        </p:txBody>
      </p:sp>
      <p:sp>
        <p:nvSpPr>
          <p:cNvPr id="20" name="Text 16"/>
          <p:cNvSpPr txBox="1"/>
          <p:nvPr/>
        </p:nvSpPr>
        <p:spPr>
          <a:xfrm>
            <a:off x="8183880" y="5212080"/>
            <a:ext cx="3456432" cy="914400"/>
          </a:xfrm>
          <a:prstGeom prst="rect">
            <a:avLst/>
          </a:prstGeom>
          <a:noFill/>
          <a:ln/>
        </p:spPr>
        <p:txBody>
          <a:bodyPr wrap="square" lIns="0" tIns="0" rIns="0" bIns="0" rtlCol="0" anchor="t"/>
          <a:lstStyle/>
          <a:p>
            <a:pPr marL="0" indent="0">
              <a:buNone/>
            </a:pPr>
            <a:r>
              <a:rPr lang="en-US" sz="1400" dirty="0">
                <a:solidFill>
                  <a:srgbClr val="1F2A44"/>
                </a:solidFill>
                <a:latin typeface="Calibri" pitchFamily="34" charset="0"/>
                <a:ea typeface="Calibri" pitchFamily="34" charset="-122"/>
                <a:cs typeface="Calibri" pitchFamily="34" charset="-120"/>
              </a:rPr>
              <a:t>Built independently of the SQL database: fresh CSV import.</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chip"/>
          <p:cNvSpPr/>
          <p:nvPr/>
        </p:nvSpPr>
        <p:spPr>
          <a:xfrm>
            <a:off x="548640" y="384048"/>
            <a:ext cx="2327148" cy="310896"/>
          </a:xfrm>
          <a:prstGeom prst="roundRect">
            <a:avLst>
              <a:gd name="adj" fmla="val 50000"/>
            </a:avLst>
          </a:prstGeom>
          <a:solidFill>
            <a:srgbClr val="F2C811"/>
          </a:solidFill>
          <a:ln w="12700">
            <a:solidFill>
              <a:srgbClr val="F2C811"/>
            </a:solidFill>
            <a:prstDash val="solid"/>
          </a:ln>
        </p:spPr>
        <p:txBody>
          <a:bodyPr/>
          <a:lstStyle/>
          <a:p>
            <a:endParaRPr lang="en-IN"/>
          </a:p>
        </p:txBody>
      </p:sp>
      <p:sp>
        <p:nvSpPr>
          <p:cNvPr id="3" name="Text 1"/>
          <p:cNvSpPr txBox="1"/>
          <p:nvPr/>
        </p:nvSpPr>
        <p:spPr>
          <a:xfrm>
            <a:off x="548640" y="384048"/>
            <a:ext cx="2327148" cy="310896"/>
          </a:xfrm>
          <a:prstGeom prst="rect">
            <a:avLst/>
          </a:prstGeom>
          <a:noFill/>
          <a:ln/>
        </p:spPr>
        <p:txBody>
          <a:bodyPr wrap="square" lIns="0" tIns="0" rIns="0" bIns="0" rtlCol="0" anchor="ctr"/>
          <a:lstStyle/>
          <a:p>
            <a:pPr marL="0" indent="0" algn="ctr">
              <a:buNone/>
            </a:pPr>
            <a:r>
              <a:rPr lang="en-US" sz="1100" b="1" kern="0" spc="200" dirty="0">
                <a:solidFill>
                  <a:srgbClr val="1F1F1F"/>
                </a:solidFill>
                <a:latin typeface="Calibri" pitchFamily="34" charset="0"/>
                <a:ea typeface="Calibri" pitchFamily="34" charset="-122"/>
                <a:cs typeface="Calibri" pitchFamily="34" charset="-120"/>
              </a:rPr>
              <a:t>MODULE 2 · POWER BI</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KPI 1 and KPI 2</a:t>
            </a:r>
            <a:endParaRPr lang="en-US" sz="3200" dirty="0"/>
          </a:p>
        </p:txBody>
      </p:sp>
      <p:sp>
        <p:nvSpPr>
          <p:cNvPr id="5" name="Shape 3"/>
          <p:cNvSpPr/>
          <p:nvPr/>
        </p:nvSpPr>
        <p:spPr>
          <a:xfrm>
            <a:off x="11091672" y="457200"/>
            <a:ext cx="548640" cy="548640"/>
          </a:xfrm>
          <a:prstGeom prst="ellipse">
            <a:avLst/>
          </a:prstGeom>
          <a:solidFill>
            <a:srgbClr val="F2C811"/>
          </a:solidFill>
          <a:ln w="12700">
            <a:solidFill>
              <a:srgbClr val="F2C811"/>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11228832" y="594360"/>
            <a:ext cx="274320" cy="274320"/>
          </a:xfrm>
          <a:prstGeom prst="rect">
            <a:avLst/>
          </a:prstGeom>
        </p:spPr>
      </p:pic>
      <p:sp>
        <p:nvSpPr>
          <p:cNvPr id="7" name="Text 4"/>
          <p:cNvSpPr txBox="1"/>
          <p:nvPr/>
        </p:nvSpPr>
        <p:spPr>
          <a:xfrm>
            <a:off x="548640" y="1572768"/>
            <a:ext cx="5440680" cy="310896"/>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KPI 1: Weekday Vs Weekend Payment Statistics</a:t>
            </a:r>
            <a:endParaRPr lang="en-US" sz="1300" dirty="0"/>
          </a:p>
        </p:txBody>
      </p:sp>
      <p:sp>
        <p:nvSpPr>
          <p:cNvPr id="8" name="Text 5"/>
          <p:cNvSpPr txBox="1"/>
          <p:nvPr/>
        </p:nvSpPr>
        <p:spPr>
          <a:xfrm>
            <a:off x="6199632" y="1572768"/>
            <a:ext cx="5440680" cy="310896"/>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KPI 2: Orders with review score 5 and credit card</a:t>
            </a:r>
            <a:endParaRPr lang="en-US" sz="1300" dirty="0"/>
          </a:p>
        </p:txBody>
      </p:sp>
      <p:sp>
        <p:nvSpPr>
          <p:cNvPr id="9" name="Screenshot placeholder"/>
          <p:cNvSpPr/>
          <p:nvPr/>
        </p:nvSpPr>
        <p:spPr>
          <a:xfrm>
            <a:off x="548640" y="1938528"/>
            <a:ext cx="5440680" cy="2331720"/>
          </a:xfrm>
          <a:prstGeom prst="roundRect">
            <a:avLst>
              <a:gd name="adj" fmla="val 4706"/>
            </a:avLst>
          </a:prstGeom>
          <a:blipFill dpi="0" rotWithShape="1">
            <a:blip r:embed="rId4">
              <a:extLst>
                <a:ext uri="{28A0092B-C50C-407E-A947-70E740481C1C}">
                  <a14:useLocalDpi xmlns:a14="http://schemas.microsoft.com/office/drawing/2010/main" val="0"/>
                </a:ext>
              </a:extLst>
            </a:blip>
            <a:srcRect/>
            <a:stretch>
              <a:fillRect/>
            </a:stretch>
          </a:blipFill>
          <a:ln w="19050">
            <a:solidFill>
              <a:srgbClr val="D9A400"/>
            </a:solidFill>
            <a:prstDash val="dash"/>
          </a:ln>
          <a:effectLst>
            <a:outerShdw blurRad="114300" dist="25400" dir="5400000" algn="bl" rotWithShape="0">
              <a:srgbClr val="1F2A44">
                <a:alpha val="13000"/>
              </a:srgbClr>
            </a:outerShdw>
          </a:effectLst>
        </p:spPr>
        <p:txBody>
          <a:bodyPr/>
          <a:lstStyle/>
          <a:p>
            <a:endParaRPr lang="en-IN"/>
          </a:p>
        </p:txBody>
      </p:sp>
      <p:sp>
        <p:nvSpPr>
          <p:cNvPr id="13" name="Screenshot placeholder"/>
          <p:cNvSpPr/>
          <p:nvPr/>
        </p:nvSpPr>
        <p:spPr>
          <a:xfrm>
            <a:off x="6199632" y="1938528"/>
            <a:ext cx="5440680" cy="2286000"/>
          </a:xfrm>
          <a:prstGeom prst="roundRect">
            <a:avLst>
              <a:gd name="adj" fmla="val 4706"/>
            </a:avLst>
          </a:prstGeom>
          <a:blipFill dpi="0" rotWithShape="1">
            <a:blip r:embed="rId5">
              <a:extLst>
                <a:ext uri="{28A0092B-C50C-407E-A947-70E740481C1C}">
                  <a14:useLocalDpi xmlns:a14="http://schemas.microsoft.com/office/drawing/2010/main" val="0"/>
                </a:ext>
              </a:extLst>
            </a:blip>
            <a:srcRect/>
            <a:stretch>
              <a:fillRect l="20485" r="20485"/>
            </a:stretch>
          </a:blipFill>
          <a:ln w="19050">
            <a:solidFill>
              <a:srgbClr val="D9A400"/>
            </a:solidFill>
            <a:prstDash val="dash"/>
          </a:ln>
          <a:effectLst>
            <a:outerShdw blurRad="114300" dist="25400" dir="5400000" algn="bl" rotWithShape="0">
              <a:srgbClr val="1F2A44">
                <a:alpha val="13000"/>
              </a:srgbClr>
            </a:outerShdw>
          </a:effectLst>
        </p:spPr>
        <p:txBody>
          <a:bodyPr/>
          <a:lstStyle/>
          <a:p>
            <a:endParaRPr lang="en-IN"/>
          </a:p>
        </p:txBody>
      </p:sp>
      <p:sp>
        <p:nvSpPr>
          <p:cNvPr id="17" name="Stat tile"/>
          <p:cNvSpPr/>
          <p:nvPr/>
        </p:nvSpPr>
        <p:spPr>
          <a:xfrm>
            <a:off x="548640" y="4407408"/>
            <a:ext cx="2651760"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8" name="Text 13"/>
          <p:cNvSpPr txBox="1"/>
          <p:nvPr/>
        </p:nvSpPr>
        <p:spPr>
          <a:xfrm>
            <a:off x="685800" y="4480560"/>
            <a:ext cx="2377440" cy="491581"/>
          </a:xfrm>
          <a:prstGeom prst="rect">
            <a:avLst/>
          </a:prstGeom>
          <a:noFill/>
          <a:ln/>
        </p:spPr>
        <p:txBody>
          <a:bodyPr wrap="square" lIns="0" tIns="0" rIns="0" bIns="0" rtlCol="0" anchor="ctr"/>
          <a:lstStyle/>
          <a:p>
            <a:pPr marL="0" indent="0">
              <a:buNone/>
            </a:pPr>
            <a:r>
              <a:rPr lang="en-US" sz="2800" b="1" dirty="0">
                <a:solidFill>
                  <a:srgbClr val="9A6B00"/>
                </a:solidFill>
                <a:latin typeface="Calibri" pitchFamily="34" charset="0"/>
                <a:ea typeface="Calibri" pitchFamily="34" charset="-122"/>
                <a:cs typeface="Calibri" pitchFamily="34" charset="-120"/>
              </a:rPr>
              <a:t>76,593</a:t>
            </a:r>
            <a:endParaRPr lang="en-US" sz="2800" dirty="0"/>
          </a:p>
        </p:txBody>
      </p:sp>
      <p:sp>
        <p:nvSpPr>
          <p:cNvPr id="19" name="Text 14"/>
          <p:cNvSpPr txBox="1"/>
          <p:nvPr/>
        </p:nvSpPr>
        <p:spPr>
          <a:xfrm>
            <a:off x="685800" y="4960437"/>
            <a:ext cx="2377440"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Weekday orders (77.02%), average payment ₹154.44</a:t>
            </a:r>
            <a:endParaRPr lang="en-US" sz="1100" dirty="0"/>
          </a:p>
        </p:txBody>
      </p:sp>
      <p:sp>
        <p:nvSpPr>
          <p:cNvPr id="20" name="Stat tile"/>
          <p:cNvSpPr/>
          <p:nvPr/>
        </p:nvSpPr>
        <p:spPr>
          <a:xfrm>
            <a:off x="3337560" y="4407408"/>
            <a:ext cx="2651760"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1" name="Text 16"/>
          <p:cNvSpPr txBox="1"/>
          <p:nvPr/>
        </p:nvSpPr>
        <p:spPr>
          <a:xfrm>
            <a:off x="3474720" y="4480560"/>
            <a:ext cx="2377440" cy="491581"/>
          </a:xfrm>
          <a:prstGeom prst="rect">
            <a:avLst/>
          </a:prstGeom>
          <a:noFill/>
          <a:ln/>
        </p:spPr>
        <p:txBody>
          <a:bodyPr wrap="square" lIns="0" tIns="0" rIns="0" bIns="0" rtlCol="0" anchor="ctr"/>
          <a:lstStyle/>
          <a:p>
            <a:pPr marL="0" indent="0">
              <a:buNone/>
            </a:pPr>
            <a:r>
              <a:rPr lang="en-US" sz="2800" b="1" dirty="0">
                <a:solidFill>
                  <a:srgbClr val="9A6B00"/>
                </a:solidFill>
                <a:latin typeface="Calibri" pitchFamily="34" charset="0"/>
                <a:ea typeface="Calibri" pitchFamily="34" charset="-122"/>
                <a:cs typeface="Calibri" pitchFamily="34" charset="-120"/>
              </a:rPr>
              <a:t>22,847</a:t>
            </a:r>
            <a:endParaRPr lang="en-US" sz="2800" dirty="0"/>
          </a:p>
        </p:txBody>
      </p:sp>
      <p:sp>
        <p:nvSpPr>
          <p:cNvPr id="22" name="Text 17"/>
          <p:cNvSpPr txBox="1"/>
          <p:nvPr/>
        </p:nvSpPr>
        <p:spPr>
          <a:xfrm>
            <a:off x="3474720" y="4960437"/>
            <a:ext cx="2377440"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Weekend orders (22.98%), average payment ₹152.95</a:t>
            </a:r>
            <a:endParaRPr lang="en-US" sz="1100" dirty="0"/>
          </a:p>
        </p:txBody>
      </p:sp>
      <p:sp>
        <p:nvSpPr>
          <p:cNvPr id="23" name="Stat tile"/>
          <p:cNvSpPr/>
          <p:nvPr/>
        </p:nvSpPr>
        <p:spPr>
          <a:xfrm>
            <a:off x="6199632" y="4407408"/>
            <a:ext cx="2651760"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4" name="Text 19"/>
          <p:cNvSpPr txBox="1"/>
          <p:nvPr/>
        </p:nvSpPr>
        <p:spPr>
          <a:xfrm>
            <a:off x="6336792" y="4480560"/>
            <a:ext cx="2377440" cy="491581"/>
          </a:xfrm>
          <a:prstGeom prst="rect">
            <a:avLst/>
          </a:prstGeom>
          <a:noFill/>
          <a:ln/>
        </p:spPr>
        <p:txBody>
          <a:bodyPr wrap="square" lIns="0" tIns="0" rIns="0" bIns="0" rtlCol="0" anchor="ctr"/>
          <a:lstStyle/>
          <a:p>
            <a:pPr marL="0" indent="0">
              <a:buNone/>
            </a:pPr>
            <a:r>
              <a:rPr lang="en-US" sz="2800" b="1" dirty="0">
                <a:solidFill>
                  <a:srgbClr val="9A6B00"/>
                </a:solidFill>
                <a:latin typeface="Calibri" pitchFamily="34" charset="0"/>
                <a:ea typeface="Calibri" pitchFamily="34" charset="-122"/>
                <a:cs typeface="Calibri" pitchFamily="34" charset="-120"/>
              </a:rPr>
              <a:t>43,981</a:t>
            </a:r>
            <a:endParaRPr lang="en-US" sz="2800" dirty="0"/>
          </a:p>
        </p:txBody>
      </p:sp>
      <p:sp>
        <p:nvSpPr>
          <p:cNvPr id="25" name="Text 20"/>
          <p:cNvSpPr txBox="1"/>
          <p:nvPr/>
        </p:nvSpPr>
        <p:spPr>
          <a:xfrm>
            <a:off x="6336792" y="4960437"/>
            <a:ext cx="2377440"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5-star orders paid by credit card</a:t>
            </a:r>
            <a:endParaRPr lang="en-US" sz="1100" dirty="0"/>
          </a:p>
        </p:txBody>
      </p:sp>
      <p:sp>
        <p:nvSpPr>
          <p:cNvPr id="26" name="Stat tile"/>
          <p:cNvSpPr/>
          <p:nvPr/>
        </p:nvSpPr>
        <p:spPr>
          <a:xfrm>
            <a:off x="8988552" y="4407408"/>
            <a:ext cx="2651760"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7" name="Text 22"/>
          <p:cNvSpPr txBox="1"/>
          <p:nvPr/>
        </p:nvSpPr>
        <p:spPr>
          <a:xfrm>
            <a:off x="9125712" y="4480560"/>
            <a:ext cx="2377440" cy="491581"/>
          </a:xfrm>
          <a:prstGeom prst="rect">
            <a:avLst/>
          </a:prstGeom>
          <a:noFill/>
          <a:ln/>
        </p:spPr>
        <p:txBody>
          <a:bodyPr wrap="square" lIns="0" tIns="0" rIns="0" bIns="0" rtlCol="0" anchor="ctr"/>
          <a:lstStyle/>
          <a:p>
            <a:pPr marL="0" indent="0">
              <a:buNone/>
            </a:pPr>
            <a:r>
              <a:rPr lang="en-US" sz="2800" b="1" dirty="0">
                <a:solidFill>
                  <a:srgbClr val="9A6B00"/>
                </a:solidFill>
                <a:latin typeface="Calibri" pitchFamily="34" charset="0"/>
                <a:ea typeface="Calibri" pitchFamily="34" charset="-122"/>
                <a:cs typeface="Calibri" pitchFamily="34" charset="-120"/>
              </a:rPr>
              <a:t>75.4%</a:t>
            </a:r>
            <a:endParaRPr lang="en-US" sz="2800" dirty="0"/>
          </a:p>
        </p:txBody>
      </p:sp>
      <p:sp>
        <p:nvSpPr>
          <p:cNvPr id="28" name="Text 23"/>
          <p:cNvSpPr txBox="1"/>
          <p:nvPr/>
        </p:nvSpPr>
        <p:spPr>
          <a:xfrm>
            <a:off x="9125712" y="4960437"/>
            <a:ext cx="2377440"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of all 5-star orders use a credit card</a:t>
            </a:r>
            <a:endParaRPr lang="en-US" sz="1100" dirty="0"/>
          </a:p>
        </p:txBody>
      </p:sp>
      <p:sp>
        <p:nvSpPr>
          <p:cNvPr id="29" name="Text 24"/>
          <p:cNvSpPr txBox="1"/>
          <p:nvPr/>
        </p:nvSpPr>
        <p:spPr>
          <a:xfrm>
            <a:off x="548640" y="5596128"/>
            <a:ext cx="5440680" cy="64008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Same result as Excel: weekday volume is far higher, average payment is almost equal.</a:t>
            </a:r>
            <a:endParaRPr lang="en-US" sz="1300" dirty="0"/>
          </a:p>
        </p:txBody>
      </p:sp>
      <p:sp>
        <p:nvSpPr>
          <p:cNvPr id="30" name="Text 25"/>
          <p:cNvSpPr txBox="1"/>
          <p:nvPr/>
        </p:nvSpPr>
        <p:spPr>
          <a:xfrm>
            <a:off x="6199632" y="5596128"/>
            <a:ext cx="5440680" cy="64008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About 44% of all orders are both 5-star and credit card.</a:t>
            </a:r>
            <a:endParaRPr lang="en-US" sz="1300" dirty="0"/>
          </a:p>
        </p:txBody>
      </p:sp>
      <p:sp>
        <p:nvSpPr>
          <p:cNvPr id="31"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chip"/>
          <p:cNvSpPr/>
          <p:nvPr/>
        </p:nvSpPr>
        <p:spPr>
          <a:xfrm>
            <a:off x="548640" y="384048"/>
            <a:ext cx="2327148" cy="310896"/>
          </a:xfrm>
          <a:prstGeom prst="roundRect">
            <a:avLst>
              <a:gd name="adj" fmla="val 50000"/>
            </a:avLst>
          </a:prstGeom>
          <a:solidFill>
            <a:srgbClr val="F2C811"/>
          </a:solidFill>
          <a:ln w="12700">
            <a:solidFill>
              <a:srgbClr val="F2C811"/>
            </a:solidFill>
            <a:prstDash val="solid"/>
          </a:ln>
        </p:spPr>
        <p:txBody>
          <a:bodyPr/>
          <a:lstStyle/>
          <a:p>
            <a:endParaRPr lang="en-IN"/>
          </a:p>
        </p:txBody>
      </p:sp>
      <p:sp>
        <p:nvSpPr>
          <p:cNvPr id="3" name="Text 1"/>
          <p:cNvSpPr txBox="1"/>
          <p:nvPr/>
        </p:nvSpPr>
        <p:spPr>
          <a:xfrm>
            <a:off x="548640" y="384048"/>
            <a:ext cx="2327148" cy="310896"/>
          </a:xfrm>
          <a:prstGeom prst="rect">
            <a:avLst/>
          </a:prstGeom>
          <a:noFill/>
          <a:ln/>
        </p:spPr>
        <p:txBody>
          <a:bodyPr wrap="square" lIns="0" tIns="0" rIns="0" bIns="0" rtlCol="0" anchor="ctr"/>
          <a:lstStyle/>
          <a:p>
            <a:pPr marL="0" indent="0" algn="ctr">
              <a:buNone/>
            </a:pPr>
            <a:r>
              <a:rPr lang="en-US" sz="1100" b="1" kern="0" spc="200" dirty="0">
                <a:solidFill>
                  <a:srgbClr val="1F1F1F"/>
                </a:solidFill>
                <a:latin typeface="Calibri" pitchFamily="34" charset="0"/>
                <a:ea typeface="Calibri" pitchFamily="34" charset="-122"/>
                <a:cs typeface="Calibri" pitchFamily="34" charset="-120"/>
              </a:rPr>
              <a:t>MODULE 2 · POWER BI</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KPI 3, KPI 4 and KPI 5</a:t>
            </a:r>
            <a:endParaRPr lang="en-US" sz="3200" dirty="0"/>
          </a:p>
        </p:txBody>
      </p:sp>
      <p:sp>
        <p:nvSpPr>
          <p:cNvPr id="5" name="Shape 3"/>
          <p:cNvSpPr/>
          <p:nvPr/>
        </p:nvSpPr>
        <p:spPr>
          <a:xfrm>
            <a:off x="11091672" y="457200"/>
            <a:ext cx="548640" cy="548640"/>
          </a:xfrm>
          <a:prstGeom prst="ellipse">
            <a:avLst/>
          </a:prstGeom>
          <a:solidFill>
            <a:srgbClr val="F2C811"/>
          </a:solidFill>
          <a:ln w="12700">
            <a:solidFill>
              <a:srgbClr val="F2C811"/>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11228832" y="594360"/>
            <a:ext cx="274320" cy="274320"/>
          </a:xfrm>
          <a:prstGeom prst="rect">
            <a:avLst/>
          </a:prstGeom>
        </p:spPr>
      </p:pic>
      <p:sp>
        <p:nvSpPr>
          <p:cNvPr id="7" name="Text 4"/>
          <p:cNvSpPr txBox="1"/>
          <p:nvPr/>
        </p:nvSpPr>
        <p:spPr>
          <a:xfrm>
            <a:off x="548640" y="1536192"/>
            <a:ext cx="3611880" cy="566928"/>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KPI 3: Average days taken for delivery, pet_shop</a:t>
            </a:r>
            <a:endParaRPr lang="en-US" sz="1300" dirty="0"/>
          </a:p>
        </p:txBody>
      </p:sp>
      <p:sp>
        <p:nvSpPr>
          <p:cNvPr id="8" name="Screenshot placeholder"/>
          <p:cNvSpPr/>
          <p:nvPr/>
        </p:nvSpPr>
        <p:spPr>
          <a:xfrm>
            <a:off x="548640" y="2176272"/>
            <a:ext cx="3611880" cy="2103120"/>
          </a:xfrm>
          <a:prstGeom prst="roundRect">
            <a:avLst>
              <a:gd name="adj" fmla="val 5217"/>
            </a:avLst>
          </a:prstGeom>
          <a:blipFill dpi="0" rotWithShape="1">
            <a:blip r:embed="rId4">
              <a:extLst>
                <a:ext uri="{28A0092B-C50C-407E-A947-70E740481C1C}">
                  <a14:useLocalDpi xmlns:a14="http://schemas.microsoft.com/office/drawing/2010/main" val="0"/>
                </a:ext>
              </a:extLst>
            </a:blip>
            <a:srcRect/>
            <a:stretch>
              <a:fillRect/>
            </a:stretch>
          </a:blipFill>
          <a:ln w="19050">
            <a:solidFill>
              <a:srgbClr val="D9A400"/>
            </a:solidFill>
            <a:prstDash val="dash"/>
          </a:ln>
          <a:effectLst>
            <a:outerShdw blurRad="114300" dist="25400" dir="5400000" algn="bl" rotWithShape="0">
              <a:srgbClr val="1F2A44">
                <a:alpha val="13000"/>
              </a:srgbClr>
            </a:outerShdw>
          </a:effectLst>
        </p:spPr>
        <p:txBody>
          <a:bodyPr/>
          <a:lstStyle/>
          <a:p>
            <a:endParaRPr lang="en-IN"/>
          </a:p>
        </p:txBody>
      </p:sp>
      <p:sp>
        <p:nvSpPr>
          <p:cNvPr id="12" name="Stat tile"/>
          <p:cNvSpPr/>
          <p:nvPr/>
        </p:nvSpPr>
        <p:spPr>
          <a:xfrm>
            <a:off x="548640" y="4407408"/>
            <a:ext cx="1755648"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3" name="Text 9"/>
          <p:cNvSpPr txBox="1"/>
          <p:nvPr/>
        </p:nvSpPr>
        <p:spPr>
          <a:xfrm>
            <a:off x="685800" y="4480560"/>
            <a:ext cx="1481328" cy="491581"/>
          </a:xfrm>
          <a:prstGeom prst="rect">
            <a:avLst/>
          </a:prstGeom>
          <a:noFill/>
          <a:ln/>
        </p:spPr>
        <p:txBody>
          <a:bodyPr wrap="square" lIns="0" tIns="0" rIns="0" bIns="0" rtlCol="0" anchor="ctr"/>
          <a:lstStyle/>
          <a:p>
            <a:pPr marL="0" indent="0">
              <a:buNone/>
            </a:pPr>
            <a:r>
              <a:rPr lang="en-US" sz="2200" b="1" dirty="0">
                <a:solidFill>
                  <a:srgbClr val="9A6B00"/>
                </a:solidFill>
                <a:latin typeface="Calibri" pitchFamily="34" charset="0"/>
                <a:ea typeface="Calibri" pitchFamily="34" charset="-122"/>
                <a:cs typeface="Calibri" pitchFamily="34" charset="-120"/>
              </a:rPr>
              <a:t>11.31</a:t>
            </a:r>
            <a:endParaRPr lang="en-US" sz="2200" dirty="0"/>
          </a:p>
        </p:txBody>
      </p:sp>
      <p:sp>
        <p:nvSpPr>
          <p:cNvPr id="14" name="Text 10"/>
          <p:cNvSpPr txBox="1"/>
          <p:nvPr/>
        </p:nvSpPr>
        <p:spPr>
          <a:xfrm>
            <a:off x="685800" y="4960437"/>
            <a:ext cx="1481328"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pet_shop avg delivery days</a:t>
            </a:r>
            <a:endParaRPr lang="en-US" sz="1100" dirty="0"/>
          </a:p>
        </p:txBody>
      </p:sp>
      <p:sp>
        <p:nvSpPr>
          <p:cNvPr id="15" name="Stat tile"/>
          <p:cNvSpPr/>
          <p:nvPr/>
        </p:nvSpPr>
        <p:spPr>
          <a:xfrm>
            <a:off x="2404872" y="4407408"/>
            <a:ext cx="1755648"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6" name="Text 12"/>
          <p:cNvSpPr txBox="1"/>
          <p:nvPr/>
        </p:nvSpPr>
        <p:spPr>
          <a:xfrm>
            <a:off x="2542032" y="4480560"/>
            <a:ext cx="1481328" cy="491581"/>
          </a:xfrm>
          <a:prstGeom prst="rect">
            <a:avLst/>
          </a:prstGeom>
          <a:noFill/>
          <a:ln/>
        </p:spPr>
        <p:txBody>
          <a:bodyPr wrap="square" lIns="0" tIns="0" rIns="0" bIns="0" rtlCol="0" anchor="ctr"/>
          <a:lstStyle/>
          <a:p>
            <a:pPr marL="0" indent="0">
              <a:buNone/>
            </a:pPr>
            <a:r>
              <a:rPr lang="en-US" sz="2200" b="1" dirty="0">
                <a:solidFill>
                  <a:srgbClr val="9A6B00"/>
                </a:solidFill>
                <a:latin typeface="Calibri" pitchFamily="34" charset="0"/>
                <a:ea typeface="Calibri" pitchFamily="34" charset="-122"/>
                <a:cs typeface="Calibri" pitchFamily="34" charset="-120"/>
              </a:rPr>
              <a:t>12.50</a:t>
            </a:r>
            <a:endParaRPr lang="en-US" sz="2200" dirty="0"/>
          </a:p>
        </p:txBody>
      </p:sp>
      <p:sp>
        <p:nvSpPr>
          <p:cNvPr id="17" name="Text 13"/>
          <p:cNvSpPr txBox="1"/>
          <p:nvPr/>
        </p:nvSpPr>
        <p:spPr>
          <a:xfrm>
            <a:off x="2542032" y="4960437"/>
            <a:ext cx="1481328"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overall avg delivery days</a:t>
            </a:r>
            <a:endParaRPr lang="en-US" sz="1100" dirty="0"/>
          </a:p>
        </p:txBody>
      </p:sp>
      <p:sp>
        <p:nvSpPr>
          <p:cNvPr id="18" name="Text 14"/>
          <p:cNvSpPr txBox="1"/>
          <p:nvPr/>
        </p:nvSpPr>
        <p:spPr>
          <a:xfrm>
            <a:off x="548640" y="5577840"/>
            <a:ext cx="3611880" cy="68580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Pet shop delivery is slightly faster than the overall average.</a:t>
            </a:r>
            <a:endParaRPr lang="en-US" sz="1300" dirty="0"/>
          </a:p>
        </p:txBody>
      </p:sp>
      <p:sp>
        <p:nvSpPr>
          <p:cNvPr id="19" name="Text 15"/>
          <p:cNvSpPr txBox="1"/>
          <p:nvPr/>
        </p:nvSpPr>
        <p:spPr>
          <a:xfrm>
            <a:off x="4297680" y="1536192"/>
            <a:ext cx="3611880" cy="566928"/>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KPI 4: Average price and payment values, sao paulo city</a:t>
            </a:r>
            <a:endParaRPr lang="en-US" sz="1300" dirty="0"/>
          </a:p>
        </p:txBody>
      </p:sp>
      <p:sp>
        <p:nvSpPr>
          <p:cNvPr id="20" name="Screenshot placeholder"/>
          <p:cNvSpPr/>
          <p:nvPr/>
        </p:nvSpPr>
        <p:spPr>
          <a:xfrm>
            <a:off x="4297680" y="2176272"/>
            <a:ext cx="3611880" cy="2103120"/>
          </a:xfrm>
          <a:prstGeom prst="roundRect">
            <a:avLst>
              <a:gd name="adj" fmla="val 5217"/>
            </a:avLst>
          </a:prstGeom>
          <a:blipFill dpi="0" rotWithShape="1">
            <a:blip r:embed="rId5">
              <a:extLst>
                <a:ext uri="{28A0092B-C50C-407E-A947-70E740481C1C}">
                  <a14:useLocalDpi xmlns:a14="http://schemas.microsoft.com/office/drawing/2010/main" val="0"/>
                </a:ext>
              </a:extLst>
            </a:blip>
            <a:srcRect/>
            <a:stretch>
              <a:fillRect/>
            </a:stretch>
          </a:blipFill>
          <a:ln w="19050">
            <a:solidFill>
              <a:srgbClr val="D9A400"/>
            </a:solidFill>
            <a:prstDash val="dash"/>
          </a:ln>
          <a:effectLst>
            <a:outerShdw blurRad="114300" dist="25400" dir="5400000" algn="bl" rotWithShape="0">
              <a:srgbClr val="1F2A44">
                <a:alpha val="13000"/>
              </a:srgbClr>
            </a:outerShdw>
          </a:effectLst>
        </p:spPr>
        <p:txBody>
          <a:bodyPr/>
          <a:lstStyle/>
          <a:p>
            <a:endParaRPr lang="en-IN"/>
          </a:p>
        </p:txBody>
      </p:sp>
      <p:sp>
        <p:nvSpPr>
          <p:cNvPr id="24" name="Stat tile"/>
          <p:cNvSpPr/>
          <p:nvPr/>
        </p:nvSpPr>
        <p:spPr>
          <a:xfrm>
            <a:off x="4297680" y="4407408"/>
            <a:ext cx="1755648"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5" name="Text 20"/>
          <p:cNvSpPr txBox="1"/>
          <p:nvPr/>
        </p:nvSpPr>
        <p:spPr>
          <a:xfrm>
            <a:off x="4434840" y="4480560"/>
            <a:ext cx="1481328" cy="491581"/>
          </a:xfrm>
          <a:prstGeom prst="rect">
            <a:avLst/>
          </a:prstGeom>
          <a:noFill/>
          <a:ln/>
        </p:spPr>
        <p:txBody>
          <a:bodyPr wrap="square" lIns="0" tIns="0" rIns="0" bIns="0" rtlCol="0" anchor="ctr"/>
          <a:lstStyle/>
          <a:p>
            <a:pPr marL="0" indent="0">
              <a:buNone/>
            </a:pPr>
            <a:r>
              <a:rPr lang="en-US" sz="2200" b="1" dirty="0">
                <a:solidFill>
                  <a:srgbClr val="9A6B00"/>
                </a:solidFill>
                <a:latin typeface="Calibri" pitchFamily="34" charset="0"/>
                <a:ea typeface="Calibri" pitchFamily="34" charset="-122"/>
                <a:cs typeface="Calibri" pitchFamily="34" charset="-120"/>
              </a:rPr>
              <a:t>₹112.58</a:t>
            </a:r>
            <a:endParaRPr lang="en-US" sz="2200" dirty="0"/>
          </a:p>
        </p:txBody>
      </p:sp>
      <p:sp>
        <p:nvSpPr>
          <p:cNvPr id="26" name="Text 21"/>
          <p:cNvSpPr txBox="1"/>
          <p:nvPr/>
        </p:nvSpPr>
        <p:spPr>
          <a:xfrm>
            <a:off x="4434840" y="4960437"/>
            <a:ext cx="1481328"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average price</a:t>
            </a:r>
            <a:endParaRPr lang="en-US" sz="1100" dirty="0"/>
          </a:p>
        </p:txBody>
      </p:sp>
      <p:sp>
        <p:nvSpPr>
          <p:cNvPr id="27" name="Stat tile"/>
          <p:cNvSpPr/>
          <p:nvPr/>
        </p:nvSpPr>
        <p:spPr>
          <a:xfrm>
            <a:off x="6153912" y="4407408"/>
            <a:ext cx="1755648"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8" name="Text 23"/>
          <p:cNvSpPr txBox="1"/>
          <p:nvPr/>
        </p:nvSpPr>
        <p:spPr>
          <a:xfrm>
            <a:off x="6291072" y="4480560"/>
            <a:ext cx="1481328" cy="491581"/>
          </a:xfrm>
          <a:prstGeom prst="rect">
            <a:avLst/>
          </a:prstGeom>
          <a:noFill/>
          <a:ln/>
        </p:spPr>
        <p:txBody>
          <a:bodyPr wrap="square" lIns="0" tIns="0" rIns="0" bIns="0" rtlCol="0" anchor="ctr"/>
          <a:lstStyle/>
          <a:p>
            <a:pPr marL="0" indent="0">
              <a:buNone/>
            </a:pPr>
            <a:r>
              <a:rPr lang="en-US" sz="2200" b="1" dirty="0">
                <a:solidFill>
                  <a:srgbClr val="9A6B00"/>
                </a:solidFill>
                <a:latin typeface="Calibri" pitchFamily="34" charset="0"/>
                <a:ea typeface="Calibri" pitchFamily="34" charset="-122"/>
                <a:cs typeface="Calibri" pitchFamily="34" charset="-120"/>
              </a:rPr>
              <a:t>₹138.74</a:t>
            </a:r>
            <a:endParaRPr lang="en-US" sz="2200" dirty="0"/>
          </a:p>
        </p:txBody>
      </p:sp>
      <p:sp>
        <p:nvSpPr>
          <p:cNvPr id="29" name="Text 24"/>
          <p:cNvSpPr txBox="1"/>
          <p:nvPr/>
        </p:nvSpPr>
        <p:spPr>
          <a:xfrm>
            <a:off x="6291072" y="4960437"/>
            <a:ext cx="1481328"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average payment value</a:t>
            </a:r>
            <a:endParaRPr lang="en-US" sz="1100" dirty="0"/>
          </a:p>
        </p:txBody>
      </p:sp>
      <p:sp>
        <p:nvSpPr>
          <p:cNvPr id="30" name="Text 25"/>
          <p:cNvSpPr txBox="1"/>
          <p:nvPr/>
        </p:nvSpPr>
        <p:spPr>
          <a:xfrm>
            <a:off x="4297680" y="5577840"/>
            <a:ext cx="3611880" cy="68580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Sao Paulo averages are below the platform averages (₹125.92 price, ₹157.95 payment).</a:t>
            </a:r>
            <a:endParaRPr lang="en-US" sz="1300" dirty="0"/>
          </a:p>
        </p:txBody>
      </p:sp>
      <p:sp>
        <p:nvSpPr>
          <p:cNvPr id="31" name="Text 26"/>
          <p:cNvSpPr txBox="1"/>
          <p:nvPr/>
        </p:nvSpPr>
        <p:spPr>
          <a:xfrm>
            <a:off x="8046720" y="1536192"/>
            <a:ext cx="3611880" cy="566928"/>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KPI 5: Shipping days Vs review scores</a:t>
            </a:r>
            <a:endParaRPr lang="en-US" sz="1300" dirty="0"/>
          </a:p>
        </p:txBody>
      </p:sp>
      <p:sp>
        <p:nvSpPr>
          <p:cNvPr id="32" name="Screenshot placeholder"/>
          <p:cNvSpPr/>
          <p:nvPr/>
        </p:nvSpPr>
        <p:spPr>
          <a:xfrm>
            <a:off x="8046720" y="2176272"/>
            <a:ext cx="3611880" cy="2103120"/>
          </a:xfrm>
          <a:prstGeom prst="roundRect">
            <a:avLst>
              <a:gd name="adj" fmla="val 5217"/>
            </a:avLst>
          </a:prstGeom>
          <a:blipFill dpi="0" rotWithShape="1">
            <a:blip r:embed="rId6">
              <a:extLst>
                <a:ext uri="{28A0092B-C50C-407E-A947-70E740481C1C}">
                  <a14:useLocalDpi xmlns:a14="http://schemas.microsoft.com/office/drawing/2010/main" val="0"/>
                </a:ext>
              </a:extLst>
            </a:blip>
            <a:srcRect/>
            <a:stretch>
              <a:fillRect/>
            </a:stretch>
          </a:blipFill>
          <a:ln w="19050">
            <a:solidFill>
              <a:srgbClr val="D9A400"/>
            </a:solidFill>
            <a:prstDash val="dash"/>
          </a:ln>
          <a:effectLst>
            <a:outerShdw blurRad="114300" dist="25400" dir="5400000" algn="bl" rotWithShape="0">
              <a:srgbClr val="1F2A44">
                <a:alpha val="13000"/>
              </a:srgbClr>
            </a:outerShdw>
          </a:effectLst>
        </p:spPr>
        <p:txBody>
          <a:bodyPr/>
          <a:lstStyle/>
          <a:p>
            <a:endParaRPr lang="en-IN"/>
          </a:p>
        </p:txBody>
      </p:sp>
      <p:sp>
        <p:nvSpPr>
          <p:cNvPr id="36" name="Stat tile"/>
          <p:cNvSpPr/>
          <p:nvPr/>
        </p:nvSpPr>
        <p:spPr>
          <a:xfrm>
            <a:off x="8046720" y="4407408"/>
            <a:ext cx="1755648"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37" name="Text 31"/>
          <p:cNvSpPr txBox="1"/>
          <p:nvPr/>
        </p:nvSpPr>
        <p:spPr>
          <a:xfrm>
            <a:off x="8183880" y="4480560"/>
            <a:ext cx="1481328" cy="491581"/>
          </a:xfrm>
          <a:prstGeom prst="rect">
            <a:avLst/>
          </a:prstGeom>
          <a:noFill/>
          <a:ln/>
        </p:spPr>
        <p:txBody>
          <a:bodyPr wrap="square" lIns="0" tIns="0" rIns="0" bIns="0" rtlCol="0" anchor="ctr"/>
          <a:lstStyle/>
          <a:p>
            <a:pPr marL="0" indent="0">
              <a:buNone/>
            </a:pPr>
            <a:r>
              <a:rPr lang="en-US" sz="2200" b="1" dirty="0">
                <a:solidFill>
                  <a:srgbClr val="9A6B00"/>
                </a:solidFill>
                <a:latin typeface="Calibri" pitchFamily="34" charset="0"/>
                <a:ea typeface="Calibri" pitchFamily="34" charset="-122"/>
                <a:cs typeface="Calibri" pitchFamily="34" charset="-120"/>
              </a:rPr>
              <a:t>21.25</a:t>
            </a:r>
            <a:endParaRPr lang="en-US" sz="2200" dirty="0"/>
          </a:p>
        </p:txBody>
      </p:sp>
      <p:sp>
        <p:nvSpPr>
          <p:cNvPr id="38" name="Text 32"/>
          <p:cNvSpPr txBox="1"/>
          <p:nvPr/>
        </p:nvSpPr>
        <p:spPr>
          <a:xfrm>
            <a:off x="8183880" y="4960437"/>
            <a:ext cx="1481328"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avg days, score 1</a:t>
            </a:r>
            <a:endParaRPr lang="en-US" sz="1100" dirty="0"/>
          </a:p>
        </p:txBody>
      </p:sp>
      <p:sp>
        <p:nvSpPr>
          <p:cNvPr id="39" name="Stat tile"/>
          <p:cNvSpPr/>
          <p:nvPr/>
        </p:nvSpPr>
        <p:spPr>
          <a:xfrm>
            <a:off x="9902952" y="4407408"/>
            <a:ext cx="1755648"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40" name="Text 34"/>
          <p:cNvSpPr txBox="1"/>
          <p:nvPr/>
        </p:nvSpPr>
        <p:spPr>
          <a:xfrm>
            <a:off x="10040112" y="4480560"/>
            <a:ext cx="1481328" cy="491581"/>
          </a:xfrm>
          <a:prstGeom prst="rect">
            <a:avLst/>
          </a:prstGeom>
          <a:noFill/>
          <a:ln/>
        </p:spPr>
        <p:txBody>
          <a:bodyPr wrap="square" lIns="0" tIns="0" rIns="0" bIns="0" rtlCol="0" anchor="ctr"/>
          <a:lstStyle/>
          <a:p>
            <a:pPr marL="0" indent="0">
              <a:buNone/>
            </a:pPr>
            <a:r>
              <a:rPr lang="en-US" sz="2200" b="1" dirty="0">
                <a:solidFill>
                  <a:srgbClr val="9A6B00"/>
                </a:solidFill>
                <a:latin typeface="Calibri" pitchFamily="34" charset="0"/>
                <a:ea typeface="Calibri" pitchFamily="34" charset="-122"/>
                <a:cs typeface="Calibri" pitchFamily="34" charset="-120"/>
              </a:rPr>
              <a:t>10.63</a:t>
            </a:r>
            <a:endParaRPr lang="en-US" sz="2200" dirty="0"/>
          </a:p>
        </p:txBody>
      </p:sp>
      <p:sp>
        <p:nvSpPr>
          <p:cNvPr id="41" name="Text 35"/>
          <p:cNvSpPr txBox="1"/>
          <p:nvPr/>
        </p:nvSpPr>
        <p:spPr>
          <a:xfrm>
            <a:off x="10040112" y="4960437"/>
            <a:ext cx="1481328"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avg days, score 5</a:t>
            </a:r>
            <a:endParaRPr lang="en-US" sz="1100" dirty="0"/>
          </a:p>
        </p:txBody>
      </p:sp>
      <p:sp>
        <p:nvSpPr>
          <p:cNvPr id="42" name="Text 36"/>
          <p:cNvSpPr txBox="1"/>
          <p:nvPr/>
        </p:nvSpPr>
        <p:spPr>
          <a:xfrm>
            <a:off x="8046720" y="5577840"/>
            <a:ext cx="3611880" cy="68580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Same inverse pattern as Excel: faster delivery, higher score.</a:t>
            </a:r>
            <a:endParaRPr lang="en-US" sz="1300" dirty="0"/>
          </a:p>
        </p:txBody>
      </p:sp>
      <p:sp>
        <p:nvSpPr>
          <p:cNvPr id="43"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chip"/>
          <p:cNvSpPr/>
          <p:nvPr/>
        </p:nvSpPr>
        <p:spPr>
          <a:xfrm>
            <a:off x="548640" y="384048"/>
            <a:ext cx="2327148" cy="310896"/>
          </a:xfrm>
          <a:prstGeom prst="roundRect">
            <a:avLst>
              <a:gd name="adj" fmla="val 50000"/>
            </a:avLst>
          </a:prstGeom>
          <a:solidFill>
            <a:srgbClr val="F2C811"/>
          </a:solidFill>
          <a:ln w="12700">
            <a:solidFill>
              <a:srgbClr val="F2C811"/>
            </a:solidFill>
            <a:prstDash val="solid"/>
          </a:ln>
        </p:spPr>
        <p:txBody>
          <a:bodyPr/>
          <a:lstStyle/>
          <a:p>
            <a:endParaRPr lang="en-IN"/>
          </a:p>
        </p:txBody>
      </p:sp>
      <p:sp>
        <p:nvSpPr>
          <p:cNvPr id="3" name="Text 1"/>
          <p:cNvSpPr txBox="1"/>
          <p:nvPr/>
        </p:nvSpPr>
        <p:spPr>
          <a:xfrm>
            <a:off x="548640" y="384048"/>
            <a:ext cx="2327148" cy="310896"/>
          </a:xfrm>
          <a:prstGeom prst="rect">
            <a:avLst/>
          </a:prstGeom>
          <a:noFill/>
          <a:ln/>
        </p:spPr>
        <p:txBody>
          <a:bodyPr wrap="square" lIns="0" tIns="0" rIns="0" bIns="0" rtlCol="0" anchor="ctr"/>
          <a:lstStyle/>
          <a:p>
            <a:pPr marL="0" indent="0" algn="ctr">
              <a:buNone/>
            </a:pPr>
            <a:r>
              <a:rPr lang="en-US" sz="1100" b="1" kern="0" spc="200" dirty="0">
                <a:solidFill>
                  <a:srgbClr val="1F1F1F"/>
                </a:solidFill>
                <a:latin typeface="Calibri" pitchFamily="34" charset="0"/>
                <a:ea typeface="Calibri" pitchFamily="34" charset="-122"/>
                <a:cs typeface="Calibri" pitchFamily="34" charset="-120"/>
              </a:rPr>
              <a:t>MODULE 2 · POWER BI</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Final Dashboard</a:t>
            </a:r>
            <a:endParaRPr lang="en-US" sz="3200" dirty="0"/>
          </a:p>
        </p:txBody>
      </p:sp>
      <p:sp>
        <p:nvSpPr>
          <p:cNvPr id="5" name="Shape 3"/>
          <p:cNvSpPr/>
          <p:nvPr/>
        </p:nvSpPr>
        <p:spPr>
          <a:xfrm>
            <a:off x="11091672" y="457200"/>
            <a:ext cx="548640" cy="548640"/>
          </a:xfrm>
          <a:prstGeom prst="ellipse">
            <a:avLst/>
          </a:prstGeom>
          <a:solidFill>
            <a:srgbClr val="F2C811"/>
          </a:solidFill>
          <a:ln w="12700">
            <a:solidFill>
              <a:srgbClr val="F2C811"/>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11228832" y="594360"/>
            <a:ext cx="274320" cy="274320"/>
          </a:xfrm>
          <a:prstGeom prst="rect">
            <a:avLst/>
          </a:prstGeom>
        </p:spPr>
      </p:pic>
      <p:sp>
        <p:nvSpPr>
          <p:cNvPr id="7" name="Text 4"/>
          <p:cNvSpPr txBox="1"/>
          <p:nvPr/>
        </p:nvSpPr>
        <p:spPr>
          <a:xfrm>
            <a:off x="548640" y="1572768"/>
            <a:ext cx="11064240" cy="310896"/>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Power BI dashboard combining the KPI 1 to KPI 5 visuals</a:t>
            </a:r>
            <a:endParaRPr lang="en-US" sz="1300" dirty="0"/>
          </a:p>
        </p:txBody>
      </p:sp>
      <p:sp>
        <p:nvSpPr>
          <p:cNvPr id="8" name="Screenshot placeholder"/>
          <p:cNvSpPr/>
          <p:nvPr/>
        </p:nvSpPr>
        <p:spPr>
          <a:xfrm>
            <a:off x="548640" y="1965960"/>
            <a:ext cx="11091672" cy="4297680"/>
          </a:xfrm>
          <a:prstGeom prst="roundRect">
            <a:avLst>
              <a:gd name="adj" fmla="val 2553"/>
            </a:avLst>
          </a:prstGeom>
          <a:blipFill dpi="0" rotWithShape="1">
            <a:blip r:embed="rId4">
              <a:extLst>
                <a:ext uri="{28A0092B-C50C-407E-A947-70E740481C1C}">
                  <a14:useLocalDpi xmlns:a14="http://schemas.microsoft.com/office/drawing/2010/main" val="0"/>
                </a:ext>
              </a:extLst>
            </a:blip>
            <a:srcRect/>
            <a:stretch>
              <a:fillRect l="15170" r="15170"/>
            </a:stretch>
          </a:blipFill>
          <a:ln w="19050">
            <a:solidFill>
              <a:srgbClr val="D9A400"/>
            </a:solidFill>
            <a:prstDash val="dash"/>
          </a:ln>
          <a:effectLst>
            <a:outerShdw blurRad="114300" dist="25400" dir="5400000" algn="bl" rotWithShape="0">
              <a:srgbClr val="1F2A44">
                <a:alpha val="13000"/>
              </a:srgbClr>
            </a:outerShdw>
          </a:effectLst>
        </p:spPr>
        <p:txBody>
          <a:bodyPr/>
          <a:lstStyle/>
          <a:p>
            <a:endParaRPr lang="en-IN"/>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chip"/>
          <p:cNvSpPr/>
          <p:nvPr/>
        </p:nvSpPr>
        <p:spPr>
          <a:xfrm>
            <a:off x="548640" y="384048"/>
            <a:ext cx="1847088" cy="310896"/>
          </a:xfrm>
          <a:prstGeom prst="roundRect">
            <a:avLst>
              <a:gd name="adj" fmla="val 50000"/>
            </a:avLst>
          </a:prstGeom>
          <a:solidFill>
            <a:srgbClr val="00758F"/>
          </a:solidFill>
          <a:ln w="12700">
            <a:solidFill>
              <a:srgbClr val="00758F"/>
            </a:solidFill>
            <a:prstDash val="solid"/>
          </a:ln>
        </p:spPr>
        <p:txBody>
          <a:bodyPr/>
          <a:lstStyle/>
          <a:p>
            <a:endParaRPr lang="en-IN"/>
          </a:p>
        </p:txBody>
      </p:sp>
      <p:sp>
        <p:nvSpPr>
          <p:cNvPr id="3" name="Text 1"/>
          <p:cNvSpPr txBox="1"/>
          <p:nvPr/>
        </p:nvSpPr>
        <p:spPr>
          <a:xfrm>
            <a:off x="548640" y="384048"/>
            <a:ext cx="1847088"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MODULE 3 · SQL</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Database Setup</a:t>
            </a:r>
            <a:endParaRPr lang="en-US" sz="3200" dirty="0"/>
          </a:p>
        </p:txBody>
      </p:sp>
      <p:sp>
        <p:nvSpPr>
          <p:cNvPr id="5" name="Shape 3"/>
          <p:cNvSpPr/>
          <p:nvPr/>
        </p:nvSpPr>
        <p:spPr>
          <a:xfrm>
            <a:off x="11091672" y="457200"/>
            <a:ext cx="548640" cy="548640"/>
          </a:xfrm>
          <a:prstGeom prst="ellipse">
            <a:avLst/>
          </a:prstGeom>
          <a:solidFill>
            <a:srgbClr val="00758F"/>
          </a:solidFill>
          <a:ln w="12700">
            <a:solidFill>
              <a:srgbClr val="00758F"/>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11228832" y="594360"/>
            <a:ext cx="274320" cy="274320"/>
          </a:xfrm>
          <a:prstGeom prst="rect">
            <a:avLst/>
          </a:prstGeom>
        </p:spPr>
      </p:pic>
      <p:sp>
        <p:nvSpPr>
          <p:cNvPr id="7" name="Screenshot placeholder"/>
          <p:cNvSpPr/>
          <p:nvPr/>
        </p:nvSpPr>
        <p:spPr>
          <a:xfrm>
            <a:off x="548640" y="1600200"/>
            <a:ext cx="6949440" cy="4663440"/>
          </a:xfrm>
          <a:prstGeom prst="roundRect">
            <a:avLst>
              <a:gd name="adj" fmla="val 2353"/>
            </a:avLst>
          </a:prstGeom>
          <a:blipFill dpi="0" rotWithShape="1">
            <a:blip r:embed="rId4">
              <a:extLst>
                <a:ext uri="{28A0092B-C50C-407E-A947-70E740481C1C}">
                  <a14:useLocalDpi xmlns:a14="http://schemas.microsoft.com/office/drawing/2010/main" val="0"/>
                </a:ext>
              </a:extLst>
            </a:blip>
            <a:srcRect/>
            <a:stretch>
              <a:fillRect/>
            </a:stretch>
          </a:blipFill>
          <a:ln w="19050">
            <a:solidFill>
              <a:srgbClr val="00758F"/>
            </a:solidFill>
            <a:prstDash val="dash"/>
          </a:ln>
          <a:effectLst>
            <a:outerShdw blurRad="114300" dist="25400" dir="5400000" algn="bl" rotWithShape="0">
              <a:srgbClr val="1F2A44">
                <a:alpha val="13000"/>
              </a:srgbClr>
            </a:outerShdw>
          </a:effectLst>
        </p:spPr>
        <p:txBody>
          <a:bodyPr/>
          <a:lstStyle/>
          <a:p>
            <a:endParaRPr lang="en-IN"/>
          </a:p>
        </p:txBody>
      </p:sp>
      <p:sp>
        <p:nvSpPr>
          <p:cNvPr id="11" name="Stat tile"/>
          <p:cNvSpPr/>
          <p:nvPr/>
        </p:nvSpPr>
        <p:spPr>
          <a:xfrm>
            <a:off x="7818120" y="1600200"/>
            <a:ext cx="3822192" cy="1234440"/>
          </a:xfrm>
          <a:prstGeom prst="roundRect">
            <a:avLst>
              <a:gd name="adj" fmla="val 7407"/>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2" name="Text 8"/>
          <p:cNvSpPr txBox="1"/>
          <p:nvPr/>
        </p:nvSpPr>
        <p:spPr>
          <a:xfrm>
            <a:off x="7955280" y="1673352"/>
            <a:ext cx="3547872" cy="592531"/>
          </a:xfrm>
          <a:prstGeom prst="rect">
            <a:avLst/>
          </a:prstGeom>
          <a:noFill/>
          <a:ln/>
        </p:spPr>
        <p:txBody>
          <a:bodyPr wrap="square" lIns="0" tIns="0" rIns="0" bIns="0" rtlCol="0" anchor="ctr"/>
          <a:lstStyle/>
          <a:p>
            <a:pPr marL="0" indent="0">
              <a:buNone/>
            </a:pPr>
            <a:r>
              <a:rPr lang="en-US" sz="2800" b="1" dirty="0">
                <a:solidFill>
                  <a:srgbClr val="00758F"/>
                </a:solidFill>
                <a:latin typeface="Calibri" pitchFamily="34" charset="0"/>
                <a:ea typeface="Calibri" pitchFamily="34" charset="-122"/>
                <a:cs typeface="Calibri" pitchFamily="34" charset="-120"/>
              </a:rPr>
              <a:t>10</a:t>
            </a:r>
            <a:endParaRPr lang="en-US" sz="2800" dirty="0"/>
          </a:p>
        </p:txBody>
      </p:sp>
      <p:sp>
        <p:nvSpPr>
          <p:cNvPr id="13" name="Text 9"/>
          <p:cNvSpPr txBox="1"/>
          <p:nvPr/>
        </p:nvSpPr>
        <p:spPr>
          <a:xfrm>
            <a:off x="7955280" y="2266798"/>
            <a:ext cx="3547872" cy="518465"/>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tables in the olist_store schema: 9 source tables + geo_zip_lookup</a:t>
            </a:r>
            <a:endParaRPr lang="en-US" sz="1100" dirty="0"/>
          </a:p>
        </p:txBody>
      </p:sp>
      <p:sp>
        <p:nvSpPr>
          <p:cNvPr id="14" name="Stat tile"/>
          <p:cNvSpPr/>
          <p:nvPr/>
        </p:nvSpPr>
        <p:spPr>
          <a:xfrm>
            <a:off x="7818120" y="2971800"/>
            <a:ext cx="3822192" cy="1234440"/>
          </a:xfrm>
          <a:prstGeom prst="roundRect">
            <a:avLst>
              <a:gd name="adj" fmla="val 7407"/>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5" name="Text 11"/>
          <p:cNvSpPr txBox="1"/>
          <p:nvPr/>
        </p:nvSpPr>
        <p:spPr>
          <a:xfrm>
            <a:off x="7955280" y="3044952"/>
            <a:ext cx="3547872" cy="592531"/>
          </a:xfrm>
          <a:prstGeom prst="rect">
            <a:avLst/>
          </a:prstGeom>
          <a:noFill/>
          <a:ln/>
        </p:spPr>
        <p:txBody>
          <a:bodyPr wrap="square" lIns="0" tIns="0" rIns="0" bIns="0" rtlCol="0" anchor="ctr"/>
          <a:lstStyle/>
          <a:p>
            <a:pPr marL="0" indent="0">
              <a:buNone/>
            </a:pPr>
            <a:r>
              <a:rPr lang="en-US" sz="2800" b="1" dirty="0">
                <a:solidFill>
                  <a:srgbClr val="00758F"/>
                </a:solidFill>
                <a:latin typeface="Calibri" pitchFamily="34" charset="0"/>
                <a:ea typeface="Calibri" pitchFamily="34" charset="-122"/>
                <a:cs typeface="Calibri" pitchFamily="34" charset="-120"/>
              </a:rPr>
              <a:t>9 of 9</a:t>
            </a:r>
            <a:endParaRPr lang="en-US" sz="2800" dirty="0"/>
          </a:p>
        </p:txBody>
      </p:sp>
      <p:sp>
        <p:nvSpPr>
          <p:cNvPr id="16" name="Text 12"/>
          <p:cNvSpPr txBox="1"/>
          <p:nvPr/>
        </p:nvSpPr>
        <p:spPr>
          <a:xfrm>
            <a:off x="7955280" y="3638398"/>
            <a:ext cx="3547872" cy="518465"/>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CSV files loaded, row counts verified against the source</a:t>
            </a:r>
            <a:endParaRPr lang="en-US" sz="1100" dirty="0"/>
          </a:p>
        </p:txBody>
      </p:sp>
      <p:sp>
        <p:nvSpPr>
          <p:cNvPr id="17" name="Shape 13"/>
          <p:cNvSpPr/>
          <p:nvPr/>
        </p:nvSpPr>
        <p:spPr>
          <a:xfrm>
            <a:off x="7818120" y="4343400"/>
            <a:ext cx="3822192" cy="1920240"/>
          </a:xfrm>
          <a:prstGeom prst="roundRect">
            <a:avLst>
              <a:gd name="adj" fmla="val 4762"/>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8" name="Text 14"/>
          <p:cNvSpPr txBox="1"/>
          <p:nvPr/>
        </p:nvSpPr>
        <p:spPr>
          <a:xfrm>
            <a:off x="8001000" y="4526280"/>
            <a:ext cx="3474720" cy="16459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1F2A44"/>
                </a:solidFill>
                <a:latin typeface="Calibri" pitchFamily="34" charset="0"/>
                <a:ea typeface="Calibri" pitchFamily="34" charset="-122"/>
                <a:cs typeface="Calibri" pitchFamily="34" charset="-120"/>
              </a:rPr>
              <a:t>Primary and foreign keys defined across the tables</a:t>
            </a:r>
            <a:endParaRPr lang="en-US" sz="1400" dirty="0"/>
          </a:p>
          <a:p>
            <a:pPr marL="342900" indent="-342900">
              <a:spcAft>
                <a:spcPts val="900"/>
              </a:spcAft>
              <a:buSzPct val="100000"/>
              <a:buChar char="•"/>
            </a:pPr>
            <a:r>
              <a:rPr lang="en-US" sz="1400" dirty="0">
                <a:solidFill>
                  <a:srgbClr val="1F2A44"/>
                </a:solidFill>
                <a:latin typeface="Calibri" pitchFamily="34" charset="0"/>
                <a:ea typeface="Calibri" pitchFamily="34" charset="-122"/>
                <a:cs typeface="Calibri" pitchFamily="34" charset="-120"/>
              </a:rPr>
              <a:t>Exported as one self-contained .sql file for the team</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956F7-E061-0C3B-C8CE-2A9011100DF4}"/>
            </a:ext>
          </a:extLst>
        </p:cNvPr>
        <p:cNvGrpSpPr/>
        <p:nvPr/>
      </p:nvGrpSpPr>
      <p:grpSpPr>
        <a:xfrm>
          <a:off x="0" y="0"/>
          <a:ext cx="0" cy="0"/>
          <a:chOff x="0" y="0"/>
          <a:chExt cx="0" cy="0"/>
        </a:xfrm>
      </p:grpSpPr>
      <p:sp>
        <p:nvSpPr>
          <p:cNvPr id="2" name="Section chip">
            <a:extLst>
              <a:ext uri="{FF2B5EF4-FFF2-40B4-BE49-F238E27FC236}">
                <a16:creationId xmlns:a16="http://schemas.microsoft.com/office/drawing/2014/main" id="{C1820861-2ED9-168C-5251-75E6036EC754}"/>
              </a:ext>
            </a:extLst>
          </p:cNvPr>
          <p:cNvSpPr/>
          <p:nvPr/>
        </p:nvSpPr>
        <p:spPr>
          <a:xfrm>
            <a:off x="548640" y="384048"/>
            <a:ext cx="1847088" cy="310896"/>
          </a:xfrm>
          <a:prstGeom prst="roundRect">
            <a:avLst>
              <a:gd name="adj" fmla="val 50000"/>
            </a:avLst>
          </a:prstGeom>
          <a:solidFill>
            <a:srgbClr val="00758F"/>
          </a:solidFill>
          <a:ln w="12700">
            <a:solidFill>
              <a:srgbClr val="00758F"/>
            </a:solidFill>
            <a:prstDash val="solid"/>
          </a:ln>
        </p:spPr>
        <p:txBody>
          <a:bodyPr/>
          <a:lstStyle/>
          <a:p>
            <a:endParaRPr lang="en-IN"/>
          </a:p>
        </p:txBody>
      </p:sp>
      <p:sp>
        <p:nvSpPr>
          <p:cNvPr id="3" name="Text 1">
            <a:extLst>
              <a:ext uri="{FF2B5EF4-FFF2-40B4-BE49-F238E27FC236}">
                <a16:creationId xmlns:a16="http://schemas.microsoft.com/office/drawing/2014/main" id="{A27AC300-DC97-5B08-48D5-9124375AC09B}"/>
              </a:ext>
            </a:extLst>
          </p:cNvPr>
          <p:cNvSpPr txBox="1"/>
          <p:nvPr/>
        </p:nvSpPr>
        <p:spPr>
          <a:xfrm>
            <a:off x="548640" y="384048"/>
            <a:ext cx="1847088"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MODULE 3 · SQL</a:t>
            </a:r>
            <a:endParaRPr lang="en-US" sz="1100" dirty="0"/>
          </a:p>
        </p:txBody>
      </p:sp>
      <p:sp>
        <p:nvSpPr>
          <p:cNvPr id="4" name="Slide title">
            <a:extLst>
              <a:ext uri="{FF2B5EF4-FFF2-40B4-BE49-F238E27FC236}">
                <a16:creationId xmlns:a16="http://schemas.microsoft.com/office/drawing/2014/main" id="{E80C02EA-5896-1707-F8EA-3D429FDB7C74}"/>
              </a:ext>
            </a:extLst>
          </p:cNvPr>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KPI Queries</a:t>
            </a:r>
            <a:endParaRPr lang="en-US" sz="3200" dirty="0"/>
          </a:p>
        </p:txBody>
      </p:sp>
      <p:sp>
        <p:nvSpPr>
          <p:cNvPr id="5" name="Shape 3">
            <a:extLst>
              <a:ext uri="{FF2B5EF4-FFF2-40B4-BE49-F238E27FC236}">
                <a16:creationId xmlns:a16="http://schemas.microsoft.com/office/drawing/2014/main" id="{6816A75F-A805-8791-3CDD-85F56242FAE2}"/>
              </a:ext>
            </a:extLst>
          </p:cNvPr>
          <p:cNvSpPr/>
          <p:nvPr/>
        </p:nvSpPr>
        <p:spPr>
          <a:xfrm>
            <a:off x="11091672" y="457200"/>
            <a:ext cx="548640" cy="548640"/>
          </a:xfrm>
          <a:prstGeom prst="ellipse">
            <a:avLst/>
          </a:prstGeom>
          <a:solidFill>
            <a:srgbClr val="00758F"/>
          </a:solidFill>
          <a:ln w="12700">
            <a:solidFill>
              <a:srgbClr val="00758F"/>
            </a:solidFill>
            <a:prstDash val="solid"/>
          </a:ln>
        </p:spPr>
        <p:txBody>
          <a:bodyPr/>
          <a:lstStyle/>
          <a:p>
            <a:endParaRPr lang="en-IN"/>
          </a:p>
        </p:txBody>
      </p:sp>
      <p:pic>
        <p:nvPicPr>
          <p:cNvPr id="6" name="Image 0" descr="preencoded.png">
            <a:extLst>
              <a:ext uri="{FF2B5EF4-FFF2-40B4-BE49-F238E27FC236}">
                <a16:creationId xmlns:a16="http://schemas.microsoft.com/office/drawing/2014/main" id="{DE368034-FD9C-AA3D-50FC-469946CBBE3E}"/>
              </a:ext>
            </a:extLst>
          </p:cNvPr>
          <p:cNvPicPr>
            <a:picLocks noChangeAspect="1"/>
          </p:cNvPicPr>
          <p:nvPr/>
        </p:nvPicPr>
        <p:blipFill>
          <a:blip r:embed="rId3"/>
          <a:stretch>
            <a:fillRect/>
          </a:stretch>
        </p:blipFill>
        <p:spPr>
          <a:xfrm>
            <a:off x="11228832" y="594360"/>
            <a:ext cx="274320" cy="274320"/>
          </a:xfrm>
          <a:prstGeom prst="rect">
            <a:avLst/>
          </a:prstGeom>
        </p:spPr>
      </p:pic>
      <p:sp>
        <p:nvSpPr>
          <p:cNvPr id="7" name="Text 4">
            <a:extLst>
              <a:ext uri="{FF2B5EF4-FFF2-40B4-BE49-F238E27FC236}">
                <a16:creationId xmlns:a16="http://schemas.microsoft.com/office/drawing/2014/main" id="{4DBDFB1D-750A-A46A-FBBC-72DED84B5D1A}"/>
              </a:ext>
            </a:extLst>
          </p:cNvPr>
          <p:cNvSpPr txBox="1"/>
          <p:nvPr/>
        </p:nvSpPr>
        <p:spPr>
          <a:xfrm>
            <a:off x="548640" y="1572768"/>
            <a:ext cx="3611880" cy="274320"/>
          </a:xfrm>
          <a:prstGeom prst="rect">
            <a:avLst/>
          </a:prstGeom>
          <a:noFill/>
          <a:ln/>
        </p:spPr>
        <p:txBody>
          <a:bodyPr wrap="square" lIns="0" tIns="0" rIns="0" bIns="0" rtlCol="0" anchor="ctr"/>
          <a:lstStyle/>
          <a:p>
            <a:pPr marL="0" indent="0">
              <a:buNone/>
            </a:pPr>
            <a:r>
              <a:rPr lang="en-US" sz="1200" b="1" dirty="0">
                <a:solidFill>
                  <a:srgbClr val="1F2A44"/>
                </a:solidFill>
                <a:latin typeface="Calibri" pitchFamily="34" charset="0"/>
                <a:ea typeface="Calibri" pitchFamily="34" charset="-122"/>
                <a:cs typeface="Calibri" pitchFamily="34" charset="-120"/>
              </a:rPr>
              <a:t>KPI 1: Weekday Vs Weekend</a:t>
            </a:r>
            <a:endParaRPr lang="en-US" sz="1200" dirty="0"/>
          </a:p>
        </p:txBody>
      </p:sp>
      <p:sp>
        <p:nvSpPr>
          <p:cNvPr id="13" name="Text 9">
            <a:extLst>
              <a:ext uri="{FF2B5EF4-FFF2-40B4-BE49-F238E27FC236}">
                <a16:creationId xmlns:a16="http://schemas.microsoft.com/office/drawing/2014/main" id="{73AA4CE9-12D7-FE53-1422-FBC7DC5E2B6E}"/>
              </a:ext>
            </a:extLst>
          </p:cNvPr>
          <p:cNvSpPr txBox="1"/>
          <p:nvPr/>
        </p:nvSpPr>
        <p:spPr>
          <a:xfrm>
            <a:off x="4297680" y="1572768"/>
            <a:ext cx="3611880" cy="274320"/>
          </a:xfrm>
          <a:prstGeom prst="rect">
            <a:avLst/>
          </a:prstGeom>
          <a:noFill/>
          <a:ln/>
        </p:spPr>
        <p:txBody>
          <a:bodyPr wrap="square" lIns="0" tIns="0" rIns="0" bIns="0" rtlCol="0" anchor="ctr"/>
          <a:lstStyle/>
          <a:p>
            <a:pPr marL="0" indent="0">
              <a:buNone/>
            </a:pPr>
            <a:r>
              <a:rPr lang="en-US" sz="1200" b="1" dirty="0">
                <a:solidFill>
                  <a:srgbClr val="1F2A44"/>
                </a:solidFill>
                <a:latin typeface="Calibri" pitchFamily="34" charset="0"/>
                <a:ea typeface="Calibri" pitchFamily="34" charset="-122"/>
                <a:cs typeface="Calibri" pitchFamily="34" charset="-120"/>
              </a:rPr>
              <a:t>KPI 2: Score 5 and credit card</a:t>
            </a:r>
            <a:endParaRPr lang="en-US" sz="1200" dirty="0"/>
          </a:p>
        </p:txBody>
      </p:sp>
      <p:sp>
        <p:nvSpPr>
          <p:cNvPr id="19" name="Text 14">
            <a:extLst>
              <a:ext uri="{FF2B5EF4-FFF2-40B4-BE49-F238E27FC236}">
                <a16:creationId xmlns:a16="http://schemas.microsoft.com/office/drawing/2014/main" id="{6598E6E5-329F-8F20-DEE6-9522F9BF505F}"/>
              </a:ext>
            </a:extLst>
          </p:cNvPr>
          <p:cNvSpPr txBox="1"/>
          <p:nvPr/>
        </p:nvSpPr>
        <p:spPr>
          <a:xfrm>
            <a:off x="8046720" y="1572768"/>
            <a:ext cx="3611880" cy="274320"/>
          </a:xfrm>
          <a:prstGeom prst="rect">
            <a:avLst/>
          </a:prstGeom>
          <a:noFill/>
          <a:ln/>
        </p:spPr>
        <p:txBody>
          <a:bodyPr wrap="square" lIns="0" tIns="0" rIns="0" bIns="0" rtlCol="0" anchor="ctr"/>
          <a:lstStyle/>
          <a:p>
            <a:pPr marL="0" indent="0">
              <a:buNone/>
            </a:pPr>
            <a:r>
              <a:rPr lang="en-US" sz="1200" b="1" dirty="0">
                <a:solidFill>
                  <a:srgbClr val="1F2A44"/>
                </a:solidFill>
                <a:latin typeface="Calibri" pitchFamily="34" charset="0"/>
                <a:ea typeface="Calibri" pitchFamily="34" charset="-122"/>
                <a:cs typeface="Calibri" pitchFamily="34" charset="-120"/>
              </a:rPr>
              <a:t>KPI 3: pet_shop delivery days</a:t>
            </a:r>
            <a:endParaRPr lang="en-US" sz="1200" dirty="0"/>
          </a:p>
        </p:txBody>
      </p:sp>
      <p:sp>
        <p:nvSpPr>
          <p:cNvPr id="20" name="Screenshot placeholder">
            <a:extLst>
              <a:ext uri="{FF2B5EF4-FFF2-40B4-BE49-F238E27FC236}">
                <a16:creationId xmlns:a16="http://schemas.microsoft.com/office/drawing/2014/main" id="{13F7AC0A-0D90-55AA-E1D0-2016A7E6785D}"/>
              </a:ext>
            </a:extLst>
          </p:cNvPr>
          <p:cNvSpPr/>
          <p:nvPr/>
        </p:nvSpPr>
        <p:spPr>
          <a:xfrm>
            <a:off x="74645" y="1920986"/>
            <a:ext cx="12027158" cy="4552965"/>
          </a:xfrm>
          <a:prstGeom prst="roundRect">
            <a:avLst>
              <a:gd name="adj" fmla="val 7500"/>
            </a:avLst>
          </a:prstGeom>
          <a:solidFill>
            <a:srgbClr val="FFFFFF"/>
          </a:solidFill>
          <a:ln w="19050">
            <a:solidFill>
              <a:srgbClr val="00758F"/>
            </a:solidFill>
            <a:prstDash val="dash"/>
          </a:ln>
          <a:effectLst>
            <a:outerShdw blurRad="114300" dist="25400" dir="5400000" algn="bl" rotWithShape="0">
              <a:srgbClr val="1F2A44">
                <a:alpha val="13000"/>
              </a:srgbClr>
            </a:outerShdw>
          </a:effectLst>
        </p:spPr>
        <p:txBody>
          <a:bodyPr/>
          <a:lstStyle/>
          <a:p>
            <a:endParaRPr lang="en-IN"/>
          </a:p>
        </p:txBody>
      </p:sp>
      <p:sp>
        <p:nvSpPr>
          <p:cNvPr id="25" name="Text 19">
            <a:extLst>
              <a:ext uri="{FF2B5EF4-FFF2-40B4-BE49-F238E27FC236}">
                <a16:creationId xmlns:a16="http://schemas.microsoft.com/office/drawing/2014/main" id="{9ACBC046-931F-84F1-61FA-C0BA584D5A6C}"/>
              </a:ext>
            </a:extLst>
          </p:cNvPr>
          <p:cNvSpPr txBox="1"/>
          <p:nvPr/>
        </p:nvSpPr>
        <p:spPr>
          <a:xfrm>
            <a:off x="353412" y="4075193"/>
            <a:ext cx="2386937" cy="274320"/>
          </a:xfrm>
          <a:prstGeom prst="rect">
            <a:avLst/>
          </a:prstGeom>
          <a:noFill/>
          <a:ln/>
        </p:spPr>
        <p:txBody>
          <a:bodyPr wrap="square" lIns="0" tIns="0" rIns="0" bIns="0" rtlCol="0" anchor="ctr"/>
          <a:lstStyle/>
          <a:p>
            <a:pPr marL="0" indent="0">
              <a:buNone/>
            </a:pPr>
            <a:r>
              <a:rPr lang="en-US" sz="1200" b="1" dirty="0">
                <a:solidFill>
                  <a:srgbClr val="1F2A44"/>
                </a:solidFill>
                <a:latin typeface="Calibri" pitchFamily="34" charset="0"/>
                <a:ea typeface="Calibri" pitchFamily="34" charset="-122"/>
                <a:cs typeface="Calibri" pitchFamily="34" charset="-120"/>
              </a:rPr>
              <a:t>KPI 4: sao paulo price and payment</a:t>
            </a:r>
            <a:endParaRPr lang="en-US" sz="1200" dirty="0"/>
          </a:p>
        </p:txBody>
      </p:sp>
      <p:sp>
        <p:nvSpPr>
          <p:cNvPr id="31" name="Text 24">
            <a:extLst>
              <a:ext uri="{FF2B5EF4-FFF2-40B4-BE49-F238E27FC236}">
                <a16:creationId xmlns:a16="http://schemas.microsoft.com/office/drawing/2014/main" id="{FB4C7886-0435-454B-B76F-8661D0961DB2}"/>
              </a:ext>
            </a:extLst>
          </p:cNvPr>
          <p:cNvSpPr txBox="1"/>
          <p:nvPr/>
        </p:nvSpPr>
        <p:spPr>
          <a:xfrm>
            <a:off x="5116505" y="3771332"/>
            <a:ext cx="2347208" cy="310896"/>
          </a:xfrm>
          <a:prstGeom prst="rect">
            <a:avLst/>
          </a:prstGeom>
          <a:noFill/>
          <a:ln/>
        </p:spPr>
        <p:txBody>
          <a:bodyPr wrap="square" lIns="0" tIns="0" rIns="0" bIns="0" rtlCol="0" anchor="ctr"/>
          <a:lstStyle/>
          <a:p>
            <a:pPr marL="0" indent="0">
              <a:buNone/>
            </a:pPr>
            <a:r>
              <a:rPr lang="en-US" sz="1200" b="1" dirty="0">
                <a:solidFill>
                  <a:srgbClr val="1F2A44"/>
                </a:solidFill>
                <a:latin typeface="Calibri" pitchFamily="34" charset="0"/>
                <a:ea typeface="Calibri" pitchFamily="34" charset="-122"/>
                <a:cs typeface="Calibri" pitchFamily="34" charset="-120"/>
              </a:rPr>
              <a:t>KPI 5: Shipping days Vs review scores</a:t>
            </a:r>
            <a:endParaRPr lang="en-US" sz="1200" dirty="0"/>
          </a:p>
        </p:txBody>
      </p:sp>
      <p:sp>
        <p:nvSpPr>
          <p:cNvPr id="37" name="Slide Number Placeholder 0">
            <a:extLst>
              <a:ext uri="{FF2B5EF4-FFF2-40B4-BE49-F238E27FC236}">
                <a16:creationId xmlns:a16="http://schemas.microsoft.com/office/drawing/2014/main" id="{CDDD0897-BACB-4835-54D6-FAA67728B6E0}"/>
              </a:ext>
            </a:extLst>
          </p:cNvPr>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15</a:t>
            </a:fld>
            <a:endParaRPr lang="en-US"/>
          </a:p>
        </p:txBody>
      </p:sp>
      <p:pic>
        <p:nvPicPr>
          <p:cNvPr id="15" name="Picture 14">
            <a:extLst>
              <a:ext uri="{FF2B5EF4-FFF2-40B4-BE49-F238E27FC236}">
                <a16:creationId xmlns:a16="http://schemas.microsoft.com/office/drawing/2014/main" id="{C22262F1-53D2-F9F3-208A-EAF3D304FD81}"/>
              </a:ext>
            </a:extLst>
          </p:cNvPr>
          <p:cNvPicPr>
            <a:picLocks noChangeAspect="1"/>
          </p:cNvPicPr>
          <p:nvPr/>
        </p:nvPicPr>
        <p:blipFill>
          <a:blip r:embed="rId4"/>
          <a:stretch>
            <a:fillRect/>
          </a:stretch>
        </p:blipFill>
        <p:spPr>
          <a:xfrm>
            <a:off x="4297680" y="2094722"/>
            <a:ext cx="3353091" cy="1425063"/>
          </a:xfrm>
          <a:prstGeom prst="rect">
            <a:avLst/>
          </a:prstGeom>
        </p:spPr>
      </p:pic>
      <p:pic>
        <p:nvPicPr>
          <p:cNvPr id="27" name="Picture 26">
            <a:extLst>
              <a:ext uri="{FF2B5EF4-FFF2-40B4-BE49-F238E27FC236}">
                <a16:creationId xmlns:a16="http://schemas.microsoft.com/office/drawing/2014/main" id="{C340F2FF-5BDF-4C94-8F80-722EB38759A7}"/>
              </a:ext>
            </a:extLst>
          </p:cNvPr>
          <p:cNvPicPr>
            <a:picLocks noChangeAspect="1"/>
          </p:cNvPicPr>
          <p:nvPr/>
        </p:nvPicPr>
        <p:blipFill>
          <a:blip r:embed="rId5"/>
          <a:stretch>
            <a:fillRect/>
          </a:stretch>
        </p:blipFill>
        <p:spPr>
          <a:xfrm>
            <a:off x="8104239" y="2185099"/>
            <a:ext cx="3162574" cy="1569856"/>
          </a:xfrm>
          <a:prstGeom prst="rect">
            <a:avLst/>
          </a:prstGeom>
        </p:spPr>
      </p:pic>
      <p:pic>
        <p:nvPicPr>
          <p:cNvPr id="29" name="Picture 28">
            <a:extLst>
              <a:ext uri="{FF2B5EF4-FFF2-40B4-BE49-F238E27FC236}">
                <a16:creationId xmlns:a16="http://schemas.microsoft.com/office/drawing/2014/main" id="{9B6086AA-D75B-AEA9-6523-7CEF4A119B9F}"/>
              </a:ext>
            </a:extLst>
          </p:cNvPr>
          <p:cNvPicPr>
            <a:picLocks noChangeAspect="1"/>
          </p:cNvPicPr>
          <p:nvPr/>
        </p:nvPicPr>
        <p:blipFill>
          <a:blip r:embed="rId6"/>
          <a:stretch>
            <a:fillRect/>
          </a:stretch>
        </p:blipFill>
        <p:spPr>
          <a:xfrm>
            <a:off x="8201018" y="4031370"/>
            <a:ext cx="3210694" cy="2168261"/>
          </a:xfrm>
          <a:prstGeom prst="rect">
            <a:avLst/>
          </a:prstGeom>
        </p:spPr>
      </p:pic>
      <p:pic>
        <p:nvPicPr>
          <p:cNvPr id="34" name="Picture 33">
            <a:extLst>
              <a:ext uri="{FF2B5EF4-FFF2-40B4-BE49-F238E27FC236}">
                <a16:creationId xmlns:a16="http://schemas.microsoft.com/office/drawing/2014/main" id="{98017895-FE56-B87D-2DC6-5B3D45126C27}"/>
              </a:ext>
            </a:extLst>
          </p:cNvPr>
          <p:cNvPicPr>
            <a:picLocks noChangeAspect="1"/>
          </p:cNvPicPr>
          <p:nvPr/>
        </p:nvPicPr>
        <p:blipFill>
          <a:blip r:embed="rId7"/>
          <a:stretch>
            <a:fillRect/>
          </a:stretch>
        </p:blipFill>
        <p:spPr>
          <a:xfrm>
            <a:off x="392974" y="2094722"/>
            <a:ext cx="3586378" cy="1812008"/>
          </a:xfrm>
          <a:prstGeom prst="rect">
            <a:avLst/>
          </a:prstGeom>
        </p:spPr>
      </p:pic>
      <p:pic>
        <p:nvPicPr>
          <p:cNvPr id="40" name="Picture 39">
            <a:extLst>
              <a:ext uri="{FF2B5EF4-FFF2-40B4-BE49-F238E27FC236}">
                <a16:creationId xmlns:a16="http://schemas.microsoft.com/office/drawing/2014/main" id="{D25E8F05-F81B-1E49-8489-A9C0E6E0B7F7}"/>
              </a:ext>
            </a:extLst>
          </p:cNvPr>
          <p:cNvPicPr>
            <a:picLocks noChangeAspect="1"/>
          </p:cNvPicPr>
          <p:nvPr/>
        </p:nvPicPr>
        <p:blipFill>
          <a:blip r:embed="rId8"/>
          <a:stretch>
            <a:fillRect/>
          </a:stretch>
        </p:blipFill>
        <p:spPr>
          <a:xfrm>
            <a:off x="353412" y="4423411"/>
            <a:ext cx="1758571" cy="1812008"/>
          </a:xfrm>
          <a:prstGeom prst="rect">
            <a:avLst/>
          </a:prstGeom>
        </p:spPr>
      </p:pic>
      <p:pic>
        <p:nvPicPr>
          <p:cNvPr id="43" name="Picture 42">
            <a:extLst>
              <a:ext uri="{FF2B5EF4-FFF2-40B4-BE49-F238E27FC236}">
                <a16:creationId xmlns:a16="http://schemas.microsoft.com/office/drawing/2014/main" id="{9F2D49A4-DFD1-7FA0-5173-4C3CDEDF0E4B}"/>
              </a:ext>
            </a:extLst>
          </p:cNvPr>
          <p:cNvPicPr>
            <a:picLocks noChangeAspect="1"/>
          </p:cNvPicPr>
          <p:nvPr/>
        </p:nvPicPr>
        <p:blipFill>
          <a:blip r:embed="rId9"/>
          <a:stretch>
            <a:fillRect/>
          </a:stretch>
        </p:blipFill>
        <p:spPr>
          <a:xfrm>
            <a:off x="2186163" y="4633335"/>
            <a:ext cx="2716335" cy="1556793"/>
          </a:xfrm>
          <a:prstGeom prst="rect">
            <a:avLst/>
          </a:prstGeom>
        </p:spPr>
      </p:pic>
      <p:pic>
        <p:nvPicPr>
          <p:cNvPr id="45" name="Picture 44">
            <a:extLst>
              <a:ext uri="{FF2B5EF4-FFF2-40B4-BE49-F238E27FC236}">
                <a16:creationId xmlns:a16="http://schemas.microsoft.com/office/drawing/2014/main" id="{D030CDBD-0C44-3086-DD4D-D1E6719F9C69}"/>
              </a:ext>
            </a:extLst>
          </p:cNvPr>
          <p:cNvPicPr>
            <a:picLocks noChangeAspect="1"/>
          </p:cNvPicPr>
          <p:nvPr/>
        </p:nvPicPr>
        <p:blipFill>
          <a:blip r:embed="rId10"/>
          <a:stretch>
            <a:fillRect/>
          </a:stretch>
        </p:blipFill>
        <p:spPr>
          <a:xfrm>
            <a:off x="5467608" y="4224740"/>
            <a:ext cx="1821896" cy="2106698"/>
          </a:xfrm>
          <a:prstGeom prst="rect">
            <a:avLst/>
          </a:prstGeom>
        </p:spPr>
      </p:pic>
    </p:spTree>
    <p:extLst>
      <p:ext uri="{BB962C8B-B14F-4D97-AF65-F5344CB8AC3E}">
        <p14:creationId xmlns:p14="http://schemas.microsoft.com/office/powerpoint/2010/main" val="1211691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chip"/>
          <p:cNvSpPr/>
          <p:nvPr/>
        </p:nvSpPr>
        <p:spPr>
          <a:xfrm>
            <a:off x="548640" y="384048"/>
            <a:ext cx="1847088" cy="310896"/>
          </a:xfrm>
          <a:prstGeom prst="roundRect">
            <a:avLst>
              <a:gd name="adj" fmla="val 50000"/>
            </a:avLst>
          </a:prstGeom>
          <a:solidFill>
            <a:srgbClr val="00758F"/>
          </a:solidFill>
          <a:ln w="12700">
            <a:solidFill>
              <a:srgbClr val="00758F"/>
            </a:solidFill>
            <a:prstDash val="solid"/>
          </a:ln>
        </p:spPr>
        <p:txBody>
          <a:bodyPr/>
          <a:lstStyle/>
          <a:p>
            <a:endParaRPr lang="en-IN"/>
          </a:p>
        </p:txBody>
      </p:sp>
      <p:sp>
        <p:nvSpPr>
          <p:cNvPr id="3" name="Text 1"/>
          <p:cNvSpPr txBox="1"/>
          <p:nvPr/>
        </p:nvSpPr>
        <p:spPr>
          <a:xfrm>
            <a:off x="548640" y="384048"/>
            <a:ext cx="1847088"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MODULE 3 · SQL</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KPI Query Outputs</a:t>
            </a:r>
            <a:endParaRPr lang="en-US" sz="3200" dirty="0"/>
          </a:p>
        </p:txBody>
      </p:sp>
      <p:sp>
        <p:nvSpPr>
          <p:cNvPr id="5" name="Shape 3"/>
          <p:cNvSpPr/>
          <p:nvPr/>
        </p:nvSpPr>
        <p:spPr>
          <a:xfrm>
            <a:off x="11091672" y="457200"/>
            <a:ext cx="548640" cy="548640"/>
          </a:xfrm>
          <a:prstGeom prst="ellipse">
            <a:avLst/>
          </a:prstGeom>
          <a:solidFill>
            <a:srgbClr val="00758F"/>
          </a:solidFill>
          <a:ln w="12700">
            <a:solidFill>
              <a:srgbClr val="00758F"/>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11228832" y="594360"/>
            <a:ext cx="274320" cy="274320"/>
          </a:xfrm>
          <a:prstGeom prst="rect">
            <a:avLst/>
          </a:prstGeom>
        </p:spPr>
      </p:pic>
      <p:sp>
        <p:nvSpPr>
          <p:cNvPr id="7" name="Text 4"/>
          <p:cNvSpPr txBox="1"/>
          <p:nvPr/>
        </p:nvSpPr>
        <p:spPr>
          <a:xfrm>
            <a:off x="548640" y="1572768"/>
            <a:ext cx="3611880" cy="274320"/>
          </a:xfrm>
          <a:prstGeom prst="rect">
            <a:avLst/>
          </a:prstGeom>
          <a:noFill/>
          <a:ln/>
        </p:spPr>
        <p:txBody>
          <a:bodyPr wrap="square" lIns="0" tIns="0" rIns="0" bIns="0" rtlCol="0" anchor="ctr"/>
          <a:lstStyle/>
          <a:p>
            <a:pPr marL="0" indent="0">
              <a:buNone/>
            </a:pPr>
            <a:r>
              <a:rPr lang="en-US" sz="1200" b="1" dirty="0">
                <a:solidFill>
                  <a:srgbClr val="1F2A44"/>
                </a:solidFill>
                <a:latin typeface="Calibri" pitchFamily="34" charset="0"/>
                <a:ea typeface="Calibri" pitchFamily="34" charset="-122"/>
                <a:cs typeface="Calibri" pitchFamily="34" charset="-120"/>
              </a:rPr>
              <a:t>KPI 1: Weekday Vs Weekend</a:t>
            </a:r>
            <a:endParaRPr lang="en-US" sz="1200" dirty="0"/>
          </a:p>
        </p:txBody>
      </p:sp>
      <p:sp>
        <p:nvSpPr>
          <p:cNvPr id="8" name="Screenshot placeholder"/>
          <p:cNvSpPr/>
          <p:nvPr/>
        </p:nvSpPr>
        <p:spPr>
          <a:xfrm>
            <a:off x="548640" y="1883664"/>
            <a:ext cx="3611880" cy="1463040"/>
          </a:xfrm>
          <a:prstGeom prst="roundRect">
            <a:avLst>
              <a:gd name="adj" fmla="val 7500"/>
            </a:avLst>
          </a:prstGeom>
          <a:blipFill dpi="0" rotWithShape="1">
            <a:blip r:embed="rId4">
              <a:extLst>
                <a:ext uri="{28A0092B-C50C-407E-A947-70E740481C1C}">
                  <a14:useLocalDpi xmlns:a14="http://schemas.microsoft.com/office/drawing/2010/main" val="0"/>
                </a:ext>
              </a:extLst>
            </a:blip>
            <a:srcRect/>
            <a:stretch>
              <a:fillRect t="37990" b="37990"/>
            </a:stretch>
          </a:blipFill>
          <a:ln w="19050">
            <a:solidFill>
              <a:srgbClr val="00758F"/>
            </a:solidFill>
            <a:prstDash val="dash"/>
          </a:ln>
          <a:effectLst>
            <a:outerShdw blurRad="114300" dist="25400" dir="5400000" algn="bl" rotWithShape="0">
              <a:srgbClr val="1F2A44">
                <a:alpha val="13000"/>
              </a:srgbClr>
            </a:outerShdw>
          </a:effectLst>
        </p:spPr>
        <p:txBody>
          <a:bodyPr/>
          <a:lstStyle/>
          <a:p>
            <a:endParaRPr lang="en-IN" dirty="0"/>
          </a:p>
        </p:txBody>
      </p:sp>
      <p:sp>
        <p:nvSpPr>
          <p:cNvPr id="12" name="Text 8"/>
          <p:cNvSpPr txBox="1"/>
          <p:nvPr/>
        </p:nvSpPr>
        <p:spPr>
          <a:xfrm>
            <a:off x="548640" y="3401568"/>
            <a:ext cx="3611880" cy="457200"/>
          </a:xfrm>
          <a:prstGeom prst="rect">
            <a:avLst/>
          </a:prstGeom>
          <a:noFill/>
          <a:ln/>
        </p:spPr>
        <p:txBody>
          <a:bodyPr wrap="square" lIns="0" tIns="0" rIns="0" bIns="0" rtlCol="0" anchor="t"/>
          <a:lstStyle/>
          <a:p>
            <a:pPr marL="0" indent="0">
              <a:buNone/>
            </a:pPr>
            <a:r>
              <a:rPr lang="en-US" sz="1250" b="1" dirty="0">
                <a:solidFill>
                  <a:srgbClr val="00758F"/>
                </a:solidFill>
                <a:latin typeface="Calibri" pitchFamily="34" charset="0"/>
                <a:ea typeface="Calibri" pitchFamily="34" charset="-122"/>
                <a:cs typeface="Calibri" pitchFamily="34" charset="-120"/>
              </a:rPr>
              <a:t>Weekday 76,593 and weekend 22,847 orders</a:t>
            </a:r>
            <a:endParaRPr lang="en-US" sz="1250" dirty="0"/>
          </a:p>
        </p:txBody>
      </p:sp>
      <p:sp>
        <p:nvSpPr>
          <p:cNvPr id="13" name="Text 9"/>
          <p:cNvSpPr txBox="1"/>
          <p:nvPr/>
        </p:nvSpPr>
        <p:spPr>
          <a:xfrm>
            <a:off x="4297680" y="1572768"/>
            <a:ext cx="3611880" cy="274320"/>
          </a:xfrm>
          <a:prstGeom prst="rect">
            <a:avLst/>
          </a:prstGeom>
          <a:noFill/>
          <a:ln/>
        </p:spPr>
        <p:txBody>
          <a:bodyPr wrap="square" lIns="0" tIns="0" rIns="0" bIns="0" rtlCol="0" anchor="ctr"/>
          <a:lstStyle/>
          <a:p>
            <a:pPr marL="0" indent="0">
              <a:buNone/>
            </a:pPr>
            <a:r>
              <a:rPr lang="en-US" sz="1200" b="1" dirty="0">
                <a:solidFill>
                  <a:srgbClr val="1F2A44"/>
                </a:solidFill>
                <a:latin typeface="Calibri" pitchFamily="34" charset="0"/>
                <a:ea typeface="Calibri" pitchFamily="34" charset="-122"/>
                <a:cs typeface="Calibri" pitchFamily="34" charset="-120"/>
              </a:rPr>
              <a:t>KPI 2: Score 5 and credit card</a:t>
            </a:r>
            <a:endParaRPr lang="en-US" sz="1200" dirty="0"/>
          </a:p>
        </p:txBody>
      </p:sp>
      <p:sp>
        <p:nvSpPr>
          <p:cNvPr id="14" name="Screenshot placeholder"/>
          <p:cNvSpPr/>
          <p:nvPr/>
        </p:nvSpPr>
        <p:spPr>
          <a:xfrm>
            <a:off x="4297680" y="1883664"/>
            <a:ext cx="3611880" cy="1463040"/>
          </a:xfrm>
          <a:prstGeom prst="roundRect">
            <a:avLst>
              <a:gd name="adj" fmla="val 7500"/>
            </a:avLst>
          </a:prstGeom>
          <a:blipFill dpi="0" rotWithShape="1">
            <a:blip r:embed="rId5">
              <a:extLst>
                <a:ext uri="{28A0092B-C50C-407E-A947-70E740481C1C}">
                  <a14:useLocalDpi xmlns:a14="http://schemas.microsoft.com/office/drawing/2010/main" val="0"/>
                </a:ext>
              </a:extLst>
            </a:blip>
            <a:srcRect/>
            <a:stretch>
              <a:fillRect/>
            </a:stretch>
          </a:blipFill>
          <a:ln w="19050">
            <a:solidFill>
              <a:srgbClr val="00758F"/>
            </a:solidFill>
            <a:prstDash val="dash"/>
          </a:ln>
          <a:effectLst>
            <a:outerShdw blurRad="114300" dist="25400" dir="5400000" algn="bl" rotWithShape="0">
              <a:srgbClr val="1F2A44">
                <a:alpha val="13000"/>
              </a:srgbClr>
            </a:outerShdw>
          </a:effectLst>
        </p:spPr>
        <p:txBody>
          <a:bodyPr/>
          <a:lstStyle/>
          <a:p>
            <a:endParaRPr lang="en-IN"/>
          </a:p>
        </p:txBody>
      </p:sp>
      <p:sp>
        <p:nvSpPr>
          <p:cNvPr id="18" name="Text 13"/>
          <p:cNvSpPr txBox="1"/>
          <p:nvPr/>
        </p:nvSpPr>
        <p:spPr>
          <a:xfrm>
            <a:off x="4297680" y="3401568"/>
            <a:ext cx="3611880" cy="457200"/>
          </a:xfrm>
          <a:prstGeom prst="rect">
            <a:avLst/>
          </a:prstGeom>
          <a:noFill/>
          <a:ln/>
        </p:spPr>
        <p:txBody>
          <a:bodyPr wrap="square" lIns="0" tIns="0" rIns="0" bIns="0" rtlCol="0" anchor="t"/>
          <a:lstStyle/>
          <a:p>
            <a:pPr marL="0" indent="0">
              <a:buNone/>
            </a:pPr>
            <a:r>
              <a:rPr lang="en-US" sz="1250" b="1" dirty="0">
                <a:solidFill>
                  <a:srgbClr val="00758F"/>
                </a:solidFill>
                <a:latin typeface="Calibri" pitchFamily="34" charset="0"/>
                <a:ea typeface="Calibri" pitchFamily="34" charset="-122"/>
                <a:cs typeface="Calibri" pitchFamily="34" charset="-120"/>
              </a:rPr>
              <a:t>43,981 orders</a:t>
            </a:r>
            <a:endParaRPr lang="en-US" sz="1250" dirty="0"/>
          </a:p>
        </p:txBody>
      </p:sp>
      <p:sp>
        <p:nvSpPr>
          <p:cNvPr id="19" name="Text 14"/>
          <p:cNvSpPr txBox="1"/>
          <p:nvPr/>
        </p:nvSpPr>
        <p:spPr>
          <a:xfrm>
            <a:off x="8046720" y="1572768"/>
            <a:ext cx="3611880" cy="274320"/>
          </a:xfrm>
          <a:prstGeom prst="rect">
            <a:avLst/>
          </a:prstGeom>
          <a:noFill/>
          <a:ln/>
        </p:spPr>
        <p:txBody>
          <a:bodyPr wrap="square" lIns="0" tIns="0" rIns="0" bIns="0" rtlCol="0" anchor="ctr"/>
          <a:lstStyle/>
          <a:p>
            <a:pPr marL="0" indent="0">
              <a:buNone/>
            </a:pPr>
            <a:r>
              <a:rPr lang="en-US" sz="1200" b="1" dirty="0">
                <a:solidFill>
                  <a:srgbClr val="1F2A44"/>
                </a:solidFill>
                <a:latin typeface="Calibri" pitchFamily="34" charset="0"/>
                <a:ea typeface="Calibri" pitchFamily="34" charset="-122"/>
                <a:cs typeface="Calibri" pitchFamily="34" charset="-120"/>
              </a:rPr>
              <a:t>KPI 3: pet_shop delivery days</a:t>
            </a:r>
            <a:endParaRPr lang="en-US" sz="1200" dirty="0"/>
          </a:p>
        </p:txBody>
      </p:sp>
      <p:sp>
        <p:nvSpPr>
          <p:cNvPr id="20" name="Screenshot placeholder"/>
          <p:cNvSpPr/>
          <p:nvPr/>
        </p:nvSpPr>
        <p:spPr>
          <a:xfrm>
            <a:off x="8046720" y="1883664"/>
            <a:ext cx="3611880" cy="1463040"/>
          </a:xfrm>
          <a:prstGeom prst="roundRect">
            <a:avLst>
              <a:gd name="adj" fmla="val 7500"/>
            </a:avLst>
          </a:prstGeom>
          <a:blipFill dpi="0" rotWithShape="1">
            <a:blip r:embed="rId6">
              <a:extLst>
                <a:ext uri="{28A0092B-C50C-407E-A947-70E740481C1C}">
                  <a14:useLocalDpi xmlns:a14="http://schemas.microsoft.com/office/drawing/2010/main" val="0"/>
                </a:ext>
              </a:extLst>
            </a:blip>
            <a:srcRect/>
            <a:stretch>
              <a:fillRect/>
            </a:stretch>
          </a:blipFill>
          <a:ln w="19050">
            <a:solidFill>
              <a:srgbClr val="00758F"/>
            </a:solidFill>
            <a:prstDash val="dash"/>
          </a:ln>
          <a:effectLst>
            <a:outerShdw blurRad="114300" dist="25400" dir="5400000" algn="bl" rotWithShape="0">
              <a:srgbClr val="1F2A44">
                <a:alpha val="13000"/>
              </a:srgbClr>
            </a:outerShdw>
          </a:effectLst>
        </p:spPr>
        <p:txBody>
          <a:bodyPr/>
          <a:lstStyle/>
          <a:p>
            <a:endParaRPr lang="en-IN"/>
          </a:p>
        </p:txBody>
      </p:sp>
      <p:sp>
        <p:nvSpPr>
          <p:cNvPr id="24" name="Text 18"/>
          <p:cNvSpPr txBox="1"/>
          <p:nvPr/>
        </p:nvSpPr>
        <p:spPr>
          <a:xfrm>
            <a:off x="8046720" y="3401568"/>
            <a:ext cx="3611880" cy="457200"/>
          </a:xfrm>
          <a:prstGeom prst="rect">
            <a:avLst/>
          </a:prstGeom>
          <a:noFill/>
          <a:ln/>
        </p:spPr>
        <p:txBody>
          <a:bodyPr wrap="square" lIns="0" tIns="0" rIns="0" bIns="0" rtlCol="0" anchor="t"/>
          <a:lstStyle/>
          <a:p>
            <a:pPr marL="0" indent="0">
              <a:buNone/>
            </a:pPr>
            <a:r>
              <a:rPr lang="en-US" sz="1250" b="1" dirty="0">
                <a:solidFill>
                  <a:srgbClr val="00758F"/>
                </a:solidFill>
                <a:latin typeface="Calibri" pitchFamily="34" charset="0"/>
                <a:ea typeface="Calibri" pitchFamily="34" charset="-122"/>
                <a:cs typeface="Calibri" pitchFamily="34" charset="-120"/>
              </a:rPr>
              <a:t>pet_shop 11.31 days, overall 12.50 days</a:t>
            </a:r>
            <a:endParaRPr lang="en-US" sz="1250" dirty="0"/>
          </a:p>
        </p:txBody>
      </p:sp>
      <p:sp>
        <p:nvSpPr>
          <p:cNvPr id="25" name="Text 19"/>
          <p:cNvSpPr txBox="1"/>
          <p:nvPr/>
        </p:nvSpPr>
        <p:spPr>
          <a:xfrm>
            <a:off x="548640" y="4041648"/>
            <a:ext cx="5440680" cy="274320"/>
          </a:xfrm>
          <a:prstGeom prst="rect">
            <a:avLst/>
          </a:prstGeom>
          <a:noFill/>
          <a:ln/>
        </p:spPr>
        <p:txBody>
          <a:bodyPr wrap="square" lIns="0" tIns="0" rIns="0" bIns="0" rtlCol="0" anchor="ctr"/>
          <a:lstStyle/>
          <a:p>
            <a:pPr marL="0" indent="0">
              <a:buNone/>
            </a:pPr>
            <a:r>
              <a:rPr lang="en-US" sz="1200" b="1" dirty="0">
                <a:solidFill>
                  <a:srgbClr val="1F2A44"/>
                </a:solidFill>
                <a:latin typeface="Calibri" pitchFamily="34" charset="0"/>
                <a:ea typeface="Calibri" pitchFamily="34" charset="-122"/>
                <a:cs typeface="Calibri" pitchFamily="34" charset="-120"/>
              </a:rPr>
              <a:t>KPI 4: sao paulo price and payment</a:t>
            </a:r>
            <a:endParaRPr lang="en-US" sz="1200" dirty="0"/>
          </a:p>
        </p:txBody>
      </p:sp>
      <p:sp>
        <p:nvSpPr>
          <p:cNvPr id="26" name="Screenshot placeholder"/>
          <p:cNvSpPr/>
          <p:nvPr/>
        </p:nvSpPr>
        <p:spPr>
          <a:xfrm>
            <a:off x="548640" y="4352544"/>
            <a:ext cx="5440680" cy="1463040"/>
          </a:xfrm>
          <a:prstGeom prst="roundRect">
            <a:avLst>
              <a:gd name="adj" fmla="val 7500"/>
            </a:avLst>
          </a:prstGeom>
          <a:blipFill dpi="0" rotWithShape="1">
            <a:blip r:embed="rId7">
              <a:extLst>
                <a:ext uri="{28A0092B-C50C-407E-A947-70E740481C1C}">
                  <a14:useLocalDpi xmlns:a14="http://schemas.microsoft.com/office/drawing/2010/main" val="0"/>
                </a:ext>
              </a:extLst>
            </a:blip>
            <a:srcRect/>
            <a:stretch>
              <a:fillRect/>
            </a:stretch>
          </a:blipFill>
          <a:ln w="19050">
            <a:solidFill>
              <a:srgbClr val="00758F"/>
            </a:solidFill>
            <a:prstDash val="dash"/>
          </a:ln>
          <a:effectLst>
            <a:outerShdw blurRad="114300" dist="25400" dir="5400000" algn="bl" rotWithShape="0">
              <a:srgbClr val="1F2A44">
                <a:alpha val="13000"/>
              </a:srgbClr>
            </a:outerShdw>
          </a:effectLst>
        </p:spPr>
        <p:txBody>
          <a:bodyPr/>
          <a:lstStyle/>
          <a:p>
            <a:endParaRPr lang="en-IN"/>
          </a:p>
        </p:txBody>
      </p:sp>
      <p:sp>
        <p:nvSpPr>
          <p:cNvPr id="30" name="Text 23"/>
          <p:cNvSpPr txBox="1"/>
          <p:nvPr/>
        </p:nvSpPr>
        <p:spPr>
          <a:xfrm>
            <a:off x="548640" y="5870448"/>
            <a:ext cx="5440680" cy="457200"/>
          </a:xfrm>
          <a:prstGeom prst="rect">
            <a:avLst/>
          </a:prstGeom>
          <a:noFill/>
          <a:ln/>
        </p:spPr>
        <p:txBody>
          <a:bodyPr wrap="square" lIns="0" tIns="0" rIns="0" bIns="0" rtlCol="0" anchor="t"/>
          <a:lstStyle/>
          <a:p>
            <a:pPr marL="0" indent="0">
              <a:buNone/>
            </a:pPr>
            <a:r>
              <a:rPr lang="en-US" sz="1250" b="1" dirty="0">
                <a:solidFill>
                  <a:srgbClr val="00758F"/>
                </a:solidFill>
                <a:latin typeface="Calibri" pitchFamily="34" charset="0"/>
                <a:ea typeface="Calibri" pitchFamily="34" charset="-122"/>
                <a:cs typeface="Calibri" pitchFamily="34" charset="-120"/>
              </a:rPr>
              <a:t>Average price ₹112.58, average payment ₹138.74</a:t>
            </a:r>
            <a:endParaRPr lang="en-US" sz="1250" dirty="0"/>
          </a:p>
        </p:txBody>
      </p:sp>
      <p:sp>
        <p:nvSpPr>
          <p:cNvPr id="31" name="Text 24"/>
          <p:cNvSpPr txBox="1"/>
          <p:nvPr/>
        </p:nvSpPr>
        <p:spPr>
          <a:xfrm>
            <a:off x="6199632" y="4041648"/>
            <a:ext cx="5440680" cy="274320"/>
          </a:xfrm>
          <a:prstGeom prst="rect">
            <a:avLst/>
          </a:prstGeom>
          <a:noFill/>
          <a:ln/>
        </p:spPr>
        <p:txBody>
          <a:bodyPr wrap="square" lIns="0" tIns="0" rIns="0" bIns="0" rtlCol="0" anchor="ctr"/>
          <a:lstStyle/>
          <a:p>
            <a:pPr marL="0" indent="0">
              <a:buNone/>
            </a:pPr>
            <a:r>
              <a:rPr lang="en-US" sz="1200" b="1" dirty="0">
                <a:solidFill>
                  <a:srgbClr val="1F2A44"/>
                </a:solidFill>
                <a:latin typeface="Calibri" pitchFamily="34" charset="0"/>
                <a:ea typeface="Calibri" pitchFamily="34" charset="-122"/>
                <a:cs typeface="Calibri" pitchFamily="34" charset="-120"/>
              </a:rPr>
              <a:t>KPI 5: Shipping days Vs review scores</a:t>
            </a:r>
            <a:endParaRPr lang="en-US" sz="1200" dirty="0"/>
          </a:p>
        </p:txBody>
      </p:sp>
      <p:sp>
        <p:nvSpPr>
          <p:cNvPr id="32" name="Screenshot placeholder"/>
          <p:cNvSpPr/>
          <p:nvPr/>
        </p:nvSpPr>
        <p:spPr>
          <a:xfrm>
            <a:off x="6199632" y="4352544"/>
            <a:ext cx="5440680" cy="1463040"/>
          </a:xfrm>
          <a:prstGeom prst="roundRect">
            <a:avLst>
              <a:gd name="adj" fmla="val 7500"/>
            </a:avLst>
          </a:prstGeom>
          <a:blipFill dpi="0" rotWithShape="1">
            <a:blip r:embed="rId8">
              <a:extLst>
                <a:ext uri="{28A0092B-C50C-407E-A947-70E740481C1C}">
                  <a14:useLocalDpi xmlns:a14="http://schemas.microsoft.com/office/drawing/2010/main" val="0"/>
                </a:ext>
              </a:extLst>
            </a:blip>
            <a:srcRect/>
            <a:stretch>
              <a:fillRect/>
            </a:stretch>
          </a:blipFill>
          <a:ln w="19050">
            <a:solidFill>
              <a:srgbClr val="00758F"/>
            </a:solidFill>
            <a:prstDash val="dash"/>
          </a:ln>
          <a:effectLst>
            <a:outerShdw blurRad="114300" dist="25400" dir="5400000" algn="bl" rotWithShape="0">
              <a:srgbClr val="1F2A44">
                <a:alpha val="13000"/>
              </a:srgbClr>
            </a:outerShdw>
          </a:effectLst>
        </p:spPr>
        <p:txBody>
          <a:bodyPr/>
          <a:lstStyle/>
          <a:p>
            <a:endParaRPr lang="en-IN"/>
          </a:p>
        </p:txBody>
      </p:sp>
      <p:sp>
        <p:nvSpPr>
          <p:cNvPr id="36" name="Text 28"/>
          <p:cNvSpPr txBox="1"/>
          <p:nvPr/>
        </p:nvSpPr>
        <p:spPr>
          <a:xfrm>
            <a:off x="6199632" y="5870448"/>
            <a:ext cx="5440680" cy="457200"/>
          </a:xfrm>
          <a:prstGeom prst="rect">
            <a:avLst/>
          </a:prstGeom>
          <a:noFill/>
          <a:ln/>
        </p:spPr>
        <p:txBody>
          <a:bodyPr wrap="square" lIns="0" tIns="0" rIns="0" bIns="0" rtlCol="0" anchor="t"/>
          <a:lstStyle/>
          <a:p>
            <a:pPr marL="0" indent="0">
              <a:buNone/>
            </a:pPr>
            <a:r>
              <a:rPr lang="en-US" sz="1250" b="1" dirty="0">
                <a:solidFill>
                  <a:srgbClr val="00758F"/>
                </a:solidFill>
                <a:latin typeface="Calibri" pitchFamily="34" charset="0"/>
                <a:ea typeface="Calibri" pitchFamily="34" charset="-122"/>
                <a:cs typeface="Calibri" pitchFamily="34" charset="-120"/>
              </a:rPr>
              <a:t>21.25 days at score 1 down to 10.63 days at score 5</a:t>
            </a:r>
            <a:endParaRPr lang="en-US" sz="1250" dirty="0"/>
          </a:p>
        </p:txBody>
      </p:sp>
      <p:sp>
        <p:nvSpPr>
          <p:cNvPr id="37"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tion chip"/>
          <p:cNvSpPr/>
          <p:nvPr/>
        </p:nvSpPr>
        <p:spPr>
          <a:xfrm>
            <a:off x="548640" y="384048"/>
            <a:ext cx="2231136" cy="310896"/>
          </a:xfrm>
          <a:prstGeom prst="roundRect">
            <a:avLst>
              <a:gd name="adj" fmla="val 50000"/>
            </a:avLst>
          </a:prstGeom>
          <a:solidFill>
            <a:srgbClr val="E97627"/>
          </a:solidFill>
          <a:ln w="12700">
            <a:solidFill>
              <a:srgbClr val="E97627"/>
            </a:solidFill>
            <a:prstDash val="solid"/>
          </a:ln>
        </p:spPr>
        <p:txBody>
          <a:bodyPr/>
          <a:lstStyle/>
          <a:p>
            <a:endParaRPr lang="en-IN"/>
          </a:p>
        </p:txBody>
      </p:sp>
      <p:sp>
        <p:nvSpPr>
          <p:cNvPr id="3" name="Text 1"/>
          <p:cNvSpPr txBox="1"/>
          <p:nvPr/>
        </p:nvSpPr>
        <p:spPr>
          <a:xfrm>
            <a:off x="548640" y="384048"/>
            <a:ext cx="2231136"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MODULE 4 · TABLEAU</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Final Dashboard</a:t>
            </a:r>
            <a:endParaRPr lang="en-US" sz="3200" dirty="0"/>
          </a:p>
        </p:txBody>
      </p:sp>
      <p:sp>
        <p:nvSpPr>
          <p:cNvPr id="5" name="Shape 3"/>
          <p:cNvSpPr/>
          <p:nvPr/>
        </p:nvSpPr>
        <p:spPr>
          <a:xfrm>
            <a:off x="11091672" y="457200"/>
            <a:ext cx="548640" cy="548640"/>
          </a:xfrm>
          <a:prstGeom prst="ellipse">
            <a:avLst/>
          </a:prstGeom>
          <a:solidFill>
            <a:srgbClr val="E97627"/>
          </a:solidFill>
          <a:ln w="12700">
            <a:solidFill>
              <a:srgbClr val="E97627"/>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11228832" y="594360"/>
            <a:ext cx="274320" cy="274320"/>
          </a:xfrm>
          <a:prstGeom prst="rect">
            <a:avLst/>
          </a:prstGeom>
        </p:spPr>
      </p:pic>
      <p:sp>
        <p:nvSpPr>
          <p:cNvPr id="7" name="Text 4"/>
          <p:cNvSpPr txBox="1"/>
          <p:nvPr/>
        </p:nvSpPr>
        <p:spPr>
          <a:xfrm>
            <a:off x="548640" y="1572768"/>
            <a:ext cx="11064240" cy="310896"/>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All five KPIs combined in one Tableau dashboard</a:t>
            </a:r>
            <a:endParaRPr lang="en-US" sz="1300" dirty="0"/>
          </a:p>
        </p:txBody>
      </p:sp>
      <p:sp>
        <p:nvSpPr>
          <p:cNvPr id="8" name="Screenshot placeholder"/>
          <p:cNvSpPr/>
          <p:nvPr/>
        </p:nvSpPr>
        <p:spPr>
          <a:xfrm>
            <a:off x="548640" y="1965960"/>
            <a:ext cx="11091672" cy="4297680"/>
          </a:xfrm>
          <a:prstGeom prst="roundRect">
            <a:avLst>
              <a:gd name="adj" fmla="val 2553"/>
            </a:avLst>
          </a:prstGeom>
          <a:blipFill dpi="0" rotWithShape="1">
            <a:blip r:embed="rId4">
              <a:extLst>
                <a:ext uri="{28A0092B-C50C-407E-A947-70E740481C1C}">
                  <a14:useLocalDpi xmlns:a14="http://schemas.microsoft.com/office/drawing/2010/main" val="0"/>
                </a:ext>
              </a:extLst>
            </a:blip>
            <a:srcRect/>
            <a:stretch>
              <a:fillRect/>
            </a:stretch>
          </a:blipFill>
          <a:ln w="19050">
            <a:solidFill>
              <a:srgbClr val="E97627"/>
            </a:solidFill>
            <a:prstDash val="dash"/>
          </a:ln>
          <a:effectLst>
            <a:outerShdw blurRad="114300" dist="25400" dir="5400000" algn="bl" rotWithShape="0">
              <a:srgbClr val="1F2A44">
                <a:alpha val="13000"/>
              </a:srgbClr>
            </a:outerShdw>
          </a:effectLst>
        </p:spPr>
        <p:txBody>
          <a:bodyPr/>
          <a:lstStyle/>
          <a:p>
            <a:endParaRPr lang="en-IN"/>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ction chip"/>
          <p:cNvSpPr/>
          <p:nvPr/>
        </p:nvSpPr>
        <p:spPr>
          <a:xfrm>
            <a:off x="548640" y="384048"/>
            <a:ext cx="1463040" cy="310896"/>
          </a:xfrm>
          <a:prstGeom prst="roundRect">
            <a:avLst>
              <a:gd name="adj" fmla="val 50000"/>
            </a:avLst>
          </a:prstGeom>
          <a:solidFill>
            <a:srgbClr val="2F5BEA"/>
          </a:solidFill>
          <a:ln w="12700">
            <a:solidFill>
              <a:srgbClr val="2F5BEA"/>
            </a:solidFill>
            <a:prstDash val="solid"/>
          </a:ln>
        </p:spPr>
        <p:txBody>
          <a:bodyPr/>
          <a:lstStyle/>
          <a:p>
            <a:endParaRPr lang="en-IN"/>
          </a:p>
        </p:txBody>
      </p:sp>
      <p:sp>
        <p:nvSpPr>
          <p:cNvPr id="3" name="Text 1"/>
          <p:cNvSpPr txBox="1"/>
          <p:nvPr/>
        </p:nvSpPr>
        <p:spPr>
          <a:xfrm>
            <a:off x="548640" y="384048"/>
            <a:ext cx="1463040"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COMPARISON</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Cross-Tool Comparison</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3657600"/>
        </p:xfrm>
        <a:graphic>
          <a:graphicData uri="http://schemas.openxmlformats.org/drawingml/2006/table">
            <a:tbl>
              <a:tblPr/>
              <a:tblGrid>
                <a:gridCol w="3410712">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45720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KPI</a:t>
                      </a:r>
                      <a:endParaRPr lang="en-US" sz="14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0F1B3D"/>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Excel</a:t>
                      </a:r>
                      <a:endParaRPr lang="en-US" sz="14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217346"/>
                    </a:solidFill>
                  </a:tcPr>
                </a:tc>
                <a:tc>
                  <a:txBody>
                    <a:bodyPr/>
                    <a:lstStyle/>
                    <a:p>
                      <a:pPr marL="0" indent="0" algn="ctr">
                        <a:buNone/>
                      </a:pPr>
                      <a:r>
                        <a:rPr lang="en-US" sz="1400" b="1" dirty="0">
                          <a:solidFill>
                            <a:srgbClr val="1F1F1F"/>
                          </a:solidFill>
                          <a:latin typeface="Calibri" pitchFamily="34" charset="0"/>
                          <a:ea typeface="Calibri" pitchFamily="34" charset="-122"/>
                          <a:cs typeface="Calibri" pitchFamily="34" charset="-120"/>
                        </a:rPr>
                        <a:t>Power BI</a:t>
                      </a:r>
                      <a:endParaRPr lang="en-US" sz="14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2C811"/>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SQL</a:t>
                      </a:r>
                      <a:endParaRPr lang="en-US" sz="14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00758F"/>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Tableau</a:t>
                      </a:r>
                      <a:endParaRPr lang="en-US" sz="14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97627"/>
                    </a:solidFill>
                  </a:tcPr>
                </a:tc>
                <a:extLst>
                  <a:ext uri="{0D108BD9-81ED-4DB2-BD59-A6C34878D82A}">
                    <a16:rowId xmlns:a16="http://schemas.microsoft.com/office/drawing/2014/main" val="10000"/>
                  </a:ext>
                </a:extLst>
              </a:tr>
              <a:tr h="457200">
                <a:tc>
                  <a:txBody>
                    <a:bodyPr/>
                    <a:lstStyle/>
                    <a:p>
                      <a:pPr marL="0" indent="0" algn="l">
                        <a:buNone/>
                      </a:pPr>
                      <a:r>
                        <a:rPr lang="en-US" sz="1300" b="1" dirty="0">
                          <a:solidFill>
                            <a:srgbClr val="0F1B3D"/>
                          </a:solidFill>
                          <a:latin typeface="Calibri" pitchFamily="34" charset="0"/>
                          <a:ea typeface="Calibri" pitchFamily="34" charset="-122"/>
                          <a:cs typeface="Calibri" pitchFamily="34" charset="-120"/>
                        </a:rPr>
                        <a:t>KPI 1: weekday / weekend orders</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8EEFD"/>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76,593 / 22,847</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76,593 / 22,847</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76,593 / 22,847</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F2A44"/>
                          </a:solidFill>
                          <a:latin typeface="Calibri" pitchFamily="34" charset="0"/>
                          <a:ea typeface="Calibri" pitchFamily="34" charset="-122"/>
                          <a:cs typeface="Calibri" pitchFamily="34" charset="-120"/>
                        </a:rPr>
                        <a:t>76,594 / 22,847</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1D6"/>
                    </a:solidFill>
                  </a:tcPr>
                </a:tc>
                <a:extLst>
                  <a:ext uri="{0D108BD9-81ED-4DB2-BD59-A6C34878D82A}">
                    <a16:rowId xmlns:a16="http://schemas.microsoft.com/office/drawing/2014/main" val="10001"/>
                  </a:ext>
                </a:extLst>
              </a:tr>
              <a:tr h="457200">
                <a:tc>
                  <a:txBody>
                    <a:bodyPr/>
                    <a:lstStyle/>
                    <a:p>
                      <a:pPr marL="0" indent="0" algn="l">
                        <a:buNone/>
                      </a:pPr>
                      <a:r>
                        <a:rPr lang="en-US" sz="1300" b="1" dirty="0">
                          <a:solidFill>
                            <a:srgbClr val="0F1B3D"/>
                          </a:solidFill>
                          <a:latin typeface="Calibri" pitchFamily="34" charset="0"/>
                          <a:ea typeface="Calibri" pitchFamily="34" charset="-122"/>
                          <a:cs typeface="Calibri" pitchFamily="34" charset="-120"/>
                        </a:rPr>
                        <a:t>KPI 1: average payment</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8EEFD"/>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₹154.44 / ₹152.95</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₹154.44 / ₹152.95</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₹154.44 / ₹152.95</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₹154.44 / ₹152.95</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300" b="1" dirty="0">
                          <a:solidFill>
                            <a:srgbClr val="0F1B3D"/>
                          </a:solidFill>
                          <a:latin typeface="Calibri" pitchFamily="34" charset="0"/>
                          <a:ea typeface="Calibri" pitchFamily="34" charset="-122"/>
                          <a:cs typeface="Calibri" pitchFamily="34" charset="-120"/>
                        </a:rPr>
                        <a:t>KPI 2: 5-star credit card orders</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8EEFD"/>
                    </a:solidFill>
                  </a:tcPr>
                </a:tc>
                <a:tc>
                  <a:txBody>
                    <a:bodyPr/>
                    <a:lstStyle/>
                    <a:p>
                      <a:pPr marL="0" indent="0" algn="ctr">
                        <a:buNone/>
                      </a:pPr>
                      <a:r>
                        <a:rPr lang="en-US" sz="1300" b="1" dirty="0">
                          <a:solidFill>
                            <a:srgbClr val="1F2A44"/>
                          </a:solidFill>
                          <a:latin typeface="Calibri" pitchFamily="34" charset="0"/>
                          <a:ea typeface="Calibri" pitchFamily="34" charset="-122"/>
                          <a:cs typeface="Calibri" pitchFamily="34" charset="-120"/>
                        </a:rPr>
                        <a:t>42,581*</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1D6"/>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43,981</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43,981</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43,981</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300" b="1" dirty="0">
                          <a:solidFill>
                            <a:srgbClr val="0F1B3D"/>
                          </a:solidFill>
                          <a:latin typeface="Calibri" pitchFamily="34" charset="0"/>
                          <a:ea typeface="Calibri" pitchFamily="34" charset="-122"/>
                          <a:cs typeface="Calibri" pitchFamily="34" charset="-120"/>
                        </a:rPr>
                        <a:t>KPI 3: pet_shop avg delivery days</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8EEFD"/>
                    </a:solidFill>
                  </a:tcPr>
                </a:tc>
                <a:tc>
                  <a:txBody>
                    <a:bodyPr/>
                    <a:lstStyle/>
                    <a:p>
                      <a:pPr marL="0" indent="0" algn="ctr">
                        <a:buNone/>
                      </a:pPr>
                      <a:r>
                        <a:rPr lang="en-US" sz="1300" b="1" dirty="0">
                          <a:solidFill>
                            <a:srgbClr val="1F2A44"/>
                          </a:solidFill>
                          <a:latin typeface="Calibri" pitchFamily="34" charset="0"/>
                          <a:ea typeface="Calibri" pitchFamily="34" charset="-122"/>
                          <a:cs typeface="Calibri" pitchFamily="34" charset="-120"/>
                        </a:rPr>
                        <a:t>11.23</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1D6"/>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11.31</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11.31</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11.31</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1300" b="1" dirty="0">
                          <a:solidFill>
                            <a:srgbClr val="0F1B3D"/>
                          </a:solidFill>
                          <a:latin typeface="Calibri" pitchFamily="34" charset="0"/>
                          <a:ea typeface="Calibri" pitchFamily="34" charset="-122"/>
                          <a:cs typeface="Calibri" pitchFamily="34" charset="-120"/>
                        </a:rPr>
                        <a:t>KPI 4: average price</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8EEFD"/>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₹107.53</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F2A44"/>
                          </a:solidFill>
                          <a:latin typeface="Calibri" pitchFamily="34" charset="0"/>
                          <a:ea typeface="Calibri" pitchFamily="34" charset="-122"/>
                          <a:cs typeface="Calibri" pitchFamily="34" charset="-120"/>
                        </a:rPr>
                        <a:t>₹112.58</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1D6"/>
                    </a:solidFill>
                  </a:tcPr>
                </a:tc>
                <a:tc>
                  <a:txBody>
                    <a:bodyPr/>
                    <a:lstStyle/>
                    <a:p>
                      <a:pPr marL="0" indent="0" algn="ctr">
                        <a:buNone/>
                      </a:pPr>
                      <a:r>
                        <a:rPr lang="en-US" sz="1300" b="1" dirty="0">
                          <a:solidFill>
                            <a:srgbClr val="1F2A44"/>
                          </a:solidFill>
                          <a:latin typeface="Calibri" pitchFamily="34" charset="0"/>
                          <a:ea typeface="Calibri" pitchFamily="34" charset="-122"/>
                          <a:cs typeface="Calibri" pitchFamily="34" charset="-120"/>
                        </a:rPr>
                        <a:t>₹112.58</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1D6"/>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₹107.5</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300" b="1" dirty="0">
                          <a:solidFill>
                            <a:srgbClr val="0F1B3D"/>
                          </a:solidFill>
                          <a:latin typeface="Calibri" pitchFamily="34" charset="0"/>
                          <a:ea typeface="Calibri" pitchFamily="34" charset="-122"/>
                          <a:cs typeface="Calibri" pitchFamily="34" charset="-120"/>
                        </a:rPr>
                        <a:t>KPI 4: average payment</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8EEFD"/>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₹135.83</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F2A44"/>
                          </a:solidFill>
                          <a:latin typeface="Calibri" pitchFamily="34" charset="0"/>
                          <a:ea typeface="Calibri" pitchFamily="34" charset="-122"/>
                          <a:cs typeface="Calibri" pitchFamily="34" charset="-120"/>
                        </a:rPr>
                        <a:t>₹138.74</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1D6"/>
                    </a:solidFill>
                  </a:tcPr>
                </a:tc>
                <a:tc>
                  <a:txBody>
                    <a:bodyPr/>
                    <a:lstStyle/>
                    <a:p>
                      <a:pPr marL="0" indent="0" algn="ctr">
                        <a:buNone/>
                      </a:pPr>
                      <a:r>
                        <a:rPr lang="en-US" sz="1300" b="1" dirty="0">
                          <a:solidFill>
                            <a:srgbClr val="1F2A44"/>
                          </a:solidFill>
                          <a:latin typeface="Calibri" pitchFamily="34" charset="0"/>
                          <a:ea typeface="Calibri" pitchFamily="34" charset="-122"/>
                          <a:cs typeface="Calibri" pitchFamily="34" charset="-120"/>
                        </a:rPr>
                        <a:t>₹138.74</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1D6"/>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₹135.8</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lgn="l">
                        <a:buNone/>
                      </a:pPr>
                      <a:r>
                        <a:rPr lang="en-US" sz="1300" b="1" dirty="0">
                          <a:solidFill>
                            <a:srgbClr val="0F1B3D"/>
                          </a:solidFill>
                          <a:latin typeface="Calibri" pitchFamily="34" charset="0"/>
                          <a:ea typeface="Calibri" pitchFamily="34" charset="-122"/>
                          <a:cs typeface="Calibri" pitchFamily="34" charset="-120"/>
                        </a:rPr>
                        <a:t>KPI 5: avg days, score 1 → 5</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8EEFD"/>
                    </a:solidFill>
                  </a:tcPr>
                </a:tc>
                <a:tc>
                  <a:txBody>
                    <a:bodyPr/>
                    <a:lstStyle/>
                    <a:p>
                      <a:pPr marL="0" indent="0" algn="ctr">
                        <a:buNone/>
                      </a:pPr>
                      <a:r>
                        <a:rPr lang="en-US" sz="1300" b="1" dirty="0">
                          <a:solidFill>
                            <a:srgbClr val="1F2A44"/>
                          </a:solidFill>
                          <a:latin typeface="Calibri" pitchFamily="34" charset="0"/>
                          <a:ea typeface="Calibri" pitchFamily="34" charset="-122"/>
                          <a:cs typeface="Calibri" pitchFamily="34" charset="-120"/>
                        </a:rPr>
                        <a:t>21.32 → 10.68</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1D6"/>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21.25 → 10.63</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21.25 → 10.63</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21.25 → 10.62</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hape 3"/>
          <p:cNvSpPr/>
          <p:nvPr/>
        </p:nvSpPr>
        <p:spPr>
          <a:xfrm>
            <a:off x="548640" y="5394960"/>
            <a:ext cx="11091672" cy="896112"/>
          </a:xfrm>
          <a:prstGeom prst="roundRect">
            <a:avLst>
              <a:gd name="adj" fmla="val 10204"/>
            </a:avLst>
          </a:prstGeom>
          <a:solidFill>
            <a:srgbClr val="FFFBF1"/>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7" name="Text 4"/>
          <p:cNvSpPr txBox="1"/>
          <p:nvPr/>
        </p:nvSpPr>
        <p:spPr>
          <a:xfrm>
            <a:off x="731520" y="5440680"/>
            <a:ext cx="10744200" cy="804672"/>
          </a:xfrm>
          <a:prstGeom prst="rect">
            <a:avLst/>
          </a:prstGeom>
          <a:noFill/>
          <a:ln/>
        </p:spPr>
        <p:txBody>
          <a:bodyPr wrap="square" lIns="0" tIns="0" rIns="0" bIns="0" rtlCol="0" anchor="ctr"/>
          <a:lstStyle/>
          <a:p>
            <a:pPr marL="0" indent="0">
              <a:buNone/>
            </a:pPr>
            <a:r>
              <a:rPr lang="en-US" sz="1100" b="1" dirty="0">
                <a:solidFill>
                  <a:srgbClr val="1F2A44"/>
                </a:solidFill>
                <a:latin typeface="Calibri" pitchFamily="34" charset="0"/>
                <a:ea typeface="Calibri" pitchFamily="34" charset="-122"/>
                <a:cs typeface="Calibri" pitchFamily="34" charset="-120"/>
              </a:rPr>
              <a:t>Highlighted cells differ from the other tools.  </a:t>
            </a:r>
            <a:endParaRPr lang="en-US" sz="1100" dirty="0"/>
          </a:p>
          <a:p>
            <a:pPr marL="0" indent="0">
              <a:buNone/>
            </a:pPr>
            <a:r>
              <a:rPr lang="en-US" sz="1100" dirty="0">
                <a:solidFill>
                  <a:srgbClr val="1F2A44"/>
                </a:solidFill>
                <a:latin typeface="Calibri" pitchFamily="34" charset="0"/>
                <a:ea typeface="Calibri" pitchFamily="34" charset="-122"/>
                <a:cs typeface="Calibri" pitchFamily="34" charset="-120"/>
              </a:rPr>
              <a:t>* Excel sheet value came from a faulty lookup; 43,981 distinct orders is the verified figure. KPI 5: Excel uses fractional days; SQL, Power BI and Tableau count whole calendar days. KPI 3: Excel 11.23 vs 11.31 in the other three tools. KPI 4: Excel and Tableau use a row-level average; SQL and Power BI average per order.</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ection chip"/>
          <p:cNvSpPr/>
          <p:nvPr/>
        </p:nvSpPr>
        <p:spPr>
          <a:xfrm>
            <a:off x="548640" y="384048"/>
            <a:ext cx="1271016" cy="310896"/>
          </a:xfrm>
          <a:prstGeom prst="roundRect">
            <a:avLst>
              <a:gd name="adj" fmla="val 50000"/>
            </a:avLst>
          </a:prstGeom>
          <a:solidFill>
            <a:srgbClr val="2F5BEA"/>
          </a:solidFill>
          <a:ln w="12700">
            <a:solidFill>
              <a:srgbClr val="2F5BEA"/>
            </a:solidFill>
            <a:prstDash val="solid"/>
          </a:ln>
        </p:spPr>
        <p:txBody>
          <a:bodyPr/>
          <a:lstStyle/>
          <a:p>
            <a:endParaRPr lang="en-IN"/>
          </a:p>
        </p:txBody>
      </p:sp>
      <p:sp>
        <p:nvSpPr>
          <p:cNvPr id="3" name="Text 1"/>
          <p:cNvSpPr txBox="1"/>
          <p:nvPr/>
        </p:nvSpPr>
        <p:spPr>
          <a:xfrm>
            <a:off x="548640" y="384048"/>
            <a:ext cx="1271016"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FINDINGS</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Key Findings and Business Meaning</a:t>
            </a:r>
            <a:endParaRPr lang="en-US" sz="3200" dirty="0"/>
          </a:p>
        </p:txBody>
      </p:sp>
      <p:sp>
        <p:nvSpPr>
          <p:cNvPr id="5" name="Shape 3"/>
          <p:cNvSpPr/>
          <p:nvPr/>
        </p:nvSpPr>
        <p:spPr>
          <a:xfrm>
            <a:off x="548640" y="1600200"/>
            <a:ext cx="5440680" cy="2240280"/>
          </a:xfrm>
          <a:prstGeom prst="roundRect">
            <a:avLst>
              <a:gd name="adj" fmla="val 4082"/>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6" name="Shape 4"/>
          <p:cNvSpPr/>
          <p:nvPr/>
        </p:nvSpPr>
        <p:spPr>
          <a:xfrm>
            <a:off x="777240" y="1828800"/>
            <a:ext cx="640080" cy="640080"/>
          </a:xfrm>
          <a:prstGeom prst="ellipse">
            <a:avLst/>
          </a:prstGeom>
          <a:solidFill>
            <a:srgbClr val="2F5BEA"/>
          </a:solidFill>
          <a:ln w="12700">
            <a:solidFill>
              <a:srgbClr val="2F5BEA"/>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937260" y="1988820"/>
            <a:ext cx="320040" cy="320040"/>
          </a:xfrm>
          <a:prstGeom prst="rect">
            <a:avLst/>
          </a:prstGeom>
        </p:spPr>
      </p:pic>
      <p:sp>
        <p:nvSpPr>
          <p:cNvPr id="8" name="Text 5"/>
          <p:cNvSpPr txBox="1"/>
          <p:nvPr/>
        </p:nvSpPr>
        <p:spPr>
          <a:xfrm>
            <a:off x="1600200" y="1801368"/>
            <a:ext cx="4206240" cy="411480"/>
          </a:xfrm>
          <a:prstGeom prst="rect">
            <a:avLst/>
          </a:prstGeom>
          <a:noFill/>
          <a:ln/>
        </p:spPr>
        <p:txBody>
          <a:bodyPr wrap="square" lIns="0" tIns="0" rIns="0" bIns="0" rtlCol="0" anchor="ctr"/>
          <a:lstStyle/>
          <a:p>
            <a:pPr marL="0" indent="0">
              <a:buNone/>
            </a:pPr>
            <a:r>
              <a:rPr lang="en-US" sz="2400" b="1" dirty="0">
                <a:solidFill>
                  <a:srgbClr val="2F5BEA"/>
                </a:solidFill>
                <a:latin typeface="Calibri" pitchFamily="34" charset="0"/>
                <a:ea typeface="Calibri" pitchFamily="34" charset="-122"/>
                <a:cs typeface="Calibri" pitchFamily="34" charset="-120"/>
              </a:rPr>
              <a:t>21.32 → 10.68 days</a:t>
            </a:r>
            <a:endParaRPr lang="en-US" sz="2400" dirty="0"/>
          </a:p>
        </p:txBody>
      </p:sp>
      <p:sp>
        <p:nvSpPr>
          <p:cNvPr id="9" name="Text 6"/>
          <p:cNvSpPr txBox="1"/>
          <p:nvPr/>
        </p:nvSpPr>
        <p:spPr>
          <a:xfrm>
            <a:off x="1600200" y="2212848"/>
            <a:ext cx="4206240" cy="292608"/>
          </a:xfrm>
          <a:prstGeom prst="rect">
            <a:avLst/>
          </a:prstGeom>
          <a:noFill/>
          <a:ln/>
        </p:spPr>
        <p:txBody>
          <a:bodyPr wrap="square" lIns="0" tIns="0" rIns="0" bIns="0" rtlCol="0" anchor="ctr"/>
          <a:lstStyle/>
          <a:p>
            <a:pPr marL="0" indent="0">
              <a:buNone/>
            </a:pPr>
            <a:r>
              <a:rPr lang="en-US" sz="1500" b="1" dirty="0">
                <a:solidFill>
                  <a:srgbClr val="0F1B3D"/>
                </a:solidFill>
                <a:latin typeface="Calibri" pitchFamily="34" charset="0"/>
                <a:ea typeface="Calibri" pitchFamily="34" charset="-122"/>
                <a:cs typeface="Calibri" pitchFamily="34" charset="-120"/>
              </a:rPr>
              <a:t>Delivery speed drives ratings</a:t>
            </a:r>
            <a:endParaRPr lang="en-US" sz="1500" dirty="0"/>
          </a:p>
        </p:txBody>
      </p:sp>
      <p:sp>
        <p:nvSpPr>
          <p:cNvPr id="10" name="Text 7"/>
          <p:cNvSpPr txBox="1"/>
          <p:nvPr/>
        </p:nvSpPr>
        <p:spPr>
          <a:xfrm>
            <a:off x="822960" y="2624328"/>
            <a:ext cx="4937760" cy="566928"/>
          </a:xfrm>
          <a:prstGeom prst="rect">
            <a:avLst/>
          </a:prstGeom>
          <a:noFill/>
          <a:ln/>
        </p:spPr>
        <p:txBody>
          <a:bodyPr wrap="square" lIns="0" tIns="0" rIns="0" bIns="0" rtlCol="0" anchor="t"/>
          <a:lstStyle/>
          <a:p>
            <a:pPr marL="0" indent="0">
              <a:buNone/>
            </a:pPr>
            <a:r>
              <a:rPr lang="en-US" sz="1250" dirty="0">
                <a:solidFill>
                  <a:srgbClr val="1F2A44"/>
                </a:solidFill>
                <a:latin typeface="Calibri" pitchFamily="34" charset="0"/>
                <a:ea typeface="Calibri" pitchFamily="34" charset="-122"/>
                <a:cs typeface="Calibri" pitchFamily="34" charset="-120"/>
              </a:rPr>
              <a:t>1-star orders average 21.32 days to deliver, 5-star orders 10.68 days (correlation −0.334).</a:t>
            </a:r>
            <a:endParaRPr lang="en-US" sz="1250" dirty="0"/>
          </a:p>
        </p:txBody>
      </p:sp>
      <p:sp>
        <p:nvSpPr>
          <p:cNvPr id="11" name="Text 8"/>
          <p:cNvSpPr txBox="1"/>
          <p:nvPr/>
        </p:nvSpPr>
        <p:spPr>
          <a:xfrm>
            <a:off x="822960" y="3209544"/>
            <a:ext cx="4937760" cy="548640"/>
          </a:xfrm>
          <a:prstGeom prst="rect">
            <a:avLst/>
          </a:prstGeom>
          <a:noFill/>
          <a:ln/>
        </p:spPr>
        <p:txBody>
          <a:bodyPr wrap="square" lIns="0" tIns="0" rIns="0" bIns="0" rtlCol="0" anchor="t"/>
          <a:lstStyle/>
          <a:p>
            <a:pPr marL="0" indent="0">
              <a:buNone/>
            </a:pPr>
            <a:r>
              <a:rPr lang="en-US" sz="1250" b="1" dirty="0">
                <a:solidFill>
                  <a:srgbClr val="2F5BEA"/>
                </a:solidFill>
                <a:latin typeface="Calibri" pitchFamily="34" charset="0"/>
                <a:ea typeface="Calibri" pitchFamily="34" charset="-122"/>
                <a:cs typeface="Calibri" pitchFamily="34" charset="-120"/>
              </a:rPr>
              <a:t>Business meaning: </a:t>
            </a:r>
            <a:r>
              <a:rPr lang="en-US" sz="1250" dirty="0">
                <a:solidFill>
                  <a:srgbClr val="1F2A44"/>
                </a:solidFill>
                <a:latin typeface="Calibri" pitchFamily="34" charset="0"/>
                <a:ea typeface="Calibri" pitchFamily="34" charset="-122"/>
                <a:cs typeface="Calibri" pitchFamily="34" charset="-120"/>
              </a:rPr>
              <a:t>Set a delivery target (for example under 14 days) and monitor orders that exceed it.</a:t>
            </a:r>
            <a:endParaRPr lang="en-US" sz="1250" dirty="0"/>
          </a:p>
        </p:txBody>
      </p:sp>
      <p:sp>
        <p:nvSpPr>
          <p:cNvPr id="12" name="Shape 9"/>
          <p:cNvSpPr/>
          <p:nvPr/>
        </p:nvSpPr>
        <p:spPr>
          <a:xfrm>
            <a:off x="6199632" y="1600200"/>
            <a:ext cx="5440680" cy="2240280"/>
          </a:xfrm>
          <a:prstGeom prst="roundRect">
            <a:avLst>
              <a:gd name="adj" fmla="val 4082"/>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3" name="Shape 10"/>
          <p:cNvSpPr/>
          <p:nvPr/>
        </p:nvSpPr>
        <p:spPr>
          <a:xfrm>
            <a:off x="6428232" y="1828800"/>
            <a:ext cx="640080" cy="640080"/>
          </a:xfrm>
          <a:prstGeom prst="ellipse">
            <a:avLst/>
          </a:prstGeom>
          <a:solidFill>
            <a:srgbClr val="E97627"/>
          </a:solidFill>
          <a:ln w="12700">
            <a:solidFill>
              <a:srgbClr val="E97627"/>
            </a:solidFill>
            <a:prstDash val="solid"/>
          </a:ln>
        </p:spPr>
        <p:txBody>
          <a:bodyPr/>
          <a:lstStyle/>
          <a:p>
            <a:endParaRPr lang="en-IN"/>
          </a:p>
        </p:txBody>
      </p:sp>
      <p:pic>
        <p:nvPicPr>
          <p:cNvPr id="14" name="Image 1" descr="preencoded.png"/>
          <p:cNvPicPr>
            <a:picLocks noChangeAspect="1"/>
          </p:cNvPicPr>
          <p:nvPr/>
        </p:nvPicPr>
        <p:blipFill>
          <a:blip r:embed="rId4"/>
          <a:stretch>
            <a:fillRect/>
          </a:stretch>
        </p:blipFill>
        <p:spPr>
          <a:xfrm>
            <a:off x="6588252" y="1988820"/>
            <a:ext cx="320040" cy="320040"/>
          </a:xfrm>
          <a:prstGeom prst="rect">
            <a:avLst/>
          </a:prstGeom>
        </p:spPr>
      </p:pic>
      <p:sp>
        <p:nvSpPr>
          <p:cNvPr id="15" name="Text 11"/>
          <p:cNvSpPr txBox="1"/>
          <p:nvPr/>
        </p:nvSpPr>
        <p:spPr>
          <a:xfrm>
            <a:off x="7251192" y="1801368"/>
            <a:ext cx="4206240" cy="411480"/>
          </a:xfrm>
          <a:prstGeom prst="rect">
            <a:avLst/>
          </a:prstGeom>
          <a:noFill/>
          <a:ln/>
        </p:spPr>
        <p:txBody>
          <a:bodyPr wrap="square" lIns="0" tIns="0" rIns="0" bIns="0" rtlCol="0" anchor="ctr"/>
          <a:lstStyle/>
          <a:p>
            <a:pPr marL="0" indent="0">
              <a:buNone/>
            </a:pPr>
            <a:r>
              <a:rPr lang="en-US" sz="2400" b="1" dirty="0">
                <a:solidFill>
                  <a:srgbClr val="E97627"/>
                </a:solidFill>
                <a:latin typeface="Calibri" pitchFamily="34" charset="0"/>
                <a:ea typeface="Calibri" pitchFamily="34" charset="-122"/>
                <a:cs typeface="Calibri" pitchFamily="34" charset="-120"/>
              </a:rPr>
              <a:t>77.02% of orders</a:t>
            </a:r>
            <a:endParaRPr lang="en-US" sz="2400" dirty="0"/>
          </a:p>
        </p:txBody>
      </p:sp>
      <p:sp>
        <p:nvSpPr>
          <p:cNvPr id="16" name="Text 12"/>
          <p:cNvSpPr txBox="1"/>
          <p:nvPr/>
        </p:nvSpPr>
        <p:spPr>
          <a:xfrm>
            <a:off x="7251192" y="2212848"/>
            <a:ext cx="4206240" cy="292608"/>
          </a:xfrm>
          <a:prstGeom prst="rect">
            <a:avLst/>
          </a:prstGeom>
          <a:noFill/>
          <a:ln/>
        </p:spPr>
        <p:txBody>
          <a:bodyPr wrap="square" lIns="0" tIns="0" rIns="0" bIns="0" rtlCol="0" anchor="ctr"/>
          <a:lstStyle/>
          <a:p>
            <a:pPr marL="0" indent="0">
              <a:buNone/>
            </a:pPr>
            <a:r>
              <a:rPr lang="en-US" sz="1500" b="1" dirty="0">
                <a:solidFill>
                  <a:srgbClr val="0F1B3D"/>
                </a:solidFill>
                <a:latin typeface="Calibri" pitchFamily="34" charset="0"/>
                <a:ea typeface="Calibri" pitchFamily="34" charset="-122"/>
                <a:cs typeface="Calibri" pitchFamily="34" charset="-120"/>
              </a:rPr>
              <a:t>Weekdays drive volume</a:t>
            </a:r>
            <a:endParaRPr lang="en-US" sz="1500" dirty="0"/>
          </a:p>
        </p:txBody>
      </p:sp>
      <p:sp>
        <p:nvSpPr>
          <p:cNvPr id="17" name="Text 13"/>
          <p:cNvSpPr txBox="1"/>
          <p:nvPr/>
        </p:nvSpPr>
        <p:spPr>
          <a:xfrm>
            <a:off x="6473952" y="2624328"/>
            <a:ext cx="4937760" cy="566928"/>
          </a:xfrm>
          <a:prstGeom prst="rect">
            <a:avLst/>
          </a:prstGeom>
          <a:noFill/>
          <a:ln/>
        </p:spPr>
        <p:txBody>
          <a:bodyPr wrap="square" lIns="0" tIns="0" rIns="0" bIns="0" rtlCol="0" anchor="t"/>
          <a:lstStyle/>
          <a:p>
            <a:pPr marL="0" indent="0">
              <a:buNone/>
            </a:pPr>
            <a:r>
              <a:rPr lang="en-US" sz="1250" dirty="0">
                <a:solidFill>
                  <a:srgbClr val="1F2A44"/>
                </a:solidFill>
                <a:latin typeface="Calibri" pitchFamily="34" charset="0"/>
                <a:ea typeface="Calibri" pitchFamily="34" charset="-122"/>
                <a:cs typeface="Calibri" pitchFamily="34" charset="-120"/>
              </a:rPr>
              <a:t>Placed on weekdays; the average payment is almost the same at the weekend (₹154.44 vs ₹152.95).</a:t>
            </a:r>
            <a:endParaRPr lang="en-US" sz="1250" dirty="0"/>
          </a:p>
        </p:txBody>
      </p:sp>
      <p:sp>
        <p:nvSpPr>
          <p:cNvPr id="18" name="Text 14"/>
          <p:cNvSpPr txBox="1"/>
          <p:nvPr/>
        </p:nvSpPr>
        <p:spPr>
          <a:xfrm>
            <a:off x="6473952" y="3209544"/>
            <a:ext cx="4937760" cy="548640"/>
          </a:xfrm>
          <a:prstGeom prst="rect">
            <a:avLst/>
          </a:prstGeom>
          <a:noFill/>
          <a:ln/>
        </p:spPr>
        <p:txBody>
          <a:bodyPr wrap="square" lIns="0" tIns="0" rIns="0" bIns="0" rtlCol="0" anchor="t"/>
          <a:lstStyle/>
          <a:p>
            <a:pPr marL="0" indent="0">
              <a:buNone/>
            </a:pPr>
            <a:r>
              <a:rPr lang="en-US" sz="1250" b="1" dirty="0">
                <a:solidFill>
                  <a:srgbClr val="E97627"/>
                </a:solidFill>
                <a:latin typeface="Calibri" pitchFamily="34" charset="0"/>
                <a:ea typeface="Calibri" pitchFamily="34" charset="-122"/>
                <a:cs typeface="Calibri" pitchFamily="34" charset="-120"/>
              </a:rPr>
              <a:t>Business meaning: </a:t>
            </a:r>
            <a:r>
              <a:rPr lang="en-US" sz="1250" dirty="0">
                <a:solidFill>
                  <a:srgbClr val="1F2A44"/>
                </a:solidFill>
                <a:latin typeface="Calibri" pitchFamily="34" charset="0"/>
                <a:ea typeface="Calibri" pitchFamily="34" charset="-122"/>
                <a:cs typeface="Calibri" pitchFamily="34" charset="-120"/>
              </a:rPr>
              <a:t>Focus ad spend and logistics on weekdays; test weekend-only offers.</a:t>
            </a:r>
            <a:endParaRPr lang="en-US" sz="1250" dirty="0"/>
          </a:p>
        </p:txBody>
      </p:sp>
      <p:sp>
        <p:nvSpPr>
          <p:cNvPr id="19" name="Shape 15"/>
          <p:cNvSpPr/>
          <p:nvPr/>
        </p:nvSpPr>
        <p:spPr>
          <a:xfrm>
            <a:off x="548640" y="3995928"/>
            <a:ext cx="5440680" cy="2240280"/>
          </a:xfrm>
          <a:prstGeom prst="roundRect">
            <a:avLst>
              <a:gd name="adj" fmla="val 4082"/>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0" name="Shape 16"/>
          <p:cNvSpPr/>
          <p:nvPr/>
        </p:nvSpPr>
        <p:spPr>
          <a:xfrm>
            <a:off x="777240" y="4224528"/>
            <a:ext cx="640080" cy="640080"/>
          </a:xfrm>
          <a:prstGeom prst="ellipse">
            <a:avLst/>
          </a:prstGeom>
          <a:solidFill>
            <a:srgbClr val="217346"/>
          </a:solidFill>
          <a:ln w="12700">
            <a:solidFill>
              <a:srgbClr val="217346"/>
            </a:solidFill>
            <a:prstDash val="solid"/>
          </a:ln>
        </p:spPr>
        <p:txBody>
          <a:bodyPr/>
          <a:lstStyle/>
          <a:p>
            <a:endParaRPr lang="en-IN"/>
          </a:p>
        </p:txBody>
      </p:sp>
      <p:pic>
        <p:nvPicPr>
          <p:cNvPr id="21" name="Image 2" descr="preencoded.png"/>
          <p:cNvPicPr>
            <a:picLocks noChangeAspect="1"/>
          </p:cNvPicPr>
          <p:nvPr/>
        </p:nvPicPr>
        <p:blipFill>
          <a:blip r:embed="rId5"/>
          <a:stretch>
            <a:fillRect/>
          </a:stretch>
        </p:blipFill>
        <p:spPr>
          <a:xfrm>
            <a:off x="937260" y="4384548"/>
            <a:ext cx="320040" cy="320040"/>
          </a:xfrm>
          <a:prstGeom prst="rect">
            <a:avLst/>
          </a:prstGeom>
        </p:spPr>
      </p:pic>
      <p:sp>
        <p:nvSpPr>
          <p:cNvPr id="22" name="Text 17"/>
          <p:cNvSpPr txBox="1"/>
          <p:nvPr/>
        </p:nvSpPr>
        <p:spPr>
          <a:xfrm>
            <a:off x="1600200" y="4197096"/>
            <a:ext cx="4206240" cy="411480"/>
          </a:xfrm>
          <a:prstGeom prst="rect">
            <a:avLst/>
          </a:prstGeom>
          <a:noFill/>
          <a:ln/>
        </p:spPr>
        <p:txBody>
          <a:bodyPr wrap="square" lIns="0" tIns="0" rIns="0" bIns="0" rtlCol="0" anchor="ctr"/>
          <a:lstStyle/>
          <a:p>
            <a:pPr marL="0" indent="0">
              <a:buNone/>
            </a:pPr>
            <a:r>
              <a:rPr lang="en-US" sz="2400" b="1" dirty="0">
                <a:solidFill>
                  <a:srgbClr val="217346"/>
                </a:solidFill>
                <a:latin typeface="Calibri" pitchFamily="34" charset="0"/>
                <a:ea typeface="Calibri" pitchFamily="34" charset="-122"/>
                <a:cs typeface="Calibri" pitchFamily="34" charset="-120"/>
              </a:rPr>
              <a:t>43,981 orders</a:t>
            </a:r>
            <a:endParaRPr lang="en-US" sz="2400" dirty="0"/>
          </a:p>
        </p:txBody>
      </p:sp>
      <p:sp>
        <p:nvSpPr>
          <p:cNvPr id="23" name="Text 18"/>
          <p:cNvSpPr txBox="1"/>
          <p:nvPr/>
        </p:nvSpPr>
        <p:spPr>
          <a:xfrm>
            <a:off x="1600200" y="4608576"/>
            <a:ext cx="4206240" cy="292608"/>
          </a:xfrm>
          <a:prstGeom prst="rect">
            <a:avLst/>
          </a:prstGeom>
          <a:noFill/>
          <a:ln/>
        </p:spPr>
        <p:txBody>
          <a:bodyPr wrap="square" lIns="0" tIns="0" rIns="0" bIns="0" rtlCol="0" anchor="ctr"/>
          <a:lstStyle/>
          <a:p>
            <a:pPr marL="0" indent="0">
              <a:buNone/>
            </a:pPr>
            <a:r>
              <a:rPr lang="en-US" sz="1500" b="1" dirty="0">
                <a:solidFill>
                  <a:srgbClr val="0F1B3D"/>
                </a:solidFill>
                <a:latin typeface="Calibri" pitchFamily="34" charset="0"/>
                <a:ea typeface="Calibri" pitchFamily="34" charset="-122"/>
                <a:cs typeface="Calibri" pitchFamily="34" charset="-120"/>
              </a:rPr>
              <a:t>Credit card leads among happy customers</a:t>
            </a:r>
            <a:endParaRPr lang="en-US" sz="1500" dirty="0"/>
          </a:p>
        </p:txBody>
      </p:sp>
      <p:sp>
        <p:nvSpPr>
          <p:cNvPr id="24" name="Text 19"/>
          <p:cNvSpPr txBox="1"/>
          <p:nvPr/>
        </p:nvSpPr>
        <p:spPr>
          <a:xfrm>
            <a:off x="822960" y="5020056"/>
            <a:ext cx="4937760" cy="566928"/>
          </a:xfrm>
          <a:prstGeom prst="rect">
            <a:avLst/>
          </a:prstGeom>
          <a:noFill/>
          <a:ln/>
        </p:spPr>
        <p:txBody>
          <a:bodyPr wrap="square" lIns="0" tIns="0" rIns="0" bIns="0" rtlCol="0" anchor="t"/>
          <a:lstStyle/>
          <a:p>
            <a:pPr marL="0" indent="0">
              <a:buNone/>
            </a:pPr>
            <a:r>
              <a:rPr lang="en-US" sz="1250" dirty="0">
                <a:solidFill>
                  <a:srgbClr val="1F2A44"/>
                </a:solidFill>
                <a:latin typeface="Calibri" pitchFamily="34" charset="0"/>
                <a:ea typeface="Calibri" pitchFamily="34" charset="-122"/>
                <a:cs typeface="Calibri" pitchFamily="34" charset="-120"/>
              </a:rPr>
              <a:t>5-star and paid by credit card, 75.4% of all 5-star orders.</a:t>
            </a:r>
            <a:endParaRPr lang="en-US" sz="1250" dirty="0"/>
          </a:p>
        </p:txBody>
      </p:sp>
      <p:sp>
        <p:nvSpPr>
          <p:cNvPr id="25" name="Text 20"/>
          <p:cNvSpPr txBox="1"/>
          <p:nvPr/>
        </p:nvSpPr>
        <p:spPr>
          <a:xfrm>
            <a:off x="822960" y="5605272"/>
            <a:ext cx="4937760" cy="548640"/>
          </a:xfrm>
          <a:prstGeom prst="rect">
            <a:avLst/>
          </a:prstGeom>
          <a:noFill/>
          <a:ln/>
        </p:spPr>
        <p:txBody>
          <a:bodyPr wrap="square" lIns="0" tIns="0" rIns="0" bIns="0" rtlCol="0" anchor="t"/>
          <a:lstStyle/>
          <a:p>
            <a:pPr marL="0" indent="0">
              <a:buNone/>
            </a:pPr>
            <a:r>
              <a:rPr lang="en-US" sz="1250" b="1" dirty="0">
                <a:solidFill>
                  <a:srgbClr val="217346"/>
                </a:solidFill>
                <a:latin typeface="Calibri" pitchFamily="34" charset="0"/>
                <a:ea typeface="Calibri" pitchFamily="34" charset="-122"/>
                <a:cs typeface="Calibri" pitchFamily="34" charset="-120"/>
              </a:rPr>
              <a:t>Business meaning: </a:t>
            </a:r>
            <a:r>
              <a:rPr lang="en-US" sz="1250" dirty="0">
                <a:solidFill>
                  <a:srgbClr val="1F2A44"/>
                </a:solidFill>
                <a:latin typeface="Calibri" pitchFamily="34" charset="0"/>
                <a:ea typeface="Calibri" pitchFamily="34" charset="-122"/>
                <a:cs typeface="Calibri" pitchFamily="34" charset="-120"/>
              </a:rPr>
              <a:t>Prioritize credit card checkout reliability.</a:t>
            </a:r>
            <a:endParaRPr lang="en-US" sz="1250" dirty="0"/>
          </a:p>
        </p:txBody>
      </p:sp>
      <p:sp>
        <p:nvSpPr>
          <p:cNvPr id="26" name="Shape 21"/>
          <p:cNvSpPr/>
          <p:nvPr/>
        </p:nvSpPr>
        <p:spPr>
          <a:xfrm>
            <a:off x="6199632" y="3995928"/>
            <a:ext cx="5440680" cy="2240280"/>
          </a:xfrm>
          <a:prstGeom prst="roundRect">
            <a:avLst>
              <a:gd name="adj" fmla="val 4082"/>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7" name="Shape 22"/>
          <p:cNvSpPr/>
          <p:nvPr/>
        </p:nvSpPr>
        <p:spPr>
          <a:xfrm>
            <a:off x="6428232" y="4224528"/>
            <a:ext cx="640080" cy="640080"/>
          </a:xfrm>
          <a:prstGeom prst="ellipse">
            <a:avLst/>
          </a:prstGeom>
          <a:solidFill>
            <a:srgbClr val="00758F"/>
          </a:solidFill>
          <a:ln w="12700">
            <a:solidFill>
              <a:srgbClr val="00758F"/>
            </a:solidFill>
            <a:prstDash val="solid"/>
          </a:ln>
        </p:spPr>
        <p:txBody>
          <a:bodyPr/>
          <a:lstStyle/>
          <a:p>
            <a:endParaRPr lang="en-IN"/>
          </a:p>
        </p:txBody>
      </p:sp>
      <p:pic>
        <p:nvPicPr>
          <p:cNvPr id="28" name="Image 3" descr="preencoded.png"/>
          <p:cNvPicPr>
            <a:picLocks noChangeAspect="1"/>
          </p:cNvPicPr>
          <p:nvPr/>
        </p:nvPicPr>
        <p:blipFill>
          <a:blip r:embed="rId6"/>
          <a:stretch>
            <a:fillRect/>
          </a:stretch>
        </p:blipFill>
        <p:spPr>
          <a:xfrm>
            <a:off x="6588252" y="4384548"/>
            <a:ext cx="320040" cy="320040"/>
          </a:xfrm>
          <a:prstGeom prst="rect">
            <a:avLst/>
          </a:prstGeom>
        </p:spPr>
      </p:pic>
      <p:sp>
        <p:nvSpPr>
          <p:cNvPr id="29" name="Text 23"/>
          <p:cNvSpPr txBox="1"/>
          <p:nvPr/>
        </p:nvSpPr>
        <p:spPr>
          <a:xfrm>
            <a:off x="7251192" y="4197096"/>
            <a:ext cx="4206240" cy="411480"/>
          </a:xfrm>
          <a:prstGeom prst="rect">
            <a:avLst/>
          </a:prstGeom>
          <a:noFill/>
          <a:ln/>
        </p:spPr>
        <p:txBody>
          <a:bodyPr wrap="square" lIns="0" tIns="0" rIns="0" bIns="0" rtlCol="0" anchor="ctr"/>
          <a:lstStyle/>
          <a:p>
            <a:pPr marL="0" indent="0">
              <a:buNone/>
            </a:pPr>
            <a:r>
              <a:rPr lang="en-US" sz="2400" b="1" dirty="0">
                <a:solidFill>
                  <a:srgbClr val="00758F"/>
                </a:solidFill>
                <a:latin typeface="Calibri" pitchFamily="34" charset="0"/>
                <a:ea typeface="Calibri" pitchFamily="34" charset="-122"/>
                <a:cs typeface="Calibri" pitchFamily="34" charset="-120"/>
              </a:rPr>
              <a:t>15,540 orders</a:t>
            </a:r>
            <a:endParaRPr lang="en-US" sz="2400" dirty="0"/>
          </a:p>
        </p:txBody>
      </p:sp>
      <p:sp>
        <p:nvSpPr>
          <p:cNvPr id="30" name="Text 24"/>
          <p:cNvSpPr txBox="1"/>
          <p:nvPr/>
        </p:nvSpPr>
        <p:spPr>
          <a:xfrm>
            <a:off x="7251192" y="4608576"/>
            <a:ext cx="4206240" cy="292608"/>
          </a:xfrm>
          <a:prstGeom prst="rect">
            <a:avLst/>
          </a:prstGeom>
          <a:noFill/>
          <a:ln/>
        </p:spPr>
        <p:txBody>
          <a:bodyPr wrap="square" lIns="0" tIns="0" rIns="0" bIns="0" rtlCol="0" anchor="ctr"/>
          <a:lstStyle/>
          <a:p>
            <a:pPr marL="0" indent="0">
              <a:buNone/>
            </a:pPr>
            <a:r>
              <a:rPr lang="en-US" sz="1500" b="1" dirty="0">
                <a:solidFill>
                  <a:srgbClr val="0F1B3D"/>
                </a:solidFill>
                <a:latin typeface="Calibri" pitchFamily="34" charset="0"/>
                <a:ea typeface="Calibri" pitchFamily="34" charset="-122"/>
                <a:cs typeface="Calibri" pitchFamily="34" charset="-120"/>
              </a:rPr>
              <a:t>Sao Paulo is a key market</a:t>
            </a:r>
            <a:endParaRPr lang="en-US" sz="1500" dirty="0"/>
          </a:p>
        </p:txBody>
      </p:sp>
      <p:sp>
        <p:nvSpPr>
          <p:cNvPr id="31" name="Text 25"/>
          <p:cNvSpPr txBox="1"/>
          <p:nvPr/>
        </p:nvSpPr>
        <p:spPr>
          <a:xfrm>
            <a:off x="6473952" y="5020056"/>
            <a:ext cx="4937760" cy="566928"/>
          </a:xfrm>
          <a:prstGeom prst="rect">
            <a:avLst/>
          </a:prstGeom>
          <a:noFill/>
          <a:ln/>
        </p:spPr>
        <p:txBody>
          <a:bodyPr wrap="square" lIns="0" tIns="0" rIns="0" bIns="0" rtlCol="0" anchor="t"/>
          <a:lstStyle/>
          <a:p>
            <a:pPr marL="0" indent="0">
              <a:buNone/>
            </a:pPr>
            <a:r>
              <a:rPr lang="en-US" sz="1250" dirty="0">
                <a:solidFill>
                  <a:srgbClr val="1F2A44"/>
                </a:solidFill>
                <a:latin typeface="Calibri" pitchFamily="34" charset="0"/>
                <a:ea typeface="Calibri" pitchFamily="34" charset="-122"/>
                <a:cs typeface="Calibri" pitchFamily="34" charset="-120"/>
              </a:rPr>
              <a:t>About 15.6% of all orders; average price ₹107.53 vs ₹120.65 platform average.</a:t>
            </a:r>
            <a:endParaRPr lang="en-US" sz="1250" dirty="0"/>
          </a:p>
        </p:txBody>
      </p:sp>
      <p:sp>
        <p:nvSpPr>
          <p:cNvPr id="32" name="Text 26"/>
          <p:cNvSpPr txBox="1"/>
          <p:nvPr/>
        </p:nvSpPr>
        <p:spPr>
          <a:xfrm>
            <a:off x="6473952" y="5605272"/>
            <a:ext cx="4937760" cy="548640"/>
          </a:xfrm>
          <a:prstGeom prst="rect">
            <a:avLst/>
          </a:prstGeom>
          <a:noFill/>
          <a:ln/>
        </p:spPr>
        <p:txBody>
          <a:bodyPr wrap="square" lIns="0" tIns="0" rIns="0" bIns="0" rtlCol="0" anchor="t"/>
          <a:lstStyle/>
          <a:p>
            <a:pPr marL="0" indent="0">
              <a:buNone/>
            </a:pPr>
            <a:r>
              <a:rPr lang="en-US" sz="1250" b="1" dirty="0">
                <a:solidFill>
                  <a:srgbClr val="00758F"/>
                </a:solidFill>
                <a:latin typeface="Calibri" pitchFamily="34" charset="0"/>
                <a:ea typeface="Calibri" pitchFamily="34" charset="-122"/>
                <a:cs typeface="Calibri" pitchFamily="34" charset="-120"/>
              </a:rPr>
              <a:t>Business meaning: </a:t>
            </a:r>
            <a:r>
              <a:rPr lang="en-US" sz="1250" dirty="0">
                <a:solidFill>
                  <a:srgbClr val="1F2A44"/>
                </a:solidFill>
                <a:latin typeface="Calibri" pitchFamily="34" charset="0"/>
                <a:ea typeface="Calibri" pitchFamily="34" charset="-122"/>
                <a:cs typeface="Calibri" pitchFamily="34" charset="-120"/>
              </a:rPr>
              <a:t>Prioritize Sao Paulo in regional logistics and marketing.</a:t>
            </a:r>
            <a:endParaRPr lang="en-US" sz="1250" dirty="0"/>
          </a:p>
        </p:txBody>
      </p:sp>
      <p:sp>
        <p:nvSpPr>
          <p:cNvPr id="33"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ection chip"/>
          <p:cNvSpPr/>
          <p:nvPr/>
        </p:nvSpPr>
        <p:spPr>
          <a:xfrm>
            <a:off x="548640" y="384048"/>
            <a:ext cx="1367028" cy="310896"/>
          </a:xfrm>
          <a:prstGeom prst="roundRect">
            <a:avLst>
              <a:gd name="adj" fmla="val 50000"/>
            </a:avLst>
          </a:prstGeom>
          <a:solidFill>
            <a:srgbClr val="2F5BEA"/>
          </a:solidFill>
          <a:ln w="12700">
            <a:solidFill>
              <a:srgbClr val="2F5BEA"/>
            </a:solidFill>
            <a:prstDash val="solid"/>
          </a:ln>
        </p:spPr>
        <p:txBody>
          <a:bodyPr/>
          <a:lstStyle/>
          <a:p>
            <a:endParaRPr lang="en-IN"/>
          </a:p>
        </p:txBody>
      </p:sp>
      <p:sp>
        <p:nvSpPr>
          <p:cNvPr id="3" name="Text 1"/>
          <p:cNvSpPr txBox="1"/>
          <p:nvPr/>
        </p:nvSpPr>
        <p:spPr>
          <a:xfrm>
            <a:off x="548640" y="384048"/>
            <a:ext cx="1367028"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LEARNINGS</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Challenges and Learnings</a:t>
            </a:r>
            <a:endParaRPr lang="en-US" sz="3200" dirty="0"/>
          </a:p>
        </p:txBody>
      </p:sp>
      <p:sp>
        <p:nvSpPr>
          <p:cNvPr id="5" name="Shape 3"/>
          <p:cNvSpPr/>
          <p:nvPr/>
        </p:nvSpPr>
        <p:spPr>
          <a:xfrm>
            <a:off x="548640" y="1600200"/>
            <a:ext cx="3611880" cy="4663440"/>
          </a:xfrm>
          <a:prstGeom prst="roundRect">
            <a:avLst>
              <a:gd name="adj" fmla="val 2532"/>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6" name="Shape 4"/>
          <p:cNvSpPr/>
          <p:nvPr/>
        </p:nvSpPr>
        <p:spPr>
          <a:xfrm>
            <a:off x="822960" y="1828800"/>
            <a:ext cx="731520" cy="731520"/>
          </a:xfrm>
          <a:prstGeom prst="ellipse">
            <a:avLst/>
          </a:prstGeom>
          <a:solidFill>
            <a:srgbClr val="2F5BEA"/>
          </a:solidFill>
          <a:ln w="12700">
            <a:solidFill>
              <a:srgbClr val="2F5BEA"/>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1005840" y="2011680"/>
            <a:ext cx="365760" cy="365760"/>
          </a:xfrm>
          <a:prstGeom prst="rect">
            <a:avLst/>
          </a:prstGeom>
        </p:spPr>
      </p:pic>
      <p:sp>
        <p:nvSpPr>
          <p:cNvPr id="8" name="Text 5"/>
          <p:cNvSpPr txBox="1"/>
          <p:nvPr/>
        </p:nvSpPr>
        <p:spPr>
          <a:xfrm>
            <a:off x="1737360" y="1828800"/>
            <a:ext cx="2240280" cy="731520"/>
          </a:xfrm>
          <a:prstGeom prst="rect">
            <a:avLst/>
          </a:prstGeom>
          <a:noFill/>
          <a:ln/>
        </p:spPr>
        <p:txBody>
          <a:bodyPr wrap="square" lIns="0" tIns="0" rIns="0" bIns="0" rtlCol="0" anchor="ctr"/>
          <a:lstStyle/>
          <a:p>
            <a:pPr marL="0" indent="0">
              <a:buNone/>
            </a:pPr>
            <a:r>
              <a:rPr lang="en-US" sz="2600" b="1" dirty="0">
                <a:solidFill>
                  <a:srgbClr val="0F1B3D"/>
                </a:solidFill>
                <a:latin typeface="Calibri" pitchFamily="34" charset="0"/>
                <a:ea typeface="Calibri" pitchFamily="34" charset="-122"/>
                <a:cs typeface="Calibri" pitchFamily="34" charset="-120"/>
              </a:rPr>
              <a:t>Data</a:t>
            </a:r>
            <a:endParaRPr lang="en-US" sz="2600" dirty="0"/>
          </a:p>
        </p:txBody>
      </p:sp>
      <p:sp>
        <p:nvSpPr>
          <p:cNvPr id="9" name="Text 6"/>
          <p:cNvSpPr txBox="1"/>
          <p:nvPr/>
        </p:nvSpPr>
        <p:spPr>
          <a:xfrm>
            <a:off x="822960" y="2926080"/>
            <a:ext cx="3108960" cy="320040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1F2A44"/>
                </a:solidFill>
                <a:latin typeface="Calibri" pitchFamily="34" charset="0"/>
                <a:ea typeface="Calibri" pitchFamily="34" charset="-122"/>
                <a:cs typeface="Calibri" pitchFamily="34" charset="-120"/>
              </a:rPr>
              <a:t>Payments have 103,886 rows for 99,440 orders, so we count distinct orders</a:t>
            </a:r>
            <a:endParaRPr lang="en-US" sz="1600" dirty="0"/>
          </a:p>
          <a:p>
            <a:pPr marL="342900" indent="-342900">
              <a:spcAft>
                <a:spcPts val="900"/>
              </a:spcAft>
              <a:buSzPct val="100000"/>
              <a:buChar char="•"/>
            </a:pPr>
            <a:r>
              <a:rPr lang="en-US" sz="1600" dirty="0">
                <a:solidFill>
                  <a:srgbClr val="1F2A44"/>
                </a:solidFill>
                <a:latin typeface="Calibri" pitchFamily="34" charset="0"/>
                <a:ea typeface="Calibri" pitchFamily="34" charset="-122"/>
                <a:cs typeface="Calibri" pitchFamily="34" charset="-120"/>
              </a:rPr>
              <a:t>2,965 undelivered orders are excluded only from delivery KPIs</a:t>
            </a:r>
            <a:endParaRPr lang="en-US" sz="1600" dirty="0"/>
          </a:p>
          <a:p>
            <a:pPr marL="342900" indent="-342900">
              <a:spcAft>
                <a:spcPts val="900"/>
              </a:spcAft>
              <a:buSzPct val="100000"/>
              <a:buChar char="•"/>
            </a:pPr>
            <a:r>
              <a:rPr lang="en-US" sz="1600" dirty="0">
                <a:solidFill>
                  <a:srgbClr val="1F2A44"/>
                </a:solidFill>
                <a:latin typeface="Calibri" pitchFamily="34" charset="0"/>
                <a:ea typeface="Calibri" pitchFamily="34" charset="-122"/>
                <a:cs typeface="Calibri" pitchFamily="34" charset="-120"/>
              </a:rPr>
              <a:t>Geolocation has duplicate zip rows, handled with lookup tables</a:t>
            </a:r>
            <a:endParaRPr lang="en-US" sz="1600" dirty="0"/>
          </a:p>
        </p:txBody>
      </p:sp>
      <p:sp>
        <p:nvSpPr>
          <p:cNvPr id="10" name="Shape 7"/>
          <p:cNvSpPr/>
          <p:nvPr/>
        </p:nvSpPr>
        <p:spPr>
          <a:xfrm>
            <a:off x="4297680" y="1600200"/>
            <a:ext cx="3611880" cy="4663440"/>
          </a:xfrm>
          <a:prstGeom prst="roundRect">
            <a:avLst>
              <a:gd name="adj" fmla="val 2532"/>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1" name="Shape 8"/>
          <p:cNvSpPr/>
          <p:nvPr/>
        </p:nvSpPr>
        <p:spPr>
          <a:xfrm>
            <a:off x="4572000" y="1828800"/>
            <a:ext cx="731520" cy="731520"/>
          </a:xfrm>
          <a:prstGeom prst="ellipse">
            <a:avLst/>
          </a:prstGeom>
          <a:solidFill>
            <a:srgbClr val="00758F"/>
          </a:solidFill>
          <a:ln w="12700">
            <a:solidFill>
              <a:srgbClr val="00758F"/>
            </a:solidFill>
            <a:prstDash val="solid"/>
          </a:ln>
        </p:spPr>
        <p:txBody>
          <a:bodyPr/>
          <a:lstStyle/>
          <a:p>
            <a:endParaRPr lang="en-IN"/>
          </a:p>
        </p:txBody>
      </p:sp>
      <p:pic>
        <p:nvPicPr>
          <p:cNvPr id="12" name="Image 1" descr="preencoded.png"/>
          <p:cNvPicPr>
            <a:picLocks noChangeAspect="1"/>
          </p:cNvPicPr>
          <p:nvPr/>
        </p:nvPicPr>
        <p:blipFill>
          <a:blip r:embed="rId4"/>
          <a:stretch>
            <a:fillRect/>
          </a:stretch>
        </p:blipFill>
        <p:spPr>
          <a:xfrm>
            <a:off x="4754880" y="2011680"/>
            <a:ext cx="365760" cy="365760"/>
          </a:xfrm>
          <a:prstGeom prst="rect">
            <a:avLst/>
          </a:prstGeom>
        </p:spPr>
      </p:pic>
      <p:sp>
        <p:nvSpPr>
          <p:cNvPr id="13" name="Text 9"/>
          <p:cNvSpPr txBox="1"/>
          <p:nvPr/>
        </p:nvSpPr>
        <p:spPr>
          <a:xfrm>
            <a:off x="5486400" y="1828800"/>
            <a:ext cx="2240280" cy="731520"/>
          </a:xfrm>
          <a:prstGeom prst="rect">
            <a:avLst/>
          </a:prstGeom>
          <a:noFill/>
          <a:ln/>
        </p:spPr>
        <p:txBody>
          <a:bodyPr wrap="square" lIns="0" tIns="0" rIns="0" bIns="0" rtlCol="0" anchor="ctr"/>
          <a:lstStyle/>
          <a:p>
            <a:pPr marL="0" indent="0">
              <a:buNone/>
            </a:pPr>
            <a:r>
              <a:rPr lang="en-US" sz="2600" b="1" dirty="0">
                <a:solidFill>
                  <a:srgbClr val="0F1B3D"/>
                </a:solidFill>
                <a:latin typeface="Calibri" pitchFamily="34" charset="0"/>
                <a:ea typeface="Calibri" pitchFamily="34" charset="-122"/>
                <a:cs typeface="Calibri" pitchFamily="34" charset="-120"/>
              </a:rPr>
              <a:t>Tools</a:t>
            </a:r>
            <a:endParaRPr lang="en-US" sz="2600" dirty="0"/>
          </a:p>
        </p:txBody>
      </p:sp>
      <p:sp>
        <p:nvSpPr>
          <p:cNvPr id="14" name="Text 10"/>
          <p:cNvSpPr txBox="1"/>
          <p:nvPr/>
        </p:nvSpPr>
        <p:spPr>
          <a:xfrm>
            <a:off x="4572000" y="2926080"/>
            <a:ext cx="3108960" cy="320040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1F2A44"/>
                </a:solidFill>
                <a:latin typeface="Calibri" pitchFamily="34" charset="0"/>
                <a:ea typeface="Calibri" pitchFamily="34" charset="-122"/>
                <a:cs typeface="Calibri" pitchFamily="34" charset="-120"/>
              </a:rPr>
              <a:t>The same KPI gives small gaps across tools</a:t>
            </a:r>
            <a:endParaRPr lang="en-US" sz="1600" dirty="0"/>
          </a:p>
          <a:p>
            <a:pPr marL="342900" indent="-342900">
              <a:spcAft>
                <a:spcPts val="900"/>
              </a:spcAft>
              <a:buSzPct val="100000"/>
              <a:buChar char="•"/>
            </a:pPr>
            <a:r>
              <a:rPr lang="en-US" sz="1600" dirty="0">
                <a:solidFill>
                  <a:srgbClr val="1F2A44"/>
                </a:solidFill>
                <a:latin typeface="Calibri" pitchFamily="34" charset="0"/>
                <a:ea typeface="Calibri" pitchFamily="34" charset="-122"/>
                <a:cs typeface="Calibri" pitchFamily="34" charset="-120"/>
              </a:rPr>
              <a:t>Causes include fractional vs whole-day counting and row-level vs per-order averages</a:t>
            </a:r>
            <a:endParaRPr lang="en-US" sz="1600" dirty="0"/>
          </a:p>
          <a:p>
            <a:pPr marL="342900" indent="-342900">
              <a:spcAft>
                <a:spcPts val="900"/>
              </a:spcAft>
              <a:buSzPct val="100000"/>
              <a:buChar char="•"/>
            </a:pPr>
            <a:r>
              <a:rPr lang="en-US" sz="1600" dirty="0">
                <a:solidFill>
                  <a:srgbClr val="1F2A44"/>
                </a:solidFill>
                <a:latin typeface="Calibri" pitchFamily="34" charset="0"/>
                <a:ea typeface="Calibri" pitchFamily="34" charset="-122"/>
                <a:cs typeface="Calibri" pitchFamily="34" charset="-120"/>
              </a:rPr>
              <a:t>KPI 2 in Excel was corrected using distinct orders</a:t>
            </a:r>
            <a:endParaRPr lang="en-US" sz="1600" dirty="0"/>
          </a:p>
        </p:txBody>
      </p:sp>
      <p:sp>
        <p:nvSpPr>
          <p:cNvPr id="15" name="Shape 11"/>
          <p:cNvSpPr/>
          <p:nvPr/>
        </p:nvSpPr>
        <p:spPr>
          <a:xfrm>
            <a:off x="8046720" y="1600200"/>
            <a:ext cx="3611880" cy="4663440"/>
          </a:xfrm>
          <a:prstGeom prst="roundRect">
            <a:avLst>
              <a:gd name="adj" fmla="val 2532"/>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6" name="Shape 12"/>
          <p:cNvSpPr/>
          <p:nvPr/>
        </p:nvSpPr>
        <p:spPr>
          <a:xfrm>
            <a:off x="8321040" y="1828800"/>
            <a:ext cx="731520" cy="731520"/>
          </a:xfrm>
          <a:prstGeom prst="ellipse">
            <a:avLst/>
          </a:prstGeom>
          <a:solidFill>
            <a:srgbClr val="E97627"/>
          </a:solidFill>
          <a:ln w="12700">
            <a:solidFill>
              <a:srgbClr val="E97627"/>
            </a:solidFill>
            <a:prstDash val="solid"/>
          </a:ln>
        </p:spPr>
        <p:txBody>
          <a:bodyPr/>
          <a:lstStyle/>
          <a:p>
            <a:endParaRPr lang="en-IN"/>
          </a:p>
        </p:txBody>
      </p:sp>
      <p:pic>
        <p:nvPicPr>
          <p:cNvPr id="17" name="Image 2" descr="preencoded.png"/>
          <p:cNvPicPr>
            <a:picLocks noChangeAspect="1"/>
          </p:cNvPicPr>
          <p:nvPr/>
        </p:nvPicPr>
        <p:blipFill>
          <a:blip r:embed="rId5"/>
          <a:stretch>
            <a:fillRect/>
          </a:stretch>
        </p:blipFill>
        <p:spPr>
          <a:xfrm>
            <a:off x="8503920" y="2011680"/>
            <a:ext cx="365760" cy="365760"/>
          </a:xfrm>
          <a:prstGeom prst="rect">
            <a:avLst/>
          </a:prstGeom>
        </p:spPr>
      </p:pic>
      <p:sp>
        <p:nvSpPr>
          <p:cNvPr id="18" name="Text 13"/>
          <p:cNvSpPr txBox="1"/>
          <p:nvPr/>
        </p:nvSpPr>
        <p:spPr>
          <a:xfrm>
            <a:off x="9235440" y="1828800"/>
            <a:ext cx="2240280" cy="731520"/>
          </a:xfrm>
          <a:prstGeom prst="rect">
            <a:avLst/>
          </a:prstGeom>
          <a:noFill/>
          <a:ln/>
        </p:spPr>
        <p:txBody>
          <a:bodyPr wrap="square" lIns="0" tIns="0" rIns="0" bIns="0" rtlCol="0" anchor="ctr"/>
          <a:lstStyle/>
          <a:p>
            <a:pPr marL="0" indent="0">
              <a:buNone/>
            </a:pPr>
            <a:r>
              <a:rPr lang="en-US" sz="2600" b="1" dirty="0">
                <a:solidFill>
                  <a:srgbClr val="0F1B3D"/>
                </a:solidFill>
                <a:latin typeface="Calibri" pitchFamily="34" charset="0"/>
                <a:ea typeface="Calibri" pitchFamily="34" charset="-122"/>
                <a:cs typeface="Calibri" pitchFamily="34" charset="-120"/>
              </a:rPr>
              <a:t>Team</a:t>
            </a:r>
            <a:endParaRPr lang="en-US" sz="2600" dirty="0"/>
          </a:p>
        </p:txBody>
      </p:sp>
      <p:sp>
        <p:nvSpPr>
          <p:cNvPr id="19" name="Text 14"/>
          <p:cNvSpPr txBox="1"/>
          <p:nvPr/>
        </p:nvSpPr>
        <p:spPr>
          <a:xfrm>
            <a:off x="8321040" y="2926080"/>
            <a:ext cx="3108960" cy="320040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1F2A44"/>
                </a:solidFill>
                <a:latin typeface="Calibri" pitchFamily="34" charset="0"/>
                <a:ea typeface="Calibri" pitchFamily="34" charset="-122"/>
                <a:cs typeface="Calibri" pitchFamily="34" charset="-120"/>
              </a:rPr>
              <a:t>One shared clean data foundation for everyone</a:t>
            </a:r>
            <a:endParaRPr lang="en-US" sz="1600" dirty="0"/>
          </a:p>
          <a:p>
            <a:pPr marL="342900" indent="-342900">
              <a:spcAft>
                <a:spcPts val="900"/>
              </a:spcAft>
              <a:buSzPct val="100000"/>
              <a:buChar char="•"/>
            </a:pPr>
            <a:r>
              <a:rPr lang="en-US" sz="1600" dirty="0">
                <a:solidFill>
                  <a:srgbClr val="1F2A44"/>
                </a:solidFill>
                <a:latin typeface="Calibri" pitchFamily="34" charset="0"/>
                <a:ea typeface="Calibri" pitchFamily="34" charset="-122"/>
                <a:cs typeface="Calibri" pitchFamily="34" charset="-120"/>
              </a:rPr>
              <a:t>One owner per KPI</a:t>
            </a:r>
            <a:endParaRPr lang="en-US" sz="1600" dirty="0"/>
          </a:p>
          <a:p>
            <a:pPr marL="342900" indent="-342900">
              <a:spcAft>
                <a:spcPts val="900"/>
              </a:spcAft>
              <a:buSzPct val="100000"/>
              <a:buChar char="•"/>
            </a:pPr>
            <a:r>
              <a:rPr lang="en-US" sz="1600" dirty="0">
                <a:solidFill>
                  <a:srgbClr val="1F2A44"/>
                </a:solidFill>
                <a:latin typeface="Calibri" pitchFamily="34" charset="0"/>
                <a:ea typeface="Calibri" pitchFamily="34" charset="-122"/>
                <a:cs typeface="Calibri" pitchFamily="34" charset="-120"/>
              </a:rPr>
              <a:t>Every KPI was checked before sign-off</a:t>
            </a:r>
            <a:endParaRPr lang="en-US" sz="16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F5BEA">
              <a:alpha val="22000"/>
            </a:srgbClr>
          </a:solidFill>
          <a:ln w="12700">
            <a:solidFill>
              <a:srgbClr val="2F5BEA">
                <a:alpha val="0"/>
              </a:srgbClr>
            </a:solidFill>
            <a:prstDash val="solid"/>
          </a:ln>
        </p:spPr>
        <p:txBody>
          <a:bodyPr/>
          <a:lstStyle/>
          <a:p>
            <a:endParaRPr lang="en-IN"/>
          </a:p>
        </p:txBody>
      </p:sp>
      <p:sp>
        <p:nvSpPr>
          <p:cNvPr id="3" name="Shape 1"/>
          <p:cNvSpPr/>
          <p:nvPr/>
        </p:nvSpPr>
        <p:spPr>
          <a:xfrm>
            <a:off x="-1645920" y="4846320"/>
            <a:ext cx="4206240" cy="4206240"/>
          </a:xfrm>
          <a:prstGeom prst="ellipse">
            <a:avLst/>
          </a:prstGeom>
          <a:solidFill>
            <a:srgbClr val="2F5BEA">
              <a:alpha val="14000"/>
            </a:srgbClr>
          </a:solidFill>
          <a:ln w="12700">
            <a:solidFill>
              <a:srgbClr val="2F5BEA">
                <a:alpha val="0"/>
              </a:srgbClr>
            </a:solidFill>
            <a:prstDash val="solid"/>
          </a:ln>
        </p:spPr>
        <p:txBody>
          <a:bodyPr/>
          <a:lstStyle/>
          <a:p>
            <a:endParaRPr lang="en-IN"/>
          </a:p>
        </p:txBody>
      </p:sp>
      <p:sp>
        <p:nvSpPr>
          <p:cNvPr id="4" name="Shape 2"/>
          <p:cNvSpPr/>
          <p:nvPr/>
        </p:nvSpPr>
        <p:spPr>
          <a:xfrm>
            <a:off x="10241280" y="5120640"/>
            <a:ext cx="2743200" cy="2743200"/>
          </a:xfrm>
          <a:prstGeom prst="ellipse">
            <a:avLst/>
          </a:prstGeom>
          <a:solidFill>
            <a:srgbClr val="00758F">
              <a:alpha val="20000"/>
            </a:srgbClr>
          </a:solidFill>
          <a:ln w="12700">
            <a:solidFill>
              <a:srgbClr val="00758F">
                <a:alpha val="0"/>
              </a:srgbClr>
            </a:solidFill>
            <a:prstDash val="solid"/>
          </a:ln>
        </p:spPr>
        <p:txBody>
          <a:bodyPr/>
          <a:lstStyle/>
          <a:p>
            <a:endParaRPr lang="en-IN"/>
          </a:p>
        </p:txBody>
      </p:sp>
      <p:sp>
        <p:nvSpPr>
          <p:cNvPr id="5" name="Text 3"/>
          <p:cNvSpPr txBox="1"/>
          <p:nvPr/>
        </p:nvSpPr>
        <p:spPr>
          <a:xfrm>
            <a:off x="822960" y="1828800"/>
            <a:ext cx="10058400" cy="1280160"/>
          </a:xfrm>
          <a:prstGeom prst="rect">
            <a:avLst/>
          </a:prstGeom>
          <a:noFill/>
          <a:ln/>
        </p:spPr>
        <p:txBody>
          <a:bodyPr wrap="square" lIns="0" tIns="0" rIns="0" bIns="0" rtlCol="0" anchor="ctr"/>
          <a:lstStyle/>
          <a:p>
            <a:pPr marL="0" indent="0">
              <a:buNone/>
            </a:pPr>
            <a:r>
              <a:rPr lang="en-US" sz="6600" b="1" dirty="0">
                <a:solidFill>
                  <a:srgbClr val="FFFFFF"/>
                </a:solidFill>
                <a:latin typeface="Calibri" pitchFamily="34" charset="0"/>
                <a:ea typeface="Calibri" pitchFamily="34" charset="-122"/>
                <a:cs typeface="Calibri" pitchFamily="34" charset="-120"/>
              </a:rPr>
              <a:t>Thank You</a:t>
            </a:r>
            <a:endParaRPr lang="en-US" sz="6600" dirty="0"/>
          </a:p>
        </p:txBody>
      </p:sp>
      <p:sp>
        <p:nvSpPr>
          <p:cNvPr id="6" name="Text 4"/>
          <p:cNvSpPr txBox="1"/>
          <p:nvPr/>
        </p:nvSpPr>
        <p:spPr>
          <a:xfrm>
            <a:off x="822960" y="3200400"/>
            <a:ext cx="10058400" cy="640080"/>
          </a:xfrm>
          <a:prstGeom prst="rect">
            <a:avLst/>
          </a:prstGeom>
          <a:noFill/>
          <a:ln/>
        </p:spPr>
        <p:txBody>
          <a:bodyPr wrap="square" lIns="0" tIns="0" rIns="0" bIns="0" rtlCol="0" anchor="ctr"/>
          <a:lstStyle/>
          <a:p>
            <a:pPr marL="0" indent="0">
              <a:buNone/>
            </a:pPr>
            <a:r>
              <a:rPr lang="en-US" sz="2800" dirty="0">
                <a:solidFill>
                  <a:srgbClr val="BFD0F5"/>
                </a:solidFill>
                <a:latin typeface="Calibri" pitchFamily="34" charset="0"/>
                <a:ea typeface="Calibri" pitchFamily="34" charset="-122"/>
                <a:cs typeface="Calibri" pitchFamily="34" charset="-120"/>
              </a:rPr>
              <a:t>Questions and Discussion</a:t>
            </a:r>
            <a:endParaRPr lang="en-US" sz="2800" dirty="0"/>
          </a:p>
        </p:txBody>
      </p:sp>
      <p:sp>
        <p:nvSpPr>
          <p:cNvPr id="7" name="Shape 5"/>
          <p:cNvSpPr/>
          <p:nvPr/>
        </p:nvSpPr>
        <p:spPr>
          <a:xfrm>
            <a:off x="822960" y="4114800"/>
            <a:ext cx="548640" cy="548640"/>
          </a:xfrm>
          <a:prstGeom prst="ellipse">
            <a:avLst/>
          </a:prstGeom>
          <a:solidFill>
            <a:srgbClr val="217346"/>
          </a:solidFill>
          <a:ln w="12700">
            <a:solidFill>
              <a:srgbClr val="217346"/>
            </a:solidFill>
            <a:prstDash val="solid"/>
          </a:ln>
        </p:spPr>
        <p:txBody>
          <a:bodyPr/>
          <a:lstStyle/>
          <a:p>
            <a:endParaRPr lang="en-IN"/>
          </a:p>
        </p:txBody>
      </p:sp>
      <p:pic>
        <p:nvPicPr>
          <p:cNvPr id="8" name="Image 0" descr="preencoded.png"/>
          <p:cNvPicPr>
            <a:picLocks noChangeAspect="1"/>
          </p:cNvPicPr>
          <p:nvPr/>
        </p:nvPicPr>
        <p:blipFill>
          <a:blip r:embed="rId3"/>
          <a:stretch>
            <a:fillRect/>
          </a:stretch>
        </p:blipFill>
        <p:spPr>
          <a:xfrm>
            <a:off x="960120" y="4251960"/>
            <a:ext cx="274320" cy="274320"/>
          </a:xfrm>
          <a:prstGeom prst="rect">
            <a:avLst/>
          </a:prstGeom>
        </p:spPr>
      </p:pic>
      <p:sp>
        <p:nvSpPr>
          <p:cNvPr id="9" name="Shape 6"/>
          <p:cNvSpPr/>
          <p:nvPr/>
        </p:nvSpPr>
        <p:spPr>
          <a:xfrm>
            <a:off x="1554480" y="4114800"/>
            <a:ext cx="548640" cy="548640"/>
          </a:xfrm>
          <a:prstGeom prst="ellipse">
            <a:avLst/>
          </a:prstGeom>
          <a:solidFill>
            <a:srgbClr val="F2C811"/>
          </a:solidFill>
          <a:ln w="12700">
            <a:solidFill>
              <a:srgbClr val="F2C811"/>
            </a:solidFill>
            <a:prstDash val="solid"/>
          </a:ln>
        </p:spPr>
        <p:txBody>
          <a:bodyPr/>
          <a:lstStyle/>
          <a:p>
            <a:endParaRPr lang="en-IN"/>
          </a:p>
        </p:txBody>
      </p:sp>
      <p:pic>
        <p:nvPicPr>
          <p:cNvPr id="10" name="Image 1" descr="preencoded.png"/>
          <p:cNvPicPr>
            <a:picLocks noChangeAspect="1"/>
          </p:cNvPicPr>
          <p:nvPr/>
        </p:nvPicPr>
        <p:blipFill>
          <a:blip r:embed="rId4"/>
          <a:stretch>
            <a:fillRect/>
          </a:stretch>
        </p:blipFill>
        <p:spPr>
          <a:xfrm>
            <a:off x="1691640" y="4251960"/>
            <a:ext cx="274320" cy="274320"/>
          </a:xfrm>
          <a:prstGeom prst="rect">
            <a:avLst/>
          </a:prstGeom>
        </p:spPr>
      </p:pic>
      <p:sp>
        <p:nvSpPr>
          <p:cNvPr id="11" name="Shape 7"/>
          <p:cNvSpPr/>
          <p:nvPr/>
        </p:nvSpPr>
        <p:spPr>
          <a:xfrm>
            <a:off x="2286000" y="4114800"/>
            <a:ext cx="548640" cy="548640"/>
          </a:xfrm>
          <a:prstGeom prst="ellipse">
            <a:avLst/>
          </a:prstGeom>
          <a:solidFill>
            <a:srgbClr val="00758F"/>
          </a:solidFill>
          <a:ln w="12700">
            <a:solidFill>
              <a:srgbClr val="00758F"/>
            </a:solidFill>
            <a:prstDash val="solid"/>
          </a:ln>
        </p:spPr>
        <p:txBody>
          <a:bodyPr/>
          <a:lstStyle/>
          <a:p>
            <a:endParaRPr lang="en-IN"/>
          </a:p>
        </p:txBody>
      </p:sp>
      <p:pic>
        <p:nvPicPr>
          <p:cNvPr id="12" name="Image 2" descr="preencoded.png"/>
          <p:cNvPicPr>
            <a:picLocks noChangeAspect="1"/>
          </p:cNvPicPr>
          <p:nvPr/>
        </p:nvPicPr>
        <p:blipFill>
          <a:blip r:embed="rId5"/>
          <a:stretch>
            <a:fillRect/>
          </a:stretch>
        </p:blipFill>
        <p:spPr>
          <a:xfrm>
            <a:off x="2423160" y="4251960"/>
            <a:ext cx="274320" cy="274320"/>
          </a:xfrm>
          <a:prstGeom prst="rect">
            <a:avLst/>
          </a:prstGeom>
        </p:spPr>
      </p:pic>
      <p:sp>
        <p:nvSpPr>
          <p:cNvPr id="13" name="Shape 8"/>
          <p:cNvSpPr/>
          <p:nvPr/>
        </p:nvSpPr>
        <p:spPr>
          <a:xfrm>
            <a:off x="3017520" y="4114800"/>
            <a:ext cx="548640" cy="548640"/>
          </a:xfrm>
          <a:prstGeom prst="ellipse">
            <a:avLst/>
          </a:prstGeom>
          <a:solidFill>
            <a:srgbClr val="E97627"/>
          </a:solidFill>
          <a:ln w="12700">
            <a:solidFill>
              <a:srgbClr val="E97627"/>
            </a:solidFill>
            <a:prstDash val="solid"/>
          </a:ln>
        </p:spPr>
        <p:txBody>
          <a:bodyPr/>
          <a:lstStyle/>
          <a:p>
            <a:endParaRPr lang="en-IN"/>
          </a:p>
        </p:txBody>
      </p:sp>
      <p:pic>
        <p:nvPicPr>
          <p:cNvPr id="14" name="Image 3" descr="preencoded.png"/>
          <p:cNvPicPr>
            <a:picLocks noChangeAspect="1"/>
          </p:cNvPicPr>
          <p:nvPr/>
        </p:nvPicPr>
        <p:blipFill>
          <a:blip r:embed="rId6"/>
          <a:stretch>
            <a:fillRect/>
          </a:stretch>
        </p:blipFill>
        <p:spPr>
          <a:xfrm>
            <a:off x="3154680" y="4251960"/>
            <a:ext cx="274320" cy="274320"/>
          </a:xfrm>
          <a:prstGeom prst="rect">
            <a:avLst/>
          </a:prstGeom>
        </p:spPr>
      </p:pic>
      <p:sp>
        <p:nvSpPr>
          <p:cNvPr id="15" name="Text 9"/>
          <p:cNvSpPr txBox="1"/>
          <p:nvPr/>
        </p:nvSpPr>
        <p:spPr>
          <a:xfrm>
            <a:off x="822960" y="5120640"/>
            <a:ext cx="10424160" cy="822960"/>
          </a:xfrm>
          <a:prstGeom prst="rect">
            <a:avLst/>
          </a:prstGeom>
          <a:noFill/>
          <a:ln/>
        </p:spPr>
        <p:txBody>
          <a:bodyPr wrap="square" lIns="0" tIns="0" rIns="0" bIns="0" rtlCol="0" anchor="t"/>
          <a:lstStyle/>
          <a:p>
            <a:pPr marL="0" indent="0">
              <a:buNone/>
            </a:pPr>
            <a:r>
              <a:rPr lang="en-US" sz="1500" dirty="0">
                <a:solidFill>
                  <a:srgbClr val="DCE6F7"/>
                </a:solidFill>
                <a:latin typeface="Calibri" pitchFamily="34" charset="0"/>
                <a:ea typeface="Calibri" pitchFamily="34" charset="-122"/>
                <a:cs typeface="Calibri" pitchFamily="34" charset="-120"/>
              </a:rPr>
              <a:t>Pratham Singh  |  Akash Singh  |  Pankaj Rajpoot  |  Nilesh Sunil Chaudari  |  Pamarthi Venkata Sandeep  |  Sudha Verma  |  Saurab Tukaram Jarad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2904</Words>
  <Application>Microsoft Office PowerPoint</Application>
  <PresentationFormat>Widescreen</PresentationFormat>
  <Paragraphs>325</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Olist Store Analysis - Final Project Presentation</dc:title>
  <dc:subject>PptxGenJS Presentation</dc:subject>
  <dc:creator>Pratham Singh</dc:creator>
  <cp:lastModifiedBy>pratham singh</cp:lastModifiedBy>
  <cp:revision>7</cp:revision>
  <dcterms:created xsi:type="dcterms:W3CDTF">2026-10-02T07:59:22Z</dcterms:created>
  <dcterms:modified xsi:type="dcterms:W3CDTF">2026-10-02T09:30:31Z</dcterms:modified>
</cp:coreProperties>
</file>